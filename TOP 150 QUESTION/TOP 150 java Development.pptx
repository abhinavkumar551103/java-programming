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8"/>
  </p:notesMasterIdLst>
  <p:handoutMasterIdLst>
    <p:handoutMasterId r:id="rId159"/>
  </p:handoutMasterIdLst>
  <p:sldIdLst>
    <p:sldId id="434" r:id="rId2"/>
    <p:sldId id="436" r:id="rId3"/>
    <p:sldId id="559" r:id="rId4"/>
    <p:sldId id="554" r:id="rId5"/>
    <p:sldId id="556" r:id="rId6"/>
    <p:sldId id="555" r:id="rId7"/>
    <p:sldId id="553" r:id="rId8"/>
    <p:sldId id="558" r:id="rId9"/>
    <p:sldId id="560" r:id="rId10"/>
    <p:sldId id="561" r:id="rId11"/>
    <p:sldId id="441" r:id="rId12"/>
    <p:sldId id="562" r:id="rId13"/>
    <p:sldId id="461" r:id="rId14"/>
    <p:sldId id="440" r:id="rId15"/>
    <p:sldId id="439" r:id="rId16"/>
    <p:sldId id="438" r:id="rId17"/>
    <p:sldId id="463" r:id="rId18"/>
    <p:sldId id="464" r:id="rId19"/>
    <p:sldId id="465" r:id="rId20"/>
    <p:sldId id="466" r:id="rId21"/>
    <p:sldId id="467" r:id="rId22"/>
    <p:sldId id="468" r:id="rId23"/>
    <p:sldId id="469" r:id="rId24"/>
    <p:sldId id="470" r:id="rId25"/>
    <p:sldId id="442" r:id="rId26"/>
    <p:sldId id="443" r:id="rId27"/>
    <p:sldId id="445" r:id="rId28"/>
    <p:sldId id="455" r:id="rId29"/>
    <p:sldId id="456" r:id="rId30"/>
    <p:sldId id="457" r:id="rId31"/>
    <p:sldId id="447" r:id="rId32"/>
    <p:sldId id="448" r:id="rId33"/>
    <p:sldId id="449" r:id="rId34"/>
    <p:sldId id="450" r:id="rId35"/>
    <p:sldId id="452" r:id="rId36"/>
    <p:sldId id="453" r:id="rId37"/>
    <p:sldId id="454" r:id="rId38"/>
    <p:sldId id="446" r:id="rId39"/>
    <p:sldId id="459" r:id="rId40"/>
    <p:sldId id="460" r:id="rId41"/>
    <p:sldId id="458" r:id="rId42"/>
    <p:sldId id="471" r:id="rId43"/>
    <p:sldId id="472" r:id="rId44"/>
    <p:sldId id="473" r:id="rId45"/>
    <p:sldId id="475" r:id="rId46"/>
    <p:sldId id="476" r:id="rId47"/>
    <p:sldId id="477" r:id="rId48"/>
    <p:sldId id="478" r:id="rId49"/>
    <p:sldId id="479" r:id="rId50"/>
    <p:sldId id="480" r:id="rId51"/>
    <p:sldId id="481" r:id="rId52"/>
    <p:sldId id="482" r:id="rId53"/>
    <p:sldId id="483" r:id="rId54"/>
    <p:sldId id="484" r:id="rId55"/>
    <p:sldId id="485" r:id="rId56"/>
    <p:sldId id="486" r:id="rId57"/>
    <p:sldId id="487" r:id="rId58"/>
    <p:sldId id="488" r:id="rId59"/>
    <p:sldId id="489" r:id="rId60"/>
    <p:sldId id="492" r:id="rId61"/>
    <p:sldId id="490" r:id="rId62"/>
    <p:sldId id="491" r:id="rId63"/>
    <p:sldId id="493" r:id="rId64"/>
    <p:sldId id="494" r:id="rId65"/>
    <p:sldId id="495" r:id="rId66"/>
    <p:sldId id="496" r:id="rId67"/>
    <p:sldId id="497" r:id="rId68"/>
    <p:sldId id="498" r:id="rId69"/>
    <p:sldId id="352" r:id="rId70"/>
    <p:sldId id="353" r:id="rId71"/>
    <p:sldId id="285" r:id="rId72"/>
    <p:sldId id="499" r:id="rId73"/>
    <p:sldId id="286" r:id="rId74"/>
    <p:sldId id="291" r:id="rId75"/>
    <p:sldId id="292" r:id="rId76"/>
    <p:sldId id="369" r:id="rId77"/>
    <p:sldId id="331" r:id="rId78"/>
    <p:sldId id="338" r:id="rId79"/>
    <p:sldId id="420" r:id="rId80"/>
    <p:sldId id="370" r:id="rId81"/>
    <p:sldId id="309" r:id="rId82"/>
    <p:sldId id="345" r:id="rId83"/>
    <p:sldId id="344" r:id="rId84"/>
    <p:sldId id="346" r:id="rId85"/>
    <p:sldId id="298" r:id="rId86"/>
    <p:sldId id="328" r:id="rId87"/>
    <p:sldId id="293" r:id="rId88"/>
    <p:sldId id="294" r:id="rId89"/>
    <p:sldId id="355" r:id="rId90"/>
    <p:sldId id="368" r:id="rId91"/>
    <p:sldId id="501" r:id="rId92"/>
    <p:sldId id="502" r:id="rId93"/>
    <p:sldId id="364" r:id="rId94"/>
    <p:sldId id="366" r:id="rId95"/>
    <p:sldId id="365" r:id="rId96"/>
    <p:sldId id="421" r:id="rId97"/>
    <p:sldId id="426" r:id="rId98"/>
    <p:sldId id="367" r:id="rId99"/>
    <p:sldId id="428" r:id="rId100"/>
    <p:sldId id="431" r:id="rId101"/>
    <p:sldId id="348" r:id="rId102"/>
    <p:sldId id="297" r:id="rId103"/>
    <p:sldId id="347" r:id="rId104"/>
    <p:sldId id="325" r:id="rId105"/>
    <p:sldId id="332" r:id="rId106"/>
    <p:sldId id="333" r:id="rId107"/>
    <p:sldId id="306" r:id="rId108"/>
    <p:sldId id="503" r:id="rId109"/>
    <p:sldId id="312" r:id="rId110"/>
    <p:sldId id="316" r:id="rId111"/>
    <p:sldId id="315" r:id="rId112"/>
    <p:sldId id="311" r:id="rId113"/>
    <p:sldId id="504" r:id="rId114"/>
    <p:sldId id="359" r:id="rId115"/>
    <p:sldId id="337" r:id="rId116"/>
    <p:sldId id="350" r:id="rId117"/>
    <p:sldId id="342" r:id="rId118"/>
    <p:sldId id="317" r:id="rId119"/>
    <p:sldId id="506" r:id="rId120"/>
    <p:sldId id="509" r:id="rId121"/>
    <p:sldId id="510" r:id="rId122"/>
    <p:sldId id="511" r:id="rId123"/>
    <p:sldId id="512" r:id="rId124"/>
    <p:sldId id="513" r:id="rId125"/>
    <p:sldId id="514" r:id="rId126"/>
    <p:sldId id="515" r:id="rId127"/>
    <p:sldId id="516" r:id="rId128"/>
    <p:sldId id="517" r:id="rId129"/>
    <p:sldId id="518" r:id="rId130"/>
    <p:sldId id="519" r:id="rId131"/>
    <p:sldId id="520" r:id="rId132"/>
    <p:sldId id="521" r:id="rId133"/>
    <p:sldId id="522" r:id="rId134"/>
    <p:sldId id="523" r:id="rId135"/>
    <p:sldId id="532" r:id="rId136"/>
    <p:sldId id="408" r:id="rId137"/>
    <p:sldId id="533" r:id="rId138"/>
    <p:sldId id="534" r:id="rId139"/>
    <p:sldId id="535" r:id="rId140"/>
    <p:sldId id="536" r:id="rId141"/>
    <p:sldId id="537" r:id="rId142"/>
    <p:sldId id="538" r:id="rId143"/>
    <p:sldId id="539" r:id="rId144"/>
    <p:sldId id="540" r:id="rId145"/>
    <p:sldId id="541" r:id="rId146"/>
    <p:sldId id="542" r:id="rId147"/>
    <p:sldId id="385" r:id="rId148"/>
    <p:sldId id="435" r:id="rId149"/>
    <p:sldId id="543" r:id="rId150"/>
    <p:sldId id="546" r:id="rId151"/>
    <p:sldId id="547" r:id="rId152"/>
    <p:sldId id="549" r:id="rId153"/>
    <p:sldId id="550" r:id="rId154"/>
    <p:sldId id="444" r:id="rId155"/>
    <p:sldId id="551" r:id="rId156"/>
    <p:sldId id="552" r:id="rId15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ambhu Kumar" initials="SK" lastIdx="1" clrIdx="0">
    <p:extLst>
      <p:ext uri="{19B8F6BF-5375-455C-9EA6-DF929625EA0E}">
        <p15:presenceInfo xmlns:p15="http://schemas.microsoft.com/office/powerpoint/2012/main" userId="74963117abc1862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FEA4"/>
    <a:srgbClr val="FFFF99"/>
    <a:srgbClr val="53E810"/>
    <a:srgbClr val="00FF00"/>
    <a:srgbClr val="99FF99"/>
    <a:srgbClr val="BBF96F"/>
    <a:srgbClr val="E2FDC7"/>
    <a:srgbClr val="E7FED2"/>
    <a:srgbClr val="E8E8E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08" autoAdjust="0"/>
    <p:restoredTop sz="94660"/>
  </p:normalViewPr>
  <p:slideViewPr>
    <p:cSldViewPr>
      <p:cViewPr varScale="1">
        <p:scale>
          <a:sx n="74" d="100"/>
          <a:sy n="74" d="100"/>
        </p:scale>
        <p:origin x="1336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handoutMaster" Target="handoutMasters/handoutMaster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commentAuthors" Target="commentAuthor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theme" Target="theme/theme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microsoft.com/office/2016/11/relationships/changesInfo" Target="changesInfos/changesInfo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mbhu Kumar" userId="74963117abc18628" providerId="LiveId" clId="{9DAC188B-748D-4CEB-9C49-D4E70EE7B328}"/>
    <pc:docChg chg="undo redo custSel addSld delSld modSld sldOrd">
      <pc:chgData name="Shambhu Kumar" userId="74963117abc18628" providerId="LiveId" clId="{9DAC188B-748D-4CEB-9C49-D4E70EE7B328}" dt="2026-09-10T02:09:44.665" v="8684" actId="27636"/>
      <pc:docMkLst>
        <pc:docMk/>
      </pc:docMkLst>
      <pc:sldChg chg="modSp mod">
        <pc:chgData name="Shambhu Kumar" userId="74963117abc18628" providerId="LiveId" clId="{9DAC188B-748D-4CEB-9C49-D4E70EE7B328}" dt="2026-08-21T11:08:32.232" v="7340" actId="20577"/>
        <pc:sldMkLst>
          <pc:docMk/>
          <pc:sldMk cId="2416250172" sldId="434"/>
        </pc:sldMkLst>
        <pc:spChg chg="mod">
          <ac:chgData name="Shambhu Kumar" userId="74963117abc18628" providerId="LiveId" clId="{9DAC188B-748D-4CEB-9C49-D4E70EE7B328}" dt="2026-08-21T11:08:32.232" v="7340" actId="20577"/>
          <ac:spMkLst>
            <pc:docMk/>
            <pc:sldMk cId="2416250172" sldId="434"/>
            <ac:spMk id="2" creationId="{04590DDF-95EF-1E36-8965-D2D8D1D5C222}"/>
          </ac:spMkLst>
        </pc:spChg>
      </pc:sldChg>
      <pc:sldChg chg="modSp mod">
        <pc:chgData name="Shambhu Kumar" userId="74963117abc18628" providerId="LiveId" clId="{9DAC188B-748D-4CEB-9C49-D4E70EE7B328}" dt="2026-09-10T00:37:20.829" v="8217" actId="207"/>
        <pc:sldMkLst>
          <pc:docMk/>
          <pc:sldMk cId="1233775025" sldId="436"/>
        </pc:sldMkLst>
        <pc:spChg chg="mod">
          <ac:chgData name="Shambhu Kumar" userId="74963117abc18628" providerId="LiveId" clId="{9DAC188B-748D-4CEB-9C49-D4E70EE7B328}" dt="2026-09-10T00:37:20.829" v="8217" actId="207"/>
          <ac:spMkLst>
            <pc:docMk/>
            <pc:sldMk cId="1233775025" sldId="436"/>
            <ac:spMk id="3" creationId="{F715D334-06CF-0786-A155-874FFEE5B282}"/>
          </ac:spMkLst>
        </pc:spChg>
      </pc:sldChg>
      <pc:sldChg chg="del">
        <pc:chgData name="Shambhu Kumar" userId="74963117abc18628" providerId="LiveId" clId="{9DAC188B-748D-4CEB-9C49-D4E70EE7B328}" dt="2026-09-09T12:48:20.025" v="8201" actId="47"/>
        <pc:sldMkLst>
          <pc:docMk/>
          <pc:sldMk cId="731913068" sldId="437"/>
        </pc:sldMkLst>
      </pc:sldChg>
      <pc:sldChg chg="addSp delSp modSp add del mod ord">
        <pc:chgData name="Shambhu Kumar" userId="74963117abc18628" providerId="LiveId" clId="{9DAC188B-748D-4CEB-9C49-D4E70EE7B328}" dt="2026-09-04T00:38:18.400" v="7770" actId="20577"/>
        <pc:sldMkLst>
          <pc:docMk/>
          <pc:sldMk cId="3332682425" sldId="439"/>
        </pc:sldMkLst>
        <pc:spChg chg="mod">
          <ac:chgData name="Shambhu Kumar" userId="74963117abc18628" providerId="LiveId" clId="{9DAC188B-748D-4CEB-9C49-D4E70EE7B328}" dt="2026-09-04T00:38:18.400" v="7770" actId="20577"/>
          <ac:spMkLst>
            <pc:docMk/>
            <pc:sldMk cId="3332682425" sldId="439"/>
            <ac:spMk id="3" creationId="{F938E462-2262-5182-E73C-467FDCCF7D09}"/>
          </ac:spMkLst>
        </pc:spChg>
      </pc:sldChg>
      <pc:sldChg chg="modSp mod">
        <pc:chgData name="Shambhu Kumar" userId="74963117abc18628" providerId="LiveId" clId="{9DAC188B-748D-4CEB-9C49-D4E70EE7B328}" dt="2026-09-10T02:05:52.734" v="8660" actId="20577"/>
        <pc:sldMkLst>
          <pc:docMk/>
          <pc:sldMk cId="2309516982" sldId="440"/>
        </pc:sldMkLst>
        <pc:spChg chg="mod">
          <ac:chgData name="Shambhu Kumar" userId="74963117abc18628" providerId="LiveId" clId="{9DAC188B-748D-4CEB-9C49-D4E70EE7B328}" dt="2026-09-10T02:05:52.734" v="8660" actId="20577"/>
          <ac:spMkLst>
            <pc:docMk/>
            <pc:sldMk cId="2309516982" sldId="440"/>
            <ac:spMk id="3" creationId="{E33D0456-AD0E-7996-FFA8-D8C7169295CC}"/>
          </ac:spMkLst>
        </pc:spChg>
      </pc:sldChg>
      <pc:sldChg chg="modSp mod">
        <pc:chgData name="Shambhu Kumar" userId="74963117abc18628" providerId="LiveId" clId="{9DAC188B-748D-4CEB-9C49-D4E70EE7B328}" dt="2026-09-10T01:58:38.393" v="8441" actId="20577"/>
        <pc:sldMkLst>
          <pc:docMk/>
          <pc:sldMk cId="276921933" sldId="441"/>
        </pc:sldMkLst>
        <pc:spChg chg="mod">
          <ac:chgData name="Shambhu Kumar" userId="74963117abc18628" providerId="LiveId" clId="{9DAC188B-748D-4CEB-9C49-D4E70EE7B328}" dt="2026-09-10T01:58:38.393" v="8441" actId="20577"/>
          <ac:spMkLst>
            <pc:docMk/>
            <pc:sldMk cId="276921933" sldId="441"/>
            <ac:spMk id="3" creationId="{58FD5804-E590-AA9E-B7CD-6C65F4C18638}"/>
          </ac:spMkLst>
        </pc:spChg>
      </pc:sldChg>
      <pc:sldChg chg="modSp mod">
        <pc:chgData name="Shambhu Kumar" userId="74963117abc18628" providerId="LiveId" clId="{9DAC188B-748D-4CEB-9C49-D4E70EE7B328}" dt="2026-09-03T01:33:11.106" v="7729" actId="20577"/>
        <pc:sldMkLst>
          <pc:docMk/>
          <pc:sldMk cId="3046166979" sldId="460"/>
        </pc:sldMkLst>
        <pc:spChg chg="mod">
          <ac:chgData name="Shambhu Kumar" userId="74963117abc18628" providerId="LiveId" clId="{9DAC188B-748D-4CEB-9C49-D4E70EE7B328}" dt="2026-09-03T01:33:11.106" v="7729" actId="20577"/>
          <ac:spMkLst>
            <pc:docMk/>
            <pc:sldMk cId="3046166979" sldId="460"/>
            <ac:spMk id="3" creationId="{5368E947-308F-2C2A-9540-952F11E4D321}"/>
          </ac:spMkLst>
        </pc:spChg>
      </pc:sldChg>
      <pc:sldChg chg="modSp mod">
        <pc:chgData name="Shambhu Kumar" userId="74963117abc18628" providerId="LiveId" clId="{9DAC188B-748D-4CEB-9C49-D4E70EE7B328}" dt="2026-09-10T02:04:36.821" v="8520" actId="403"/>
        <pc:sldMkLst>
          <pc:docMk/>
          <pc:sldMk cId="2758090146" sldId="461"/>
        </pc:sldMkLst>
        <pc:spChg chg="mod">
          <ac:chgData name="Shambhu Kumar" userId="74963117abc18628" providerId="LiveId" clId="{9DAC188B-748D-4CEB-9C49-D4E70EE7B328}" dt="2026-09-10T02:04:36.821" v="8520" actId="403"/>
          <ac:spMkLst>
            <pc:docMk/>
            <pc:sldMk cId="2758090146" sldId="461"/>
            <ac:spMk id="3" creationId="{37C98182-3E41-A58F-6A0D-989FFBFC3900}"/>
          </ac:spMkLst>
        </pc:spChg>
      </pc:sldChg>
      <pc:sldChg chg="modSp add mod">
        <pc:chgData name="Shambhu Kumar" userId="74963117abc18628" providerId="LiveId" clId="{9DAC188B-748D-4CEB-9C49-D4E70EE7B328}" dt="2026-08-29T13:26:49.879" v="7697" actId="20577"/>
        <pc:sldMkLst>
          <pc:docMk/>
          <pc:sldMk cId="3444753196" sldId="496"/>
        </pc:sldMkLst>
        <pc:spChg chg="mod">
          <ac:chgData name="Shambhu Kumar" userId="74963117abc18628" providerId="LiveId" clId="{9DAC188B-748D-4CEB-9C49-D4E70EE7B328}" dt="2026-08-29T13:26:49.879" v="7697" actId="20577"/>
          <ac:spMkLst>
            <pc:docMk/>
            <pc:sldMk cId="3444753196" sldId="496"/>
            <ac:spMk id="3" creationId="{AFDBDAA9-0A2A-2836-5E27-8698BDEAAE61}"/>
          </ac:spMkLst>
        </pc:spChg>
      </pc:sldChg>
      <pc:sldChg chg="modSp add mod">
        <pc:chgData name="Shambhu Kumar" userId="74963117abc18628" providerId="LiveId" clId="{9DAC188B-748D-4CEB-9C49-D4E70EE7B328}" dt="2026-08-29T13:28:44.660" v="7727"/>
        <pc:sldMkLst>
          <pc:docMk/>
          <pc:sldMk cId="1538146914" sldId="497"/>
        </pc:sldMkLst>
        <pc:spChg chg="mod">
          <ac:chgData name="Shambhu Kumar" userId="74963117abc18628" providerId="LiveId" clId="{9DAC188B-748D-4CEB-9C49-D4E70EE7B328}" dt="2026-08-29T13:28:44.660" v="7727"/>
          <ac:spMkLst>
            <pc:docMk/>
            <pc:sldMk cId="1538146914" sldId="497"/>
            <ac:spMk id="3" creationId="{964363D0-BB44-6588-D4D7-4A7AD25F52BA}"/>
          </ac:spMkLst>
        </pc:spChg>
      </pc:sldChg>
      <pc:sldChg chg="modSp add mod">
        <pc:chgData name="Shambhu Kumar" userId="74963117abc18628" providerId="LiveId" clId="{9DAC188B-748D-4CEB-9C49-D4E70EE7B328}" dt="2026-09-10T00:39:44.111" v="8223" actId="207"/>
        <pc:sldMkLst>
          <pc:docMk/>
          <pc:sldMk cId="3180605462" sldId="553"/>
        </pc:sldMkLst>
        <pc:spChg chg="mod">
          <ac:chgData name="Shambhu Kumar" userId="74963117abc18628" providerId="LiveId" clId="{9DAC188B-748D-4CEB-9C49-D4E70EE7B328}" dt="2026-09-10T00:39:44.111" v="8223" actId="207"/>
          <ac:spMkLst>
            <pc:docMk/>
            <pc:sldMk cId="3180605462" sldId="553"/>
            <ac:spMk id="3" creationId="{60C07D5D-80D0-2037-7823-986CC354F4D5}"/>
          </ac:spMkLst>
        </pc:spChg>
      </pc:sldChg>
      <pc:sldChg chg="addSp delSp modSp add mod">
        <pc:chgData name="Shambhu Kumar" userId="74963117abc18628" providerId="LiveId" clId="{9DAC188B-748D-4CEB-9C49-D4E70EE7B328}" dt="2026-08-19T09:21:02.579" v="7007" actId="20577"/>
        <pc:sldMkLst>
          <pc:docMk/>
          <pc:sldMk cId="3357717455" sldId="554"/>
        </pc:sldMkLst>
        <pc:spChg chg="mod">
          <ac:chgData name="Shambhu Kumar" userId="74963117abc18628" providerId="LiveId" clId="{9DAC188B-748D-4CEB-9C49-D4E70EE7B328}" dt="2026-08-19T09:21:02.579" v="7007" actId="20577"/>
          <ac:spMkLst>
            <pc:docMk/>
            <pc:sldMk cId="3357717455" sldId="554"/>
            <ac:spMk id="3" creationId="{3CBC246D-2D4B-4310-4C4E-B43929FC9B78}"/>
          </ac:spMkLst>
        </pc:spChg>
      </pc:sldChg>
      <pc:sldChg chg="modSp add mod ord">
        <pc:chgData name="Shambhu Kumar" userId="74963117abc18628" providerId="LiveId" clId="{9DAC188B-748D-4CEB-9C49-D4E70EE7B328}" dt="2026-08-20T00:25:49.896" v="7075"/>
        <pc:sldMkLst>
          <pc:docMk/>
          <pc:sldMk cId="3868631924" sldId="555"/>
        </pc:sldMkLst>
        <pc:spChg chg="mod">
          <ac:chgData name="Shambhu Kumar" userId="74963117abc18628" providerId="LiveId" clId="{9DAC188B-748D-4CEB-9C49-D4E70EE7B328}" dt="2026-08-19T09:24:17.650" v="7019" actId="27636"/>
          <ac:spMkLst>
            <pc:docMk/>
            <pc:sldMk cId="3868631924" sldId="555"/>
            <ac:spMk id="3" creationId="{9A3B3BAF-C3CA-7C0E-FBBF-8FB400BD0B8E}"/>
          </ac:spMkLst>
        </pc:spChg>
      </pc:sldChg>
      <pc:sldChg chg="modSp add mod">
        <pc:chgData name="Shambhu Kumar" userId="74963117abc18628" providerId="LiveId" clId="{9DAC188B-748D-4CEB-9C49-D4E70EE7B328}" dt="2026-08-20T00:26:03.635" v="7082" actId="20577"/>
        <pc:sldMkLst>
          <pc:docMk/>
          <pc:sldMk cId="358212636" sldId="556"/>
        </pc:sldMkLst>
        <pc:spChg chg="mod">
          <ac:chgData name="Shambhu Kumar" userId="74963117abc18628" providerId="LiveId" clId="{9DAC188B-748D-4CEB-9C49-D4E70EE7B328}" dt="2026-08-20T00:26:03.635" v="7082" actId="20577"/>
          <ac:spMkLst>
            <pc:docMk/>
            <pc:sldMk cId="358212636" sldId="556"/>
            <ac:spMk id="3" creationId="{EDCE59C3-49F3-A198-409A-ED59C81B671A}"/>
          </ac:spMkLst>
        </pc:spChg>
      </pc:sldChg>
      <pc:sldChg chg="modSp add del mod">
        <pc:chgData name="Shambhu Kumar" userId="74963117abc18628" providerId="LiveId" clId="{9DAC188B-748D-4CEB-9C49-D4E70EE7B328}" dt="2026-09-10T00:40:04.598" v="8224" actId="47"/>
        <pc:sldMkLst>
          <pc:docMk/>
          <pc:sldMk cId="2911720492" sldId="557"/>
        </pc:sldMkLst>
      </pc:sldChg>
      <pc:sldChg chg="modSp add mod">
        <pc:chgData name="Shambhu Kumar" userId="74963117abc18628" providerId="LiveId" clId="{9DAC188B-748D-4CEB-9C49-D4E70EE7B328}" dt="2026-09-04T00:35:25.249" v="7733" actId="20577"/>
        <pc:sldMkLst>
          <pc:docMk/>
          <pc:sldMk cId="247546946" sldId="558"/>
        </pc:sldMkLst>
        <pc:spChg chg="mod">
          <ac:chgData name="Shambhu Kumar" userId="74963117abc18628" providerId="LiveId" clId="{9DAC188B-748D-4CEB-9C49-D4E70EE7B328}" dt="2026-09-04T00:35:25.249" v="7733" actId="20577"/>
          <ac:spMkLst>
            <pc:docMk/>
            <pc:sldMk cId="247546946" sldId="558"/>
            <ac:spMk id="3" creationId="{0A960A3E-9558-F280-1E07-EB391C169B01}"/>
          </ac:spMkLst>
        </pc:spChg>
      </pc:sldChg>
      <pc:sldChg chg="modSp add mod">
        <pc:chgData name="Shambhu Kumar" userId="74963117abc18628" providerId="LiveId" clId="{9DAC188B-748D-4CEB-9C49-D4E70EE7B328}" dt="2026-09-10T00:36:25.590" v="8204" actId="404"/>
        <pc:sldMkLst>
          <pc:docMk/>
          <pc:sldMk cId="1577501678" sldId="559"/>
        </pc:sldMkLst>
        <pc:spChg chg="mod">
          <ac:chgData name="Shambhu Kumar" userId="74963117abc18628" providerId="LiveId" clId="{9DAC188B-748D-4CEB-9C49-D4E70EE7B328}" dt="2026-09-10T00:36:25.590" v="8204" actId="404"/>
          <ac:spMkLst>
            <pc:docMk/>
            <pc:sldMk cId="1577501678" sldId="559"/>
            <ac:spMk id="3" creationId="{2FBA17F7-08DF-D2E0-CE2E-1ACAC37B72EA}"/>
          </ac:spMkLst>
        </pc:spChg>
      </pc:sldChg>
      <pc:sldChg chg="modSp add mod">
        <pc:chgData name="Shambhu Kumar" userId="74963117abc18628" providerId="LiveId" clId="{9DAC188B-748D-4CEB-9C49-D4E70EE7B328}" dt="2026-09-10T02:09:44.665" v="8684" actId="27636"/>
        <pc:sldMkLst>
          <pc:docMk/>
          <pc:sldMk cId="1214394944" sldId="560"/>
        </pc:sldMkLst>
        <pc:spChg chg="mod">
          <ac:chgData name="Shambhu Kumar" userId="74963117abc18628" providerId="LiveId" clId="{9DAC188B-748D-4CEB-9C49-D4E70EE7B328}" dt="2026-09-10T02:09:44.665" v="8684" actId="27636"/>
          <ac:spMkLst>
            <pc:docMk/>
            <pc:sldMk cId="1214394944" sldId="560"/>
            <ac:spMk id="3" creationId="{DB7A8C47-FDC0-EDB2-F787-94E0B0B47F04}"/>
          </ac:spMkLst>
        </pc:spChg>
      </pc:sldChg>
      <pc:sldChg chg="modSp add mod">
        <pc:chgData name="Shambhu Kumar" userId="74963117abc18628" providerId="LiveId" clId="{9DAC188B-748D-4CEB-9C49-D4E70EE7B328}" dt="2026-09-10T01:42:55.412" v="8236" actId="255"/>
        <pc:sldMkLst>
          <pc:docMk/>
          <pc:sldMk cId="2034591301" sldId="561"/>
        </pc:sldMkLst>
        <pc:spChg chg="mod">
          <ac:chgData name="Shambhu Kumar" userId="74963117abc18628" providerId="LiveId" clId="{9DAC188B-748D-4CEB-9C49-D4E70EE7B328}" dt="2026-09-10T01:42:55.412" v="8236" actId="255"/>
          <ac:spMkLst>
            <pc:docMk/>
            <pc:sldMk cId="2034591301" sldId="561"/>
            <ac:spMk id="3" creationId="{05C1CD6D-2A84-8111-D9EC-6534BD704A08}"/>
          </ac:spMkLst>
        </pc:spChg>
      </pc:sldChg>
      <pc:sldChg chg="modSp add mod">
        <pc:chgData name="Shambhu Kumar" userId="74963117abc18628" providerId="LiveId" clId="{9DAC188B-748D-4CEB-9C49-D4E70EE7B328}" dt="2026-09-10T02:02:40.300" v="8490" actId="20577"/>
        <pc:sldMkLst>
          <pc:docMk/>
          <pc:sldMk cId="531446351" sldId="562"/>
        </pc:sldMkLst>
        <pc:spChg chg="mod">
          <ac:chgData name="Shambhu Kumar" userId="74963117abc18628" providerId="LiveId" clId="{9DAC188B-748D-4CEB-9C49-D4E70EE7B328}" dt="2026-09-10T02:02:40.300" v="8490" actId="20577"/>
          <ac:spMkLst>
            <pc:docMk/>
            <pc:sldMk cId="531446351" sldId="562"/>
            <ac:spMk id="3" creationId="{1435C456-D4C9-4A32-4C23-A087EA89E39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8679616-D926-A4AF-3637-518A03CFC0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QSpiders | JSpiders, NOIDA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8DB4B1-F7D7-650D-10EC-F96FB7A9B1D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19F50E-118D-4BA3-9251-403938D85DDF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C802C3-7148-4276-376D-917ACCAA9FD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QSpiders | JSpiders, NOIDA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FBBCF3-EFCC-509E-E17B-59470C50C8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30B1B8-DA57-4F1C-B69B-D80F22B8F0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76431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QSpiders | JSpiders, NOIDA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230C3-9C62-4B92-B018-C89462150DB4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QSpiders | JSpiders, NOIDA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69B6DB-AF9B-4D98-94E2-C1A7DD571A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59151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676E12-E99D-4A7C-B4B6-D436B12548CE}" type="slidenum">
              <a:rPr lang="en-IN" smtClean="0"/>
              <a:t>85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306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E1100-8F65-4008-A169-3F6DDF783D9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971AF-F192-4CDB-B7A1-B44A884145C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8D892-BEFC-48E9-B6F1-802092995A54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CC812-437F-4A7B-9C95-B7E09E3BFBDF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45B0D-49E7-4297-A934-8C7F987FA82E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B9D43-A0D1-4A57-B281-845DB1776EAB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57676-4404-492C-A6C2-9C76AAFE67D0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EF920-9A44-46AD-BD8C-9B7276521E4B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9DA6C-CBC8-4AC3-B486-79E520C06CD4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2F85-989D-42FD-B755-9F147601F445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AF35F-DFA6-490B-9910-1841FA8DD3A8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4CD64-BBBB-4E04-9F54-01B6020E3EE3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calculate-delayed-arrival-time/" TargetMode="External"/><Relationship Id="rId2" Type="http://schemas.openxmlformats.org/officeDocument/2006/relationships/hyperlink" Target="https://www.instagram.com/kumarsam07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instagram.com/javac_java/" TargetMode="External"/><Relationship Id="rId4" Type="http://schemas.openxmlformats.org/officeDocument/2006/relationships/hyperlink" Target="https://www.instagram.com/qspiders_jspiders_noida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kumarsam07/" TargetMode="External"/><Relationship Id="rId2" Type="http://schemas.openxmlformats.org/officeDocument/2006/relationships/hyperlink" Target="https://www.instagram.com/qspiders_jspiders_noida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nstagram.com/javac_java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kumarsam07/" TargetMode="External"/><Relationship Id="rId2" Type="http://schemas.openxmlformats.org/officeDocument/2006/relationships/hyperlink" Target="https://www.instagram.com/qspiders_jspiders_noida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nstagram.com/javac_java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kumarsam07/" TargetMode="External"/><Relationship Id="rId2" Type="http://schemas.openxmlformats.org/officeDocument/2006/relationships/hyperlink" Target="https://www.instagram.com/qspiders_jspiders_noida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nstagram.com/javac_java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kumarsam07/" TargetMode="External"/><Relationship Id="rId2" Type="http://schemas.openxmlformats.org/officeDocument/2006/relationships/hyperlink" Target="https://www.instagram.com/qspiders_jspiders_noida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nstagram.com/javac_java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kumarsam07/" TargetMode="External"/><Relationship Id="rId2" Type="http://schemas.openxmlformats.org/officeDocument/2006/relationships/hyperlink" Target="https://www.instagram.com/qspiders_jspiders_noida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nstagram.com/javac_java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kumarsam07/" TargetMode="External"/><Relationship Id="rId2" Type="http://schemas.openxmlformats.org/officeDocument/2006/relationships/hyperlink" Target="https://www.instagram.com/qspiders_jspiders_noida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nstagram.com/javac_java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qspiders_jspiders_noida/" TargetMode="External"/><Relationship Id="rId2" Type="http://schemas.openxmlformats.org/officeDocument/2006/relationships/hyperlink" Target="https://leetcode.com/problems/type-of-triangle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instagram.com/javac_java/" TargetMode="External"/><Relationship Id="rId4" Type="http://schemas.openxmlformats.org/officeDocument/2006/relationships/hyperlink" Target="https://www.instagram.com/kumarsam07/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nstagram.com/kumarsam07/" TargetMode="External"/><Relationship Id="rId3" Type="http://schemas.openxmlformats.org/officeDocument/2006/relationships/hyperlink" Target="https://leetcode.com/problems/subtract-the-product-and-sum-of-digits-of-an-integer/" TargetMode="External"/><Relationship Id="rId7" Type="http://schemas.openxmlformats.org/officeDocument/2006/relationships/hyperlink" Target="https://www.instagram.com/qspiders_jspiders_noida/" TargetMode="External"/><Relationship Id="rId2" Type="http://schemas.openxmlformats.org/officeDocument/2006/relationships/hyperlink" Target="https://leetcode.com/problems/harshad-number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etcode.com/problems/add-digits/" TargetMode="External"/><Relationship Id="rId5" Type="http://schemas.openxmlformats.org/officeDocument/2006/relationships/hyperlink" Target="https://leetcode.com/problems/maximum-product-of-two-digits/" TargetMode="External"/><Relationship Id="rId4" Type="http://schemas.openxmlformats.org/officeDocument/2006/relationships/hyperlink" Target="https://leetcode.com/problems/check-divisibility-by-digit-sum-and-product/" TargetMode="External"/><Relationship Id="rId9" Type="http://schemas.openxmlformats.org/officeDocument/2006/relationships/hyperlink" Target="https://www.instagram.com/javac_java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palindrome-number/" TargetMode="External"/><Relationship Id="rId7" Type="http://schemas.openxmlformats.org/officeDocument/2006/relationships/hyperlink" Target="https://www.instagram.com/javac_java/" TargetMode="External"/><Relationship Id="rId2" Type="http://schemas.openxmlformats.org/officeDocument/2006/relationships/hyperlink" Target="https://leetcode.com/problems/mirror-distance-of-an-integer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nstagram.com/kumarsam07/" TargetMode="External"/><Relationship Id="rId5" Type="http://schemas.openxmlformats.org/officeDocument/2006/relationships/hyperlink" Target="https://www.instagram.com/qspiders_jspiders_noida/" TargetMode="External"/><Relationship Id="rId4" Type="http://schemas.openxmlformats.org/officeDocument/2006/relationships/hyperlink" Target="https://leetcode.com/problems/a-number-after-a-double-reversal/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nstagram.com/javac_java/" TargetMode="External"/><Relationship Id="rId3" Type="http://schemas.openxmlformats.org/officeDocument/2006/relationships/hyperlink" Target="https://leetcode.com/problems/power-of-three/" TargetMode="External"/><Relationship Id="rId7" Type="http://schemas.openxmlformats.org/officeDocument/2006/relationships/hyperlink" Target="https://www.instagram.com/kumarsam07/" TargetMode="External"/><Relationship Id="rId2" Type="http://schemas.openxmlformats.org/officeDocument/2006/relationships/hyperlink" Target="https://leetcode.com/problems/power-of-two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nstagram.com/qspiders_jspiders_noida/" TargetMode="External"/><Relationship Id="rId5" Type="http://schemas.openxmlformats.org/officeDocument/2006/relationships/hyperlink" Target="https://leetcode.com/problems/number-of-1-bits/description/" TargetMode="External"/><Relationship Id="rId4" Type="http://schemas.openxmlformats.org/officeDocument/2006/relationships/hyperlink" Target="https://leetcode.com/problems/power-of-four/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nstagram.com/javac_java/" TargetMode="External"/><Relationship Id="rId3" Type="http://schemas.openxmlformats.org/officeDocument/2006/relationships/hyperlink" Target="https://leetcode.com/problems/number-of-steps-to-reduce-a-number-to-zero/" TargetMode="External"/><Relationship Id="rId7" Type="http://schemas.openxmlformats.org/officeDocument/2006/relationships/hyperlink" Target="https://www.instagram.com/kumarsam07/" TargetMode="External"/><Relationship Id="rId2" Type="http://schemas.openxmlformats.org/officeDocument/2006/relationships/hyperlink" Target="https://leetcode.com/problems/factorial-trailing-zeroe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nstagram.com/qspiders_jspiders_noida/" TargetMode="External"/><Relationship Id="rId5" Type="http://schemas.openxmlformats.org/officeDocument/2006/relationships/hyperlink" Target="https://leetcode.com/problems/concatenate-non-zero-digits-and-multiply-by-sum-i/" TargetMode="External"/><Relationship Id="rId4" Type="http://schemas.openxmlformats.org/officeDocument/2006/relationships/hyperlink" Target="https://leetcode.com/problems/remove-zeros-in-decimal-representation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qspiders_jspiders_noida/" TargetMode="External"/><Relationship Id="rId2" Type="http://schemas.openxmlformats.org/officeDocument/2006/relationships/hyperlink" Target="https://leetcode.com/problems/water-bottle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instagram.com/javac_java/" TargetMode="External"/><Relationship Id="rId4" Type="http://schemas.openxmlformats.org/officeDocument/2006/relationships/hyperlink" Target="https://www.instagram.com/kumarsam07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kumarsam07/" TargetMode="External"/><Relationship Id="rId2" Type="http://schemas.openxmlformats.org/officeDocument/2006/relationships/hyperlink" Target="https://www.instagram.com/qspiders_jspiders_noida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nstagram.com/javac_java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qspiders_jspiders_noida/" TargetMode="External"/><Relationship Id="rId2" Type="http://schemas.openxmlformats.org/officeDocument/2006/relationships/hyperlink" Target="https://leetcode.com/problems/fibonacci-number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instagram.com/javac_java/" TargetMode="External"/><Relationship Id="rId4" Type="http://schemas.openxmlformats.org/officeDocument/2006/relationships/hyperlink" Target="https://www.instagram.com/kumarsam07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kumarsam07/" TargetMode="External"/><Relationship Id="rId2" Type="http://schemas.openxmlformats.org/officeDocument/2006/relationships/hyperlink" Target="https://www.instagram.com/qspiders_jspiders_noida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nstagram.com/javac_java/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www.instagram.com/kumarsam07/" TargetMode="External"/><Relationship Id="rId7" Type="http://schemas.openxmlformats.org/officeDocument/2006/relationships/image" Target="../media/image3.png"/><Relationship Id="rId2" Type="http://schemas.openxmlformats.org/officeDocument/2006/relationships/hyperlink" Target="https://www.instagram.com/qspiders_jspiders_noida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openxmlformats.org/officeDocument/2006/relationships/image" Target="../media/image1.png"/><Relationship Id="rId10" Type="http://schemas.openxmlformats.org/officeDocument/2006/relationships/image" Target="../media/image6.png"/><Relationship Id="rId4" Type="http://schemas.openxmlformats.org/officeDocument/2006/relationships/hyperlink" Target="https://www.instagram.com/javac_java/" TargetMode="External"/><Relationship Id="rId9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hyperlink" Target="https://www.instagram.com/kumarsam07/" TargetMode="External"/><Relationship Id="rId7" Type="http://schemas.openxmlformats.org/officeDocument/2006/relationships/image" Target="../media/image10.png"/><Relationship Id="rId2" Type="http://schemas.openxmlformats.org/officeDocument/2006/relationships/hyperlink" Target="https://www.instagram.com/qspiders_jspiders_noida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hyperlink" Target="https://www.instagram.com/javac_java/" TargetMode="External"/><Relationship Id="rId9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hyperlink" Target="https://www.instagram.com/kumarsam07/" TargetMode="External"/><Relationship Id="rId7" Type="http://schemas.openxmlformats.org/officeDocument/2006/relationships/image" Target="../media/image15.png"/><Relationship Id="rId2" Type="http://schemas.openxmlformats.org/officeDocument/2006/relationships/hyperlink" Target="https://www.instagram.com/qspiders_jspiders_noida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hyperlink" Target="https://www.instagram.com/javac_java/" TargetMode="Externa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hyperlink" Target="https://www.instagram.com/kumarsam07/" TargetMode="External"/><Relationship Id="rId7" Type="http://schemas.openxmlformats.org/officeDocument/2006/relationships/image" Target="../media/image19.png"/><Relationship Id="rId2" Type="http://schemas.openxmlformats.org/officeDocument/2006/relationships/hyperlink" Target="https://www.instagram.com/qspiders_jspiders_noida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hyperlink" Target="https://www.instagram.com/javac_java/" TargetMode="External"/><Relationship Id="rId9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hyperlink" Target="https://www.instagram.com/kumarsam07/" TargetMode="External"/><Relationship Id="rId7" Type="http://schemas.openxmlformats.org/officeDocument/2006/relationships/image" Target="../media/image25.png"/><Relationship Id="rId2" Type="http://schemas.openxmlformats.org/officeDocument/2006/relationships/hyperlink" Target="https://www.instagram.com/qspiders_jspiders_noida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hyperlink" Target="https://www.instagram.com/javac_java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kumarsam07/" TargetMode="External"/><Relationship Id="rId7" Type="http://schemas.openxmlformats.org/officeDocument/2006/relationships/image" Target="../media/image29.png"/><Relationship Id="rId2" Type="http://schemas.openxmlformats.org/officeDocument/2006/relationships/hyperlink" Target="https://www.instagram.com/qspiders_jspiders_noida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hyperlink" Target="https://www.instagram.com/javac_java/" TargetMode="Externa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hyperlink" Target="https://www.instagram.com/kumarsam07/" TargetMode="External"/><Relationship Id="rId7" Type="http://schemas.openxmlformats.org/officeDocument/2006/relationships/image" Target="../media/image32.png"/><Relationship Id="rId2" Type="http://schemas.openxmlformats.org/officeDocument/2006/relationships/hyperlink" Target="https://www.instagram.com/qspiders_jspiders_noida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hyperlink" Target="https://www.instagram.com/javac_java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kumarsam07/" TargetMode="External"/><Relationship Id="rId2" Type="http://schemas.openxmlformats.org/officeDocument/2006/relationships/hyperlink" Target="https://www.instagram.com/qspiders_jspiders_noida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hyperlink" Target="https://www.instagram.com/javac_java/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qspiders_jspiders_noida/" TargetMode="External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instagram.com/javac_java/" TargetMode="External"/><Relationship Id="rId4" Type="http://schemas.openxmlformats.org/officeDocument/2006/relationships/hyperlink" Target="https://www.instagram.com/kumarsam07/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pascals-triangle/" TargetMode="External"/><Relationship Id="rId7" Type="http://schemas.openxmlformats.org/officeDocument/2006/relationships/image" Target="../media/image35.png"/><Relationship Id="rId2" Type="http://schemas.openxmlformats.org/officeDocument/2006/relationships/hyperlink" Target="https://leetcode.com/problems/pascals-triangle-ii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nstagram.com/javac_java/" TargetMode="External"/><Relationship Id="rId5" Type="http://schemas.openxmlformats.org/officeDocument/2006/relationships/hyperlink" Target="https://www.instagram.com/kumarsam07/" TargetMode="External"/><Relationship Id="rId4" Type="http://schemas.openxmlformats.org/officeDocument/2006/relationships/hyperlink" Target="https://www.instagram.com/qspiders_jspiders_noida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kumarsam07/" TargetMode="External"/><Relationship Id="rId2" Type="http://schemas.openxmlformats.org/officeDocument/2006/relationships/hyperlink" Target="https://www.instagram.com/qspiders_jspiders_noida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hyperlink" Target="https://www.instagram.com/javac_java/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qspiders_jspiders_noida/" TargetMode="External"/><Relationship Id="rId2" Type="http://schemas.openxmlformats.org/officeDocument/2006/relationships/hyperlink" Target="https://leetcode.com/problems/difference-between-element-sum-and-digit-sum-of-an-array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instagram.com/javac_java/" TargetMode="External"/><Relationship Id="rId4" Type="http://schemas.openxmlformats.org/officeDocument/2006/relationships/hyperlink" Target="https://www.instagram.com/kumarsam07/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qspiders_jspiders_noida/" TargetMode="External"/><Relationship Id="rId2" Type="http://schemas.openxmlformats.org/officeDocument/2006/relationships/hyperlink" Target="https://leetcode.com/problems/maximum-prime-difference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instagram.com/javac_java/" TargetMode="External"/><Relationship Id="rId4" Type="http://schemas.openxmlformats.org/officeDocument/2006/relationships/hyperlink" Target="https://www.instagram.com/kumarsam07/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qspiders_jspiders_noida/" TargetMode="External"/><Relationship Id="rId2" Type="http://schemas.openxmlformats.org/officeDocument/2006/relationships/hyperlink" Target="https://leetcode.com/problems/monotonic-array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instagram.com/javac_java/" TargetMode="External"/><Relationship Id="rId4" Type="http://schemas.openxmlformats.org/officeDocument/2006/relationships/hyperlink" Target="https://www.instagram.com/kumarsam07/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qspiders_jspiders_noida/" TargetMode="External"/><Relationship Id="rId2" Type="http://schemas.openxmlformats.org/officeDocument/2006/relationships/hyperlink" Target="https://leetcode.com/problems/two-su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instagram.com/javac_java/" TargetMode="External"/><Relationship Id="rId4" Type="http://schemas.openxmlformats.org/officeDocument/2006/relationships/hyperlink" Target="https://www.instagram.com/kumarsam07/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qspiders_jspiders_noida/" TargetMode="External"/><Relationship Id="rId2" Type="http://schemas.openxmlformats.org/officeDocument/2006/relationships/hyperlink" Target="https://leetcode.com/problems/max-consecutive-one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instagram.com/javac_java/" TargetMode="External"/><Relationship Id="rId4" Type="http://schemas.openxmlformats.org/officeDocument/2006/relationships/hyperlink" Target="https://www.instagram.com/kumarsam07/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maximum-product-of-two-elements-in-an-array/" TargetMode="External"/><Relationship Id="rId2" Type="http://schemas.openxmlformats.org/officeDocument/2006/relationships/hyperlink" Target="https://www.codechef.com/practice/course/arrays/ARRAYS/problems/LARGESECON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nstagram.com/javac_java/" TargetMode="External"/><Relationship Id="rId5" Type="http://schemas.openxmlformats.org/officeDocument/2006/relationships/hyperlink" Target="https://www.instagram.com/kumarsam07/" TargetMode="External"/><Relationship Id="rId4" Type="http://schemas.openxmlformats.org/officeDocument/2006/relationships/hyperlink" Target="https://www.instagram.com/qspiders_jspiders_noida/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kumarsam07/" TargetMode="External"/><Relationship Id="rId2" Type="http://schemas.openxmlformats.org/officeDocument/2006/relationships/hyperlink" Target="https://www.instagram.com/qspiders_jspiders_noida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nstagram.com/javac_java/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qspiders_jspiders_noida/" TargetMode="External"/><Relationship Id="rId2" Type="http://schemas.openxmlformats.org/officeDocument/2006/relationships/hyperlink" Target="https://leetcode.com/problems/third-maximum-number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instagram.com/javac_java/" TargetMode="External"/><Relationship Id="rId4" Type="http://schemas.openxmlformats.org/officeDocument/2006/relationships/hyperlink" Target="https://www.instagram.com/kumarsam07/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kumarsam07/" TargetMode="External"/><Relationship Id="rId2" Type="http://schemas.openxmlformats.org/officeDocument/2006/relationships/hyperlink" Target="https://www.instagram.com/qspiders_jspiders_noida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nstagram.com/javac_java/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kumarsam07/" TargetMode="External"/><Relationship Id="rId2" Type="http://schemas.openxmlformats.org/officeDocument/2006/relationships/hyperlink" Target="https://www.instagram.com/qspiders_jspiders_noida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nstagram.com/javac_java/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smallest-index-with-digit-sum-equal-to-index/" TargetMode="External"/><Relationship Id="rId2" Type="http://schemas.openxmlformats.org/officeDocument/2006/relationships/hyperlink" Target="https://leetcode.com/problems/missing-number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nstagram.com/javac_java/" TargetMode="External"/><Relationship Id="rId5" Type="http://schemas.openxmlformats.org/officeDocument/2006/relationships/hyperlink" Target="https://www.instagram.com/kumarsam07/" TargetMode="External"/><Relationship Id="rId4" Type="http://schemas.openxmlformats.org/officeDocument/2006/relationships/hyperlink" Target="https://www.instagram.com/qspiders_jspiders_noida/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kumarsam07/" TargetMode="External"/><Relationship Id="rId2" Type="http://schemas.openxmlformats.org/officeDocument/2006/relationships/hyperlink" Target="https://www.instagram.com/qspiders_jspiders_noida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nstagram.com/javac_java/" TargetMode="Externa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nstagram.com/kumarsam07/" TargetMode="External"/><Relationship Id="rId3" Type="http://schemas.openxmlformats.org/officeDocument/2006/relationships/hyperlink" Target="https://leetcode.com/problems/best-time-to-buy-and-sell-stock-ii/" TargetMode="External"/><Relationship Id="rId7" Type="http://schemas.openxmlformats.org/officeDocument/2006/relationships/hyperlink" Target="https://www.instagram.com/qspiders_jspiders_noida/" TargetMode="External"/><Relationship Id="rId2" Type="http://schemas.openxmlformats.org/officeDocument/2006/relationships/hyperlink" Target="https://leetcode.com/problems/best-time-to-buy-and-sell-stock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etcode.com/problems/best-time-to-buy-and-sell-stock-iv/" TargetMode="External"/><Relationship Id="rId5" Type="http://schemas.openxmlformats.org/officeDocument/2006/relationships/hyperlink" Target="https://leetcode.com/problems/best-time-to-buy-and-sell-stock-iii/" TargetMode="External"/><Relationship Id="rId4" Type="http://schemas.openxmlformats.org/officeDocument/2006/relationships/hyperlink" Target="https://leetcode.com/problems/best-time-to-buy-and-sell-stock-with-transaction-fee/" TargetMode="External"/><Relationship Id="rId9" Type="http://schemas.openxmlformats.org/officeDocument/2006/relationships/hyperlink" Target="https://www.instagram.com/javac_java/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product-of-array-except-self/" TargetMode="External"/><Relationship Id="rId7" Type="http://schemas.openxmlformats.org/officeDocument/2006/relationships/hyperlink" Target="https://www.instagram.com/javac_java/" TargetMode="External"/><Relationship Id="rId2" Type="http://schemas.openxmlformats.org/officeDocument/2006/relationships/hyperlink" Target="https://leetcode.com/problems/running-sum-of-1d-array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nstagram.com/kumarsam07/" TargetMode="External"/><Relationship Id="rId5" Type="http://schemas.openxmlformats.org/officeDocument/2006/relationships/hyperlink" Target="https://www.instagram.com/qspiders_jspiders_noida/" TargetMode="External"/><Relationship Id="rId4" Type="http://schemas.openxmlformats.org/officeDocument/2006/relationships/hyperlink" Target="https://leetcode.com/problems/find-pivot-index/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n-th-tribonacci-number/" TargetMode="External"/><Relationship Id="rId7" Type="http://schemas.openxmlformats.org/officeDocument/2006/relationships/hyperlink" Target="https://www.instagram.com/javac_java/" TargetMode="External"/><Relationship Id="rId2" Type="http://schemas.openxmlformats.org/officeDocument/2006/relationships/hyperlink" Target="https://leetcode.com/problems/fibonacci-number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nstagram.com/kumarsam07/" TargetMode="External"/><Relationship Id="rId5" Type="http://schemas.openxmlformats.org/officeDocument/2006/relationships/hyperlink" Target="https://www.instagram.com/qspiders_jspiders_noida/" TargetMode="External"/><Relationship Id="rId4" Type="http://schemas.openxmlformats.org/officeDocument/2006/relationships/hyperlink" Target="https://leetcode.com/problems/minimum-size-subarray-sum/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qspiders_jspiders_noida/" TargetMode="External"/><Relationship Id="rId2" Type="http://schemas.openxmlformats.org/officeDocument/2006/relationships/hyperlink" Target="https://leetcode.com/problems/reverse-string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instagram.com/javac_java/" TargetMode="External"/><Relationship Id="rId4" Type="http://schemas.openxmlformats.org/officeDocument/2006/relationships/hyperlink" Target="https://www.instagram.com/kumarsam07/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qspiders_jspiders_noida/" TargetMode="External"/><Relationship Id="rId2" Type="http://schemas.openxmlformats.org/officeDocument/2006/relationships/hyperlink" Target="https://leetcode.com/problems/rotate-array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instagram.com/javac_java/" TargetMode="External"/><Relationship Id="rId4" Type="http://schemas.openxmlformats.org/officeDocument/2006/relationships/hyperlink" Target="https://www.instagram.com/kumarsam07/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sort-colors/" TargetMode="External"/><Relationship Id="rId2" Type="http://schemas.openxmlformats.org/officeDocument/2006/relationships/hyperlink" Target="https://leetcode.com/problems/move-zeroe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nstagram.com/javac_java/" TargetMode="External"/><Relationship Id="rId5" Type="http://schemas.openxmlformats.org/officeDocument/2006/relationships/hyperlink" Target="https://www.instagram.com/kumarsam07/" TargetMode="External"/><Relationship Id="rId4" Type="http://schemas.openxmlformats.org/officeDocument/2006/relationships/hyperlink" Target="https://www.instagram.com/qspiders_jspiders_noida/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remove-duplicates-from-sorted-array/" TargetMode="External"/><Relationship Id="rId7" Type="http://schemas.openxmlformats.org/officeDocument/2006/relationships/hyperlink" Target="https://www.instagram.com/javac_java/" TargetMode="External"/><Relationship Id="rId2" Type="http://schemas.openxmlformats.org/officeDocument/2006/relationships/hyperlink" Target="https://leetcode.com/problems/two-sum-ii-input-array-is-sorted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nstagram.com/kumarsam07/" TargetMode="External"/><Relationship Id="rId5" Type="http://schemas.openxmlformats.org/officeDocument/2006/relationships/hyperlink" Target="https://www.instagram.com/qspiders_jspiders_noida/" TargetMode="External"/><Relationship Id="rId4" Type="http://schemas.openxmlformats.org/officeDocument/2006/relationships/hyperlink" Target="https://leetcode.com/problems/remove-element/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trapping-rain-water/" TargetMode="External"/><Relationship Id="rId2" Type="http://schemas.openxmlformats.org/officeDocument/2006/relationships/hyperlink" Target="https://leetcode.com/problems/container-with-most-water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nstagram.com/javac_java/" TargetMode="External"/><Relationship Id="rId5" Type="http://schemas.openxmlformats.org/officeDocument/2006/relationships/hyperlink" Target="https://www.instagram.com/kumarsam07/" TargetMode="External"/><Relationship Id="rId4" Type="http://schemas.openxmlformats.org/officeDocument/2006/relationships/hyperlink" Target="https://www.instagram.com/qspiders_jspiders_noida/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qspiders_jspiders_noida/" TargetMode="External"/><Relationship Id="rId2" Type="http://schemas.openxmlformats.org/officeDocument/2006/relationships/hyperlink" Target="https://leetcode.com/problems/sum-of-unique-element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instagram.com/javac_java/" TargetMode="External"/><Relationship Id="rId4" Type="http://schemas.openxmlformats.org/officeDocument/2006/relationships/hyperlink" Target="https://www.instagram.com/kumarsam07/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most-frequent-even-element/" TargetMode="External"/><Relationship Id="rId2" Type="http://schemas.openxmlformats.org/officeDocument/2006/relationships/hyperlink" Target="https://leetcode.com/problems/find-the-least-frequent-digit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nstagram.com/javac_java/" TargetMode="External"/><Relationship Id="rId5" Type="http://schemas.openxmlformats.org/officeDocument/2006/relationships/hyperlink" Target="https://www.instagram.com/kumarsam07/" TargetMode="External"/><Relationship Id="rId4" Type="http://schemas.openxmlformats.org/officeDocument/2006/relationships/hyperlink" Target="https://www.instagram.com/qspiders_jspiders_noida/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two-sum/" TargetMode="External"/><Relationship Id="rId2" Type="http://schemas.openxmlformats.org/officeDocument/2006/relationships/hyperlink" Target="https://leetcode.com/problems/kth-largest-element-in-an-array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nstagram.com/javac_java/" TargetMode="External"/><Relationship Id="rId5" Type="http://schemas.openxmlformats.org/officeDocument/2006/relationships/hyperlink" Target="https://www.instagram.com/kumarsam07/" TargetMode="External"/><Relationship Id="rId4" Type="http://schemas.openxmlformats.org/officeDocument/2006/relationships/hyperlink" Target="https://www.instagram.com/qspiders_jspiders_noida/" TargetMode="Externa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nstagram.com/kumarsam07/" TargetMode="External"/><Relationship Id="rId3" Type="http://schemas.openxmlformats.org/officeDocument/2006/relationships/hyperlink" Target="https://leetcode.com/problems/count-primes/" TargetMode="External"/><Relationship Id="rId7" Type="http://schemas.openxmlformats.org/officeDocument/2006/relationships/hyperlink" Target="https://www.instagram.com/qspiders_jspiders_noida/" TargetMode="External"/><Relationship Id="rId2" Type="http://schemas.openxmlformats.org/officeDocument/2006/relationships/hyperlink" Target="https://leetcode.com/problems/first-missing-positive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etcode.com/problems/check-if-the-number-is-fascinating/description/" TargetMode="External"/><Relationship Id="rId5" Type="http://schemas.openxmlformats.org/officeDocument/2006/relationships/hyperlink" Target="https://leetcode.com/problems/check-if-the-number-is-fascinating/" TargetMode="External"/><Relationship Id="rId4" Type="http://schemas.openxmlformats.org/officeDocument/2006/relationships/hyperlink" Target="https://leetcode.com/problems/count-primes/description/" TargetMode="External"/><Relationship Id="rId9" Type="http://schemas.openxmlformats.org/officeDocument/2006/relationships/hyperlink" Target="https://www.instagram.com/javac_java/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majority-element-ii/" TargetMode="External"/><Relationship Id="rId2" Type="http://schemas.openxmlformats.org/officeDocument/2006/relationships/hyperlink" Target="https://leetcode.com/problems/majority-element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nstagram.com/javac_java/" TargetMode="External"/><Relationship Id="rId5" Type="http://schemas.openxmlformats.org/officeDocument/2006/relationships/hyperlink" Target="https://www.instagram.com/kumarsam07/" TargetMode="External"/><Relationship Id="rId4" Type="http://schemas.openxmlformats.org/officeDocument/2006/relationships/hyperlink" Target="https://www.instagram.com/qspiders_jspiders_noida/" TargetMode="Externa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maximum-product-subarray/" TargetMode="External"/><Relationship Id="rId2" Type="http://schemas.openxmlformats.org/officeDocument/2006/relationships/hyperlink" Target="https://leetcode.com/problems/maximum-subarray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nstagram.com/javac_java/" TargetMode="External"/><Relationship Id="rId5" Type="http://schemas.openxmlformats.org/officeDocument/2006/relationships/hyperlink" Target="https://www.instagram.com/kumarsam07/" TargetMode="External"/><Relationship Id="rId4" Type="http://schemas.openxmlformats.org/officeDocument/2006/relationships/hyperlink" Target="https://www.instagram.com/qspiders_jspiders_noida/" TargetMode="Externa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kumarsam07/" TargetMode="External"/><Relationship Id="rId2" Type="http://schemas.openxmlformats.org/officeDocument/2006/relationships/hyperlink" Target="https://www.instagram.com/qspiders_jspiders_noida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nstagram.com/javac_java/" TargetMode="Externa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kumarsam07/" TargetMode="External"/><Relationship Id="rId2" Type="http://schemas.openxmlformats.org/officeDocument/2006/relationships/hyperlink" Target="https://www.instagram.com/qspiders_jspiders_noida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nstagram.com/javac_java/" TargetMode="Externa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kumarsam07/" TargetMode="External"/><Relationship Id="rId2" Type="http://schemas.openxmlformats.org/officeDocument/2006/relationships/hyperlink" Target="https://www.instagram.com/qspiders_jspiders_noida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nstagram.com/javac_java/" TargetMode="Externa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kumarsam07/" TargetMode="External"/><Relationship Id="rId2" Type="http://schemas.openxmlformats.org/officeDocument/2006/relationships/hyperlink" Target="https://www.instagram.com/qspiders_jspiders_noida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nstagram.com/javac_java/" TargetMode="Externa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qspiders_jspiders_noida/" TargetMode="External"/><Relationship Id="rId2" Type="http://schemas.openxmlformats.org/officeDocument/2006/relationships/hyperlink" Target="https://leetcode.com/problems/merge-sorted-array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instagram.com/javac_java/" TargetMode="External"/><Relationship Id="rId4" Type="http://schemas.openxmlformats.org/officeDocument/2006/relationships/hyperlink" Target="https://www.instagram.com/kumarsam07/" TargetMode="Externa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kumarsam07/" TargetMode="External"/><Relationship Id="rId2" Type="http://schemas.openxmlformats.org/officeDocument/2006/relationships/hyperlink" Target="https://www.instagram.com/qspiders_jspiders_noida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nstagram.com/javac_java/" TargetMode="Externa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kumarsam07/" TargetMode="External"/><Relationship Id="rId2" Type="http://schemas.openxmlformats.org/officeDocument/2006/relationships/hyperlink" Target="https://www.instagram.com/qspiders_jspiders_noida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nstagram.com/javac_java/" TargetMode="Externa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qspiders_jspiders_noida/" TargetMode="External"/><Relationship Id="rId2" Type="http://schemas.openxmlformats.org/officeDocument/2006/relationships/hyperlink" Target="https://leetcode.com/problems/sort-an-array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instagram.com/javac_java/" TargetMode="External"/><Relationship Id="rId4" Type="http://schemas.openxmlformats.org/officeDocument/2006/relationships/hyperlink" Target="https://www.instagram.com/kumarsam07/" TargetMode="Externa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search-insert-position/" TargetMode="External"/><Relationship Id="rId2" Type="http://schemas.openxmlformats.org/officeDocument/2006/relationships/hyperlink" Target="https://leetcode.com/problems/binary-search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nstagram.com/javac_java/" TargetMode="External"/><Relationship Id="rId5" Type="http://schemas.openxmlformats.org/officeDocument/2006/relationships/hyperlink" Target="https://www.instagram.com/kumarsam07/" TargetMode="External"/><Relationship Id="rId4" Type="http://schemas.openxmlformats.org/officeDocument/2006/relationships/hyperlink" Target="https://www.instagram.com/qspiders_jspiders_noida/" TargetMode="Externa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valid-perfect-square/" TargetMode="External"/><Relationship Id="rId2" Type="http://schemas.openxmlformats.org/officeDocument/2006/relationships/hyperlink" Target="https://leetcode.com/problems/sqrtx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nstagram.com/javac_java/" TargetMode="External"/><Relationship Id="rId5" Type="http://schemas.openxmlformats.org/officeDocument/2006/relationships/hyperlink" Target="https://www.instagram.com/kumarsam07/" TargetMode="External"/><Relationship Id="rId4" Type="http://schemas.openxmlformats.org/officeDocument/2006/relationships/hyperlink" Target="https://www.instagram.com/qspiders_jspiders_noida/" TargetMode="Externa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nstagram.com/kumarsam07/" TargetMode="External"/><Relationship Id="rId3" Type="http://schemas.openxmlformats.org/officeDocument/2006/relationships/hyperlink" Target="https://leetcode.com/problems/valid-perfect-square/" TargetMode="External"/><Relationship Id="rId7" Type="http://schemas.openxmlformats.org/officeDocument/2006/relationships/hyperlink" Target="https://www.instagram.com/qspiders_jspiders_noida/" TargetMode="External"/><Relationship Id="rId2" Type="http://schemas.openxmlformats.org/officeDocument/2006/relationships/hyperlink" Target="https://leetcode.com/problems/find-minimum-in-rotated-sorted-array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etcode.com/problems/search-in-rotated-sorted-array/" TargetMode="External"/><Relationship Id="rId5" Type="http://schemas.openxmlformats.org/officeDocument/2006/relationships/hyperlink" Target="https://leetcode.com/problems/find-peak-element/" TargetMode="External"/><Relationship Id="rId4" Type="http://schemas.openxmlformats.org/officeDocument/2006/relationships/hyperlink" Target="https://leetcode.com/problems/find-minimum-in-rotated-sorted-array-ii/" TargetMode="External"/><Relationship Id="rId9" Type="http://schemas.openxmlformats.org/officeDocument/2006/relationships/hyperlink" Target="https://www.instagram.com/javac_java/" TargetMode="Externa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nstagram.com/kumarsam07/" TargetMode="External"/><Relationship Id="rId3" Type="http://schemas.openxmlformats.org/officeDocument/2006/relationships/hyperlink" Target="https://leetcode.com/problems/valid-perfect-square/" TargetMode="External"/><Relationship Id="rId7" Type="http://schemas.openxmlformats.org/officeDocument/2006/relationships/hyperlink" Target="https://www.instagram.com/qspiders_jspiders_noida/" TargetMode="External"/><Relationship Id="rId2" Type="http://schemas.openxmlformats.org/officeDocument/2006/relationships/hyperlink" Target="https://leetcode.com/problems/find-minimum-in-rotated-sorted-array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etcode.com/problems/search-in-rotated-sorted-array/" TargetMode="External"/><Relationship Id="rId5" Type="http://schemas.openxmlformats.org/officeDocument/2006/relationships/hyperlink" Target="https://leetcode.com/problems/find-peak-element/" TargetMode="External"/><Relationship Id="rId4" Type="http://schemas.openxmlformats.org/officeDocument/2006/relationships/hyperlink" Target="https://leetcode.com/problems/find-minimum-in-rotated-sorted-array-ii/" TargetMode="External"/><Relationship Id="rId9" Type="http://schemas.openxmlformats.org/officeDocument/2006/relationships/hyperlink" Target="https://www.instagram.com/javac_java/" TargetMode="Externa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kumarsam07/" TargetMode="External"/><Relationship Id="rId2" Type="http://schemas.openxmlformats.org/officeDocument/2006/relationships/hyperlink" Target="https://www.instagram.com/qspiders_jspiders_noida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nstagram.com/javac_java/" TargetMode="Externa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reverse-words-in-a-string/" TargetMode="External"/><Relationship Id="rId7" Type="http://schemas.openxmlformats.org/officeDocument/2006/relationships/hyperlink" Target="https://www.instagram.com/javac_java/" TargetMode="External"/><Relationship Id="rId2" Type="http://schemas.openxmlformats.org/officeDocument/2006/relationships/hyperlink" Target="https://leetcode.com/problems/valid-palindrome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nstagram.com/kumarsam07/" TargetMode="External"/><Relationship Id="rId5" Type="http://schemas.openxmlformats.org/officeDocument/2006/relationships/hyperlink" Target="https://www.instagram.com/qspiders_jspiders_noida/" TargetMode="External"/><Relationship Id="rId4" Type="http://schemas.openxmlformats.org/officeDocument/2006/relationships/hyperlink" Target="https://leetcode.com/problems/reverse-words-in-a-string-iii/" TargetMode="Externa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reverse-words-in-a-string-iii/" TargetMode="External"/><Relationship Id="rId2" Type="http://schemas.openxmlformats.org/officeDocument/2006/relationships/hyperlink" Target="https://leetcode.com/problems/reverse-words-in-a-strin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nstagram.com/javac_java/" TargetMode="External"/><Relationship Id="rId5" Type="http://schemas.openxmlformats.org/officeDocument/2006/relationships/hyperlink" Target="https://www.instagram.com/kumarsam07/" TargetMode="External"/><Relationship Id="rId4" Type="http://schemas.openxmlformats.org/officeDocument/2006/relationships/hyperlink" Target="https://www.instagram.com/qspiders_jspiders_noida/" TargetMode="Externa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merge-strings-alternately/description/" TargetMode="External"/><Relationship Id="rId2" Type="http://schemas.openxmlformats.org/officeDocument/2006/relationships/hyperlink" Target="https://leetcode.com/problems/merge-strings-alternately/" TargetMode="Externa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zigzag-conversion/" TargetMode="Externa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second-largest-digit-in-a-string/description/" TargetMode="Externa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first-unique-character-in-a-string/description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valid-anagram/description/" TargetMode="Externa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check-if-the-sentence-is-pangram/description/" TargetMode="Externa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largest-number/" TargetMode="External"/><Relationship Id="rId2" Type="http://schemas.openxmlformats.org/officeDocument/2006/relationships/hyperlink" Target="https://leetcode.com/problems/check-if-the-number-is-fascinating/description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eetcode.com/problems/largest-number/description/?envType=problem-list-v2&amp;envId=array" TargetMode="Externa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check-if-the-number-is-fascinating/description/" TargetMode="Externa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longest-substring-without-repeating-characters/" TargetMode="External"/><Relationship Id="rId2" Type="http://schemas.openxmlformats.org/officeDocument/2006/relationships/hyperlink" Target="https://leetcode.com/problems/check-if-the-number-is-fascinating/description/" TargetMode="Externa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longest-palindromic-substring/" TargetMode="External"/><Relationship Id="rId2" Type="http://schemas.openxmlformats.org/officeDocument/2006/relationships/hyperlink" Target="https://leetcode.com/problems/check-if-the-number-is-fascinating/description/" TargetMode="Externa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backspace-string-compare/" TargetMode="External"/><Relationship Id="rId2" Type="http://schemas.openxmlformats.org/officeDocument/2006/relationships/hyperlink" Target="https://leetcode.com/problems/check-if-the-number-is-fascinating/description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eetcode.com/problems/backspace-string-compare/description/" TargetMode="Externa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adding-spaces-to-a-string/" TargetMode="External"/><Relationship Id="rId2" Type="http://schemas.openxmlformats.org/officeDocument/2006/relationships/hyperlink" Target="https://leetcode.com/problems/check-if-the-number-is-fascinating/description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eetcode.com/problems/adding-spaces-to-a-string/description/" TargetMode="Externa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rearrange-spaces-between-words/" TargetMode="External"/><Relationship Id="rId2" Type="http://schemas.openxmlformats.org/officeDocument/2006/relationships/hyperlink" Target="https://leetcode.com/problems/check-if-the-number-is-fascinating/description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eetcode.com/problems/rearrange-spaces-between-words/description/" TargetMode="Externa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check-if-the-number-is-fascinating/description/" TargetMode="Externa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reverse-only-letters/" TargetMode="External"/><Relationship Id="rId2" Type="http://schemas.openxmlformats.org/officeDocument/2006/relationships/hyperlink" Target="https://leetcode.com/problems/check-if-the-number-is-fascinating/description/" TargetMode="Externa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word-break/" TargetMode="External"/><Relationship Id="rId2" Type="http://schemas.openxmlformats.org/officeDocument/2006/relationships/hyperlink" Target="https://leetcode.com/problems/check-if-the-number-is-fascinating/description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eetcode.com/problems/word-break/description/" TargetMode="Externa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decode-string/" TargetMode="Externa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sort-characters-by-frequency/description/" TargetMode="External"/><Relationship Id="rId2" Type="http://schemas.openxmlformats.org/officeDocument/2006/relationships/hyperlink" Target="https://leetcode.com/problems/sort-characters-by-frequency/" TargetMode="Externa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check-if-all-characters-have-equal-number-of-occurrences/description/" TargetMode="Externa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simplify-path/description/" TargetMode="External"/><Relationship Id="rId2" Type="http://schemas.openxmlformats.org/officeDocument/2006/relationships/hyperlink" Target="https://leetcode.com/problems/simplify-path/" TargetMode="Externa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valid-parentheses/description/" TargetMode="Externa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middle-of-the-linked-list/" TargetMode="Externa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delete-the-middle-node-of-a-linked-list/" TargetMode="Externa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remove-nth-node-from-end-of-list/" TargetMode="Externa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linked-list-cycle/" TargetMode="Externa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linked-list-cycle-ii/" TargetMode="Externa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reverse-linked-list/" TargetMode="Externa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add-two-numbers/" TargetMode="Externa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reverse-linked-list-ii/" TargetMode="Externa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merge-two-sorted-lists/" TargetMode="Externa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sort-list/" TargetMode="Externa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insertion-sort-list/" TargetMode="Externa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rotate-list/" TargetMode="Externa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design-linked-list/" TargetMode="Externa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remove-duplicates-from-sorted-list/" TargetMode="Externa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delete-node-in-a-linked-list/" TargetMode="Externa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removing-stars-from-a-string/" TargetMode="Externa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backspace-string-compare/" TargetMode="Externa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remove-all-adjacent-duplicates-in-string/" TargetMode="Externa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make-the-string-great/" TargetMode="Externa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valid-parentheses/" TargetMode="Externa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minimum-add-to-make-parentheses-valid/" TargetMode="Externa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remove-outermost-parentheses/" TargetMode="Externa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fibonacci-number/" TargetMode="Externa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climbing-stairs/" TargetMode="Externa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house-robber/" TargetMode="Externa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coin-change/" TargetMode="Externa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unique-paths/" TargetMode="Externa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partition-equal-subset-sum/" TargetMode="Externa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longest-increasing-subsequence/" TargetMode="Externa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longest-common-subsequence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F6F47-6F06-2864-7FFE-CF3D7C29F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765477D-8A08-C68E-CC61-BD8052F5BC76}"/>
              </a:ext>
            </a:extLst>
          </p:cNvPr>
          <p:cNvSpPr/>
          <p:nvPr/>
        </p:nvSpPr>
        <p:spPr>
          <a:xfrm>
            <a:off x="0" y="9596"/>
            <a:ext cx="9144000" cy="289750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57200" indent="-22860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3200" b="1" u="sng" dirty="0" err="1">
                <a:solidFill>
                  <a:srgbClr val="0070C0"/>
                </a:solidFill>
                <a:effectLst/>
                <a:highlight>
                  <a:srgbClr val="D3D3D3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QSpiders|JSpiders|PySpiders</a:t>
            </a:r>
            <a:r>
              <a:rPr lang="en-IN" sz="3200" b="1" u="sng" dirty="0">
                <a:solidFill>
                  <a:srgbClr val="0070C0"/>
                </a:solidFill>
                <a:effectLst/>
                <a:highlight>
                  <a:srgbClr val="D3D3D3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, NOIDA</a:t>
            </a:r>
            <a:endParaRPr lang="en-IN" sz="16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22860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3200" b="1" u="sng" dirty="0">
                <a:solidFill>
                  <a:srgbClr val="0070C0"/>
                </a:solidFill>
                <a:effectLst/>
                <a:highlight>
                  <a:srgbClr val="D3D3D3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B-4, Block-B, Sector-3, Noida </a:t>
            </a:r>
            <a:endParaRPr lang="en-IN" sz="16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22860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3200" b="1" u="sng" dirty="0">
                <a:solidFill>
                  <a:srgbClr val="0070C0"/>
                </a:solidFill>
                <a:highlight>
                  <a:srgbClr val="D3D3D3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TOP 150 Programming</a:t>
            </a:r>
            <a:r>
              <a:rPr lang="en-IN" sz="3200" b="1" u="sng" dirty="0">
                <a:solidFill>
                  <a:srgbClr val="0070C0"/>
                </a:solidFill>
                <a:effectLst/>
                <a:highlight>
                  <a:srgbClr val="D3D3D3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u="sng" dirty="0">
                <a:solidFill>
                  <a:srgbClr val="0070C0"/>
                </a:solidFill>
                <a:effectLst/>
                <a:highlight>
                  <a:srgbClr val="D3D3D3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Questions by </a:t>
            </a:r>
            <a:r>
              <a:rPr lang="en-IN" sz="2800" b="1" u="sng" dirty="0">
                <a:solidFill>
                  <a:srgbClr val="002060"/>
                </a:solidFill>
                <a:effectLst/>
                <a:highlight>
                  <a:srgbClr val="D3D3D3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Shambhu Sir</a:t>
            </a:r>
            <a:endParaRPr lang="en-IN" sz="14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400" b="1" u="sng" dirty="0">
                <a:solidFill>
                  <a:srgbClr val="222A35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Monday, 11 August 2025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A9ACFC-4BE4-9A68-C396-4392FB3B5385}"/>
              </a:ext>
            </a:extLst>
          </p:cNvPr>
          <p:cNvSpPr/>
          <p:nvPr/>
        </p:nvSpPr>
        <p:spPr>
          <a:xfrm>
            <a:off x="592042" y="2399982"/>
            <a:ext cx="2304415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9000F3-E3DE-7871-C24F-1E28783DE5C7}"/>
              </a:ext>
            </a:extLst>
          </p:cNvPr>
          <p:cNvSpPr/>
          <p:nvPr/>
        </p:nvSpPr>
        <p:spPr>
          <a:xfrm>
            <a:off x="6477000" y="2408287"/>
            <a:ext cx="2438400" cy="402433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b="1" dirty="0">
                <a:solidFill>
                  <a:srgbClr val="5F5F5F"/>
                </a:solidFill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 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57D9F9C4-A6CA-254B-FA6A-73A282692BFF}"/>
              </a:ext>
            </a:extLst>
          </p:cNvPr>
          <p:cNvGrpSpPr/>
          <p:nvPr/>
        </p:nvGrpSpPr>
        <p:grpSpPr>
          <a:xfrm>
            <a:off x="592042" y="23999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B1491C04-E2B4-8F6B-E359-1E098810F462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F756B542-321D-C2CC-7A66-80C5907FAA2B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BFFB8383-82CC-7F0B-AF20-C5B712C23846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4F347E3F-FD1D-7B32-912E-243C1A7F7CC7}"/>
              </a:ext>
            </a:extLst>
          </p:cNvPr>
          <p:cNvGrpSpPr/>
          <p:nvPr/>
        </p:nvGrpSpPr>
        <p:grpSpPr>
          <a:xfrm>
            <a:off x="6488502" y="2423370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6E37BABF-AED9-D3F1-4653-314EF77EB1F7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244D19B3-2A3B-4CE9-0188-1002493FC02E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D6E16ABC-23F7-5A70-8141-5384D19B1367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E05B2531-DB0F-DB57-D774-B013E0C23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4049" y="3439323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C6D14136-9C73-81BA-DD6D-CA4F64FBB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1807" y="6455266"/>
            <a:ext cx="2895600" cy="365125"/>
          </a:xfrm>
        </p:spPr>
        <p:txBody>
          <a:bodyPr/>
          <a:lstStyle/>
          <a:p>
            <a:r>
              <a:rPr lang="es-ES" b="1" dirty="0"/>
              <a:t>Shambhu Kumar QSpiders | JSpiders, NOIDA</a:t>
            </a:r>
            <a:endParaRPr lang="en-US" b="1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C82E53E3-A59B-D061-4B69-C0F47168E9A0}"/>
              </a:ext>
            </a:extLst>
          </p:cNvPr>
          <p:cNvSpPr txBox="1">
            <a:spLocks/>
          </p:cNvSpPr>
          <p:nvPr/>
        </p:nvSpPr>
        <p:spPr>
          <a:xfrm>
            <a:off x="58642" y="3312568"/>
            <a:ext cx="1066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AFF95DB-5E90-F0CB-C5B2-A05EE38E499D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F86F3F9-58AA-4698-0632-A970BAAA7978}"/>
              </a:ext>
            </a:extLst>
          </p:cNvPr>
          <p:cNvSpPr/>
          <p:nvPr/>
        </p:nvSpPr>
        <p:spPr>
          <a:xfrm>
            <a:off x="152400" y="2914086"/>
            <a:ext cx="8839200" cy="3651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 | PySpiders, NOIDA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4590DDF-95EF-1E36-8965-D2D8D1D5C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943" y="3488335"/>
            <a:ext cx="7957857" cy="288297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600" b="1" dirty="0">
              <a:solidFill>
                <a:srgbClr val="FFFF99"/>
              </a:solidFill>
            </a:endParaRPr>
          </a:p>
          <a:p>
            <a:pPr marL="0" indent="0">
              <a:buNone/>
            </a:pPr>
            <a:r>
              <a:rPr lang="en-IN" sz="4000" b="1" dirty="0">
                <a:solidFill>
                  <a:schemeClr val="accent6">
                    <a:lumMod val="20000"/>
                    <a:lumOff val="8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2651. Calculate Delayed Arrival Time</a:t>
            </a:r>
            <a:endParaRPr lang="en-US" sz="38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65B52DA-533D-FD1B-B12F-DE860EE52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903" y="3405737"/>
            <a:ext cx="6585097" cy="569838"/>
          </a:xfrm>
        </p:spPr>
        <p:txBody>
          <a:bodyPr>
            <a:noAutofit/>
          </a:bodyPr>
          <a:lstStyle/>
          <a:p>
            <a:r>
              <a:rPr lang="en-US" sz="2800" b="1" u="sng" dirty="0">
                <a:solidFill>
                  <a:srgbClr val="FFC000"/>
                </a:solidFill>
              </a:rPr>
              <a:t>Topic: Number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99F99D-F8AB-FD09-E461-339EEA0DEF81}"/>
              </a:ext>
            </a:extLst>
          </p:cNvPr>
          <p:cNvSpPr/>
          <p:nvPr/>
        </p:nvSpPr>
        <p:spPr>
          <a:xfrm>
            <a:off x="5555237" y="6375518"/>
            <a:ext cx="2826763" cy="42569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oogle Shape;9534;p142">
            <a:extLst>
              <a:ext uri="{FF2B5EF4-FFF2-40B4-BE49-F238E27FC236}">
                <a16:creationId xmlns:a16="http://schemas.microsoft.com/office/drawing/2014/main" id="{34F1554E-FA4F-D6EF-1BF1-5471351480BE}"/>
              </a:ext>
            </a:extLst>
          </p:cNvPr>
          <p:cNvGrpSpPr/>
          <p:nvPr/>
        </p:nvGrpSpPr>
        <p:grpSpPr>
          <a:xfrm>
            <a:off x="5582635" y="6405138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4" name="Google Shape;9535;p142">
              <a:extLst>
                <a:ext uri="{FF2B5EF4-FFF2-40B4-BE49-F238E27FC236}">
                  <a16:creationId xmlns:a16="http://schemas.microsoft.com/office/drawing/2014/main" id="{CB64A43A-C350-498E-C8CB-1189A591E45D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5" name="Google Shape;9536;p142">
              <a:extLst>
                <a:ext uri="{FF2B5EF4-FFF2-40B4-BE49-F238E27FC236}">
                  <a16:creationId xmlns:a16="http://schemas.microsoft.com/office/drawing/2014/main" id="{B0548CB8-A2BB-AE1B-3BA0-B6833110C49D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6632428B-3AFB-F173-E311-E749B7C26152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B722ACE4-D21C-F15C-3542-1FA0AC0D3D83}"/>
              </a:ext>
            </a:extLst>
          </p:cNvPr>
          <p:cNvSpPr txBox="1"/>
          <p:nvPr/>
        </p:nvSpPr>
        <p:spPr>
          <a:xfrm>
            <a:off x="5904783" y="6371311"/>
            <a:ext cx="26148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FFFF99"/>
                </a:solidFill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F08347-A6AD-53D2-F273-A45874FEF0AB}"/>
              </a:ext>
            </a:extLst>
          </p:cNvPr>
          <p:cNvSpPr txBox="1"/>
          <p:nvPr/>
        </p:nvSpPr>
        <p:spPr>
          <a:xfrm>
            <a:off x="957089" y="2337324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FF99"/>
                </a:solidFill>
                <a:effectLst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C0C38F-BFDE-C562-179F-FCF7D71817AA}"/>
              </a:ext>
            </a:extLst>
          </p:cNvPr>
          <p:cNvSpPr txBox="1"/>
          <p:nvPr/>
        </p:nvSpPr>
        <p:spPr>
          <a:xfrm>
            <a:off x="6875076" y="2314244"/>
            <a:ext cx="2355374" cy="492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2400" b="1" dirty="0">
                <a:solidFill>
                  <a:srgbClr val="FFFF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</a:p>
        </p:txBody>
      </p:sp>
    </p:spTree>
    <p:extLst>
      <p:ext uri="{BB962C8B-B14F-4D97-AF65-F5344CB8AC3E}">
        <p14:creationId xmlns:p14="http://schemas.microsoft.com/office/powerpoint/2010/main" val="2416250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3B89D-2578-A07E-AB72-E7F69FCC3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5EB9B-1756-0A14-B55A-59F8E37AC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C000"/>
                </a:solidFill>
              </a:rPr>
              <a:t>Topic: Number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5D334-06CF-0786-A155-874FFEE5B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686800" cy="5289550"/>
          </a:xfrm>
        </p:spPr>
        <p:txBody>
          <a:bodyPr>
            <a:normAutofit/>
          </a:bodyPr>
          <a:lstStyle/>
          <a:p>
            <a:pPr marL="742950" indent="-742950">
              <a:buFont typeface="Arial" pitchFamily="34" charset="0"/>
              <a:buAutoNum type="alphaLcParenR"/>
            </a:pPr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WAP to swap two numbers using a third variable.</a:t>
            </a: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WAP to swap two numbers without using a third variable.</a:t>
            </a: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WAP to swap two numbers without using a third variable or without using + or – operator.</a:t>
            </a: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WAP to swap two numbers without using a third variable or without using +, –, * or / operator.</a:t>
            </a:r>
          </a:p>
          <a:p>
            <a:pPr marL="742950" indent="-742950">
              <a:buFont typeface="Arial" pitchFamily="34" charset="0"/>
              <a:buAutoNum type="alphaLcParenR"/>
            </a:pPr>
            <a:endParaRPr lang="en-US" sz="3600" b="1" dirty="0">
              <a:solidFill>
                <a:srgbClr val="BBF96F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C03496-06A2-AFC7-1F60-77D5A7857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b="1" dirty="0"/>
              <a:t>Shambhu Kumar QSpiders | JSpiders, NOIDA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260067-A9BC-335A-6305-A507087BC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r>
              <a:rPr lang="en-US" sz="4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4400" b="1" smtClean="0">
                <a:solidFill>
                  <a:srgbClr val="FFC000"/>
                </a:solidFill>
              </a:rPr>
              <a:pPr/>
              <a:t>2</a:t>
            </a:fld>
            <a:endParaRPr lang="en-US" sz="4400" b="1" dirty="0">
              <a:solidFill>
                <a:srgbClr val="FFC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FF106-147A-697A-47C2-ADD1402C7F40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86AD171-AD27-EB47-B0C8-511F32D8FC24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>
                <a:solidFill>
                  <a:schemeClr val="tx1"/>
                </a:solidFill>
              </a:rPr>
              <a:t>SHAMBHU KUMAR QSpiders |JSpiders | PySpiders, NOIDA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0BC572-4E3F-263C-B863-15DBF2C098A3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89AB76-288E-4263-60E9-607F73069A0D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83AA73-AFD1-7DF6-2300-B4B956692811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F8C7E5C7-D517-77B2-CF0D-E933410B5C56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74F2B2D3-31AE-B6FB-E0C8-C34102C5C322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42DC70C1-B606-63F8-62BE-BFFB2D824F91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79E43BB8-DB6C-A5A9-029C-F5D76DF7B287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1382788E-CD37-339D-8A6D-36AE328ECEE9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07AA574F-B699-C35B-484D-E56B7F673E20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40237789-0BAB-E9C8-E0E4-FFC6BCF7927A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E45BE12D-CFC3-B695-92C2-B0FD9EA1D497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B398E1B8-DE97-1F6E-A1CE-9F0047A6EA2A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EAE8021A-3D14-E086-AA26-0D6EC6CF3DEB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BB1F6CA7-64DC-C94A-BC74-D60AED1352A7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F18EB689-E8D0-EC93-2B2A-812E4F4409F0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A7CDDDA-4FB1-6A6E-D2F2-B6ABFD26FB77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FFFF99"/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AABE0A-B3DC-33F2-4955-356A0EC0D858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FF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lang="en-IN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B68C46B-1E0D-7C59-66D7-1F3440CE8425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FF99"/>
                </a:solidFill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</p:spTree>
    <p:extLst>
      <p:ext uri="{BB962C8B-B14F-4D97-AF65-F5344CB8AC3E}">
        <p14:creationId xmlns:p14="http://schemas.microsoft.com/office/powerpoint/2010/main" val="1233775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3C976-53D9-E152-0604-B50CA3854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BCA23-BC67-7AA9-6148-F7769396B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C000"/>
                </a:solidFill>
              </a:rPr>
              <a:t>Topic: Number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A17F7-08DF-D2E0-CE2E-1ACAC37B7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686800" cy="5289550"/>
          </a:xfrm>
        </p:spPr>
        <p:txBody>
          <a:bodyPr>
            <a:normAutofit/>
          </a:bodyPr>
          <a:lstStyle/>
          <a:p>
            <a:pPr marL="742950" indent="-742950">
              <a:buFont typeface="Arial" pitchFamily="34" charset="0"/>
              <a:buAutoNum type="alphaLcParenR"/>
            </a:pPr>
            <a:r>
              <a:rPr lang="en-IN" sz="2800" b="1" dirty="0">
                <a:solidFill>
                  <a:srgbClr val="BBF96F"/>
                </a:solidFill>
              </a:rPr>
              <a:t>WAP to find max of two numbers without using any inbuilt function.</a:t>
            </a:r>
          </a:p>
          <a:p>
            <a:pPr marL="742950" indent="-742950">
              <a:buFont typeface="Arial" pitchFamily="34" charset="0"/>
              <a:buAutoNum type="alphaLcParenR"/>
            </a:pPr>
            <a:endParaRPr lang="en-IN" sz="2800" b="1" dirty="0">
              <a:solidFill>
                <a:srgbClr val="BBF96F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IN" sz="2800" b="1" dirty="0">
                <a:solidFill>
                  <a:srgbClr val="BBF96F"/>
                </a:solidFill>
              </a:rPr>
              <a:t>WAP to find max of three numbers without using any inbuilt function.</a:t>
            </a:r>
          </a:p>
          <a:p>
            <a:pPr marL="742950" indent="-742950">
              <a:buFont typeface="Arial" pitchFamily="34" charset="0"/>
              <a:buAutoNum type="alphaLcParenR"/>
            </a:pPr>
            <a:endParaRPr lang="en-IN" sz="2800" b="1" dirty="0">
              <a:solidFill>
                <a:srgbClr val="BBF96F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IN" sz="2800" b="1" dirty="0">
                <a:solidFill>
                  <a:srgbClr val="BBF96F"/>
                </a:solidFill>
              </a:rPr>
              <a:t>WAP to find second max of three numbers without using any inbuilt function.</a:t>
            </a:r>
          </a:p>
          <a:p>
            <a:pPr marL="742950" indent="-742950">
              <a:buFont typeface="Arial" pitchFamily="34" charset="0"/>
              <a:buAutoNum type="alphaLcParenR"/>
            </a:pP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5E242D-62B8-5A32-98CE-2E91FDDE1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b="1" dirty="0"/>
              <a:t>Shambhu Kumar QSpiders | JSpiders, NOIDA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B07500-4DBE-924C-D0B2-6283F1427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r>
              <a:rPr lang="en-US" sz="4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4400" b="1" smtClean="0">
                <a:solidFill>
                  <a:srgbClr val="FFC000"/>
                </a:solidFill>
              </a:rPr>
              <a:pPr/>
              <a:t>3</a:t>
            </a:fld>
            <a:endParaRPr lang="en-US" sz="4400" b="1" dirty="0">
              <a:solidFill>
                <a:srgbClr val="FFC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14F5B-F77A-65A6-5BCD-B00AEEB5160E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7254ED5-0D03-D580-D364-733B33C6809C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>
                <a:solidFill>
                  <a:schemeClr val="tx1"/>
                </a:solidFill>
              </a:rPr>
              <a:t>SHAMBHU KUMAR QSpiders |JSpiders | PySpiders, NOIDA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6BC462-F3B6-A933-D574-26291B031F8D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0FF667-A7BC-A88A-7C6F-F117C46B794E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D0AD09-B299-DECF-2F2E-E79A7ACCC061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B1E1E424-FC33-966D-3B06-DDEF1DAE5DD4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B84643A2-FE5A-7BBF-519A-AF1C48DA32D0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9346A029-66D2-5DDB-E166-D6B6F053CCE0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6A97B7EB-5508-33BD-D9F0-0DEB0D43DC06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4E1A8658-E8BF-E36C-6A2A-4D24DEDE54E6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4CA4BA9B-213C-3A3E-1E7A-3A1814F51780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B2A8B854-2E78-A0AC-D4AE-8308E4FFFED7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E5035353-ABF2-52E8-225D-5AC89B927505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C0B4B585-7492-227D-4725-8EB2784830CD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C3DF517E-63F3-152E-FE94-A474A4467183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0D8EB122-BBFE-A23D-CDEA-44909B112D6D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63059A4D-8B24-FB8D-C1E8-8B3BDBAEEA63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B2EDE07-3D23-D6F4-549E-C5BC74EF4EBC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FFFF99"/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A485CA-342F-C434-8BD7-39F43C7E7C92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FF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lang="en-IN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7D69D74-AFC4-CD23-B34C-366B34515C63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FF99"/>
                </a:solidFill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</p:spTree>
    <p:extLst>
      <p:ext uri="{BB962C8B-B14F-4D97-AF65-F5344CB8AC3E}">
        <p14:creationId xmlns:p14="http://schemas.microsoft.com/office/powerpoint/2010/main" val="1577501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E7E1F-5519-ABCD-CEEA-B01B7E2C7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B9415-F1F7-465F-7C80-3C6C93A0A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C000"/>
                </a:solidFill>
              </a:rPr>
              <a:t>Topic: Number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C246D-2D4B-4310-4C4E-B43929FC9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686800" cy="5289550"/>
          </a:xfrm>
        </p:spPr>
        <p:txBody>
          <a:bodyPr>
            <a:normAutofit fontScale="85000" lnSpcReduction="20000"/>
          </a:bodyPr>
          <a:lstStyle/>
          <a:p>
            <a:pPr marL="742950" indent="-742950">
              <a:buFont typeface="Arial" pitchFamily="34" charset="0"/>
              <a:buAutoNum type="alphaLcParenR"/>
            </a:pPr>
            <a:r>
              <a:rPr lang="en-US" sz="3500" b="1" dirty="0">
                <a:solidFill>
                  <a:srgbClr val="FFFF00"/>
                </a:solidFill>
              </a:rPr>
              <a:t>Solve and answer value of c.</a:t>
            </a:r>
          </a:p>
          <a:p>
            <a:pPr marL="0" indent="0">
              <a:buNone/>
            </a:pPr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	</a:t>
            </a:r>
            <a:r>
              <a:rPr lang="en-US" sz="35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int a=12;</a:t>
            </a:r>
          </a:p>
          <a:p>
            <a:pPr marL="0" indent="0">
              <a:buNone/>
            </a:pPr>
            <a:r>
              <a:rPr lang="en-US" sz="35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	int b=20;</a:t>
            </a:r>
          </a:p>
          <a:p>
            <a:pPr marL="0" indent="0">
              <a:buNone/>
            </a:pPr>
            <a:r>
              <a:rPr lang="en-US" sz="35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	int c= a++ +b++ - ++a- --a;</a:t>
            </a:r>
          </a:p>
          <a:p>
            <a:pPr marL="0" indent="0">
              <a:buNone/>
            </a:pPr>
            <a:r>
              <a:rPr lang="en-US" sz="35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	</a:t>
            </a:r>
            <a:r>
              <a:rPr lang="en-US" sz="3500" b="1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System.out.println</a:t>
            </a:r>
            <a:r>
              <a:rPr lang="en-US" sz="35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(c);</a:t>
            </a:r>
          </a:p>
          <a:p>
            <a:pPr marL="0" indent="0">
              <a:buNone/>
            </a:pPr>
            <a:endParaRPr lang="en-US" sz="24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742950" indent="-742950">
              <a:buFont typeface="+mj-lt"/>
              <a:buAutoNum type="alphaLcParenR" startAt="2"/>
            </a:pPr>
            <a:r>
              <a:rPr lang="en-US" sz="3600" b="1" dirty="0">
                <a:solidFill>
                  <a:srgbClr val="FFFF00"/>
                </a:solidFill>
              </a:rPr>
              <a:t>Solve and answer value of result.</a:t>
            </a:r>
          </a:p>
          <a:p>
            <a:pPr marL="0" indent="0">
              <a:buNone/>
            </a:pPr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	int x = 5;</a:t>
            </a:r>
          </a:p>
          <a:p>
            <a:pPr marL="0" indent="0">
              <a:buNone/>
            </a:pPr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	int result = x++ - --x + x-- - --x;</a:t>
            </a:r>
          </a:p>
          <a:p>
            <a:pPr marL="0" indent="0">
              <a:buNone/>
            </a:pPr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	System.out.println(result);</a:t>
            </a:r>
          </a:p>
          <a:p>
            <a:pPr marL="0" indent="0">
              <a:buNone/>
            </a:pPr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</a:p>
          <a:p>
            <a:pPr marL="0" indent="0">
              <a:buNone/>
            </a:pP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972AA3-A4B5-1584-9185-9FF8111F0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b="1" dirty="0"/>
              <a:t>Shambhu Kumar QSpiders | JSpiders, NOIDA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EC833F-2F0F-8839-2F8B-C1356DE11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r>
              <a:rPr lang="en-US" sz="4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4400" b="1" smtClean="0">
                <a:solidFill>
                  <a:srgbClr val="FFC000"/>
                </a:solidFill>
              </a:rPr>
              <a:pPr/>
              <a:t>4</a:t>
            </a:fld>
            <a:endParaRPr lang="en-US" sz="4400" b="1" dirty="0">
              <a:solidFill>
                <a:srgbClr val="FFC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415CF-CC0C-24F8-73E5-3D2AF3B0D3B8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99E7900-7881-0E0C-1CD9-1287D0991F9B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>
                <a:solidFill>
                  <a:schemeClr val="tx1"/>
                </a:solidFill>
              </a:rPr>
              <a:t>SHAMBHU KUMAR QSpiders |JSpiders | PySpiders, NOIDA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47FAF-CC3A-D007-01FE-08E30384B3C9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67939F-0FF5-BF81-8396-5CC4714219A0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1D4775-5449-97D5-ADF8-FB9747A552A6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2B77F084-5E4E-13B4-3E99-2E2334E1BB0B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3C5EC6F8-5233-8BD1-E5E2-A66DF28EED56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74C0724E-07A5-D870-AD5E-AFBAFCD8F39D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42945C29-1941-A8F4-6FC2-80ED118A8847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C5506AD0-06F8-3E18-8B6B-6A8443AFB8F7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A890D9A1-F991-53E1-8D64-76F1EEA3B1B8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5458D101-1FAC-5D7C-9AF9-462B7C9970AD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93A3294C-CF67-1BDB-3C5A-2AF12E7E0712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7DC277ED-62B5-5393-720D-D92FE592D6BD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F174779F-9BBF-0D15-0A8C-D4534D3AB6B5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656F2116-6DE0-62ED-0AD2-E2E5EBD6C9ED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3B7B94D9-881F-2F45-C206-BE15741327BB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096F45F-48DF-CC9E-51C7-E776CD5DDED5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FFFF99"/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C3F14D-BBC2-D22B-B99A-6972BC493D68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FF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lang="en-IN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5FD493E-E27C-DBAE-29D1-08B90A6ADD2A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FF99"/>
                </a:solidFill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</p:spTree>
    <p:extLst>
      <p:ext uri="{BB962C8B-B14F-4D97-AF65-F5344CB8AC3E}">
        <p14:creationId xmlns:p14="http://schemas.microsoft.com/office/powerpoint/2010/main" val="3357717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DD9D8-734A-1BE5-A4EC-46AFB7174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C7C3C-B45C-7F97-6A13-FC817024C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C000"/>
                </a:solidFill>
              </a:rPr>
              <a:t>Topic: Number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E59C3-49F3-A198-409A-ED59C81B6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686800" cy="5289550"/>
          </a:xfrm>
        </p:spPr>
        <p:txBody>
          <a:bodyPr>
            <a:normAutofit fontScale="92500" lnSpcReduction="20000"/>
          </a:bodyPr>
          <a:lstStyle/>
          <a:p>
            <a:pPr marL="742950" indent="-742950">
              <a:buFont typeface="Arial" pitchFamily="34" charset="0"/>
              <a:buAutoNum type="alphaLcParenR"/>
            </a:pPr>
            <a:r>
              <a:rPr lang="en-US" sz="3500" b="1" dirty="0">
                <a:solidFill>
                  <a:srgbClr val="FFFF00"/>
                </a:solidFill>
              </a:rPr>
              <a:t>Solve and </a:t>
            </a:r>
            <a:r>
              <a:rPr lang="en-US" sz="3600" b="1" dirty="0">
                <a:solidFill>
                  <a:srgbClr val="FFFF00"/>
                </a:solidFill>
              </a:rPr>
              <a:t>answer value of x, y, z and p:</a:t>
            </a:r>
            <a:endParaRPr lang="en-US" sz="3500" b="1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IN" sz="3600" b="1" kern="100" dirty="0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3000" b="1" dirty="0">
                <a:solidFill>
                  <a:srgbClr val="00FF00"/>
                </a:solidFill>
              </a:rPr>
              <a:t>int x=12;</a:t>
            </a:r>
          </a:p>
          <a:p>
            <a:pPr marL="0" indent="0">
              <a:buNone/>
            </a:pPr>
            <a:r>
              <a:rPr lang="en-US" sz="3000" b="1" dirty="0">
                <a:solidFill>
                  <a:srgbClr val="00FF00"/>
                </a:solidFill>
              </a:rPr>
              <a:t>	int y=x++ + ++x;</a:t>
            </a:r>
          </a:p>
          <a:p>
            <a:pPr marL="0" indent="0">
              <a:buNone/>
            </a:pPr>
            <a:r>
              <a:rPr lang="en-US" sz="3000" b="1" dirty="0">
                <a:solidFill>
                  <a:srgbClr val="00FF00"/>
                </a:solidFill>
              </a:rPr>
              <a:t>	y++;</a:t>
            </a:r>
          </a:p>
          <a:p>
            <a:pPr marL="0" indent="0">
              <a:buNone/>
            </a:pPr>
            <a:r>
              <a:rPr lang="en-US" sz="3000" b="1">
                <a:solidFill>
                  <a:srgbClr val="00FF00"/>
                </a:solidFill>
              </a:rPr>
              <a:t>	x--;</a:t>
            </a:r>
            <a:endParaRPr lang="en-US" sz="3000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r>
              <a:rPr lang="en-US" sz="3000" b="1" dirty="0">
                <a:solidFill>
                  <a:srgbClr val="00FF00"/>
                </a:solidFill>
              </a:rPr>
              <a:t>	int z=++y;</a:t>
            </a:r>
          </a:p>
          <a:p>
            <a:pPr marL="0" indent="0">
              <a:buNone/>
            </a:pPr>
            <a:r>
              <a:rPr lang="en-US" sz="3000" b="1" dirty="0">
                <a:solidFill>
                  <a:srgbClr val="00FF00"/>
                </a:solidFill>
              </a:rPr>
              <a:t>	int p=x++ - ++y + z++;</a:t>
            </a:r>
          </a:p>
          <a:p>
            <a:pPr marL="0" indent="0">
              <a:buNone/>
            </a:pPr>
            <a:r>
              <a:rPr lang="en-US" sz="3000" b="1" dirty="0">
                <a:solidFill>
                  <a:srgbClr val="00FF00"/>
                </a:solidFill>
              </a:rPr>
              <a:t>	</a:t>
            </a:r>
            <a:r>
              <a:rPr lang="en-US" sz="3000" b="1" dirty="0" err="1">
                <a:solidFill>
                  <a:srgbClr val="00FF00"/>
                </a:solidFill>
              </a:rPr>
              <a:t>System.out.println</a:t>
            </a:r>
            <a:r>
              <a:rPr lang="en-US" sz="3000" b="1" dirty="0">
                <a:solidFill>
                  <a:srgbClr val="00FF00"/>
                </a:solidFill>
              </a:rPr>
              <a:t>(x);</a:t>
            </a:r>
          </a:p>
          <a:p>
            <a:pPr marL="0" indent="0">
              <a:buNone/>
            </a:pPr>
            <a:r>
              <a:rPr lang="en-US" sz="3000" b="1" dirty="0">
                <a:solidFill>
                  <a:srgbClr val="00FF00"/>
                </a:solidFill>
              </a:rPr>
              <a:t>	</a:t>
            </a:r>
            <a:r>
              <a:rPr lang="en-US" sz="3000" b="1" dirty="0" err="1">
                <a:solidFill>
                  <a:srgbClr val="00FF00"/>
                </a:solidFill>
              </a:rPr>
              <a:t>System.out.println</a:t>
            </a:r>
            <a:r>
              <a:rPr lang="en-US" sz="3000" b="1" dirty="0">
                <a:solidFill>
                  <a:srgbClr val="00FF00"/>
                </a:solidFill>
              </a:rPr>
              <a:t>(y);</a:t>
            </a:r>
          </a:p>
          <a:p>
            <a:pPr marL="0" indent="0">
              <a:buNone/>
            </a:pPr>
            <a:r>
              <a:rPr lang="en-US" sz="3000" b="1" dirty="0">
                <a:solidFill>
                  <a:srgbClr val="00FF00"/>
                </a:solidFill>
              </a:rPr>
              <a:t>	</a:t>
            </a:r>
            <a:r>
              <a:rPr lang="en-US" sz="3000" b="1" dirty="0" err="1">
                <a:solidFill>
                  <a:srgbClr val="00FF00"/>
                </a:solidFill>
              </a:rPr>
              <a:t>System.out.println</a:t>
            </a:r>
            <a:r>
              <a:rPr lang="en-US" sz="3000" b="1" dirty="0">
                <a:solidFill>
                  <a:srgbClr val="00FF00"/>
                </a:solidFill>
              </a:rPr>
              <a:t>(z);</a:t>
            </a:r>
          </a:p>
          <a:p>
            <a:pPr marL="0" indent="0">
              <a:buNone/>
            </a:pPr>
            <a:r>
              <a:rPr lang="en-US" sz="3000" b="1" dirty="0">
                <a:solidFill>
                  <a:srgbClr val="00FF00"/>
                </a:solidFill>
              </a:rPr>
              <a:t>	</a:t>
            </a:r>
            <a:r>
              <a:rPr lang="en-US" sz="3000" b="1" dirty="0" err="1">
                <a:solidFill>
                  <a:srgbClr val="00FF00"/>
                </a:solidFill>
              </a:rPr>
              <a:t>System.out.println</a:t>
            </a:r>
            <a:r>
              <a:rPr lang="en-US" sz="3000" b="1" dirty="0">
                <a:solidFill>
                  <a:srgbClr val="00FF00"/>
                </a:solidFill>
              </a:rPr>
              <a:t>(p);</a:t>
            </a:r>
          </a:p>
          <a:p>
            <a:pPr marL="0" indent="0">
              <a:buNone/>
            </a:pP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104700-5B93-61FE-F2D4-00550C20C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b="1" dirty="0"/>
              <a:t>Shambhu Kumar QSpiders | JSpiders, NOIDA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6D76FA-43A9-9794-9980-97D6D3210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r>
              <a:rPr lang="en-US" sz="4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4400" b="1" smtClean="0">
                <a:solidFill>
                  <a:srgbClr val="FFC000"/>
                </a:solidFill>
              </a:rPr>
              <a:pPr/>
              <a:t>5</a:t>
            </a:fld>
            <a:endParaRPr lang="en-US" sz="4400" b="1" dirty="0">
              <a:solidFill>
                <a:srgbClr val="FFC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D17D3-F2D2-C26D-B39E-7D9F025A18F7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E943639-B454-BD41-7CA0-BB49753ED259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>
                <a:solidFill>
                  <a:schemeClr val="tx1"/>
                </a:solidFill>
              </a:rPr>
              <a:t>SHAMBHU KUMAR QSpiders |JSpiders | PySpiders, NOIDA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9ECDE8-C002-AE55-043E-D1BB9A9AB181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AC4A13-5872-4BDF-B236-649B350C876F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CB67F6-4C16-FD3E-7E37-FCFFD1C2B418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E97810FB-31CA-A1CD-F5C8-FD4809B4587F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B434290E-312E-0BE5-8EBD-C6CE57119969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52795D57-52D3-6D4B-D10C-63AC89235F1E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FD78D7C5-4A41-2BAC-9384-F078C0BA7230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6A90399F-7E4F-0179-FFC6-DBB9B19FA052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9C09347E-48B1-A6A3-DA32-B02A5F3DB33D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2C6A9731-0E66-4CBF-F003-904EF2D0D470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01D475AF-FE6C-836F-7A83-1BD63B856866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08CD1A7F-452C-4B4C-ED9D-985A8FCF2A6C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423AD99D-D764-BA78-D2BC-9686993F116B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428BD91A-1AFD-6CC6-9AFD-75536AC495E0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45C561F5-23C9-DE4E-B32F-C8F676D5E51F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6B965B1-7CE1-DFD3-F287-45FEB9B2F572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FFFF99"/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D1BAD0-5CC6-CF92-C726-290DF09479B4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FF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lang="en-IN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32E370F-AEF5-9D27-0642-E7B1C0A6689B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FF99"/>
                </a:solidFill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</p:spTree>
    <p:extLst>
      <p:ext uri="{BB962C8B-B14F-4D97-AF65-F5344CB8AC3E}">
        <p14:creationId xmlns:p14="http://schemas.microsoft.com/office/powerpoint/2010/main" val="358212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A3A7B-0E2A-1FF7-D1A1-3BC47AF70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A408A-4BD4-9DB2-0793-4E907626D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C000"/>
                </a:solidFill>
              </a:rPr>
              <a:t>Topic: Number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B3BAF-C3CA-7C0E-FBBF-8FB400BD0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686800" cy="5289550"/>
          </a:xfrm>
        </p:spPr>
        <p:txBody>
          <a:bodyPr>
            <a:normAutofit fontScale="92500" lnSpcReduction="10000"/>
          </a:bodyPr>
          <a:lstStyle/>
          <a:p>
            <a:pPr marL="742950" indent="-742950">
              <a:buFont typeface="Arial" pitchFamily="34" charset="0"/>
              <a:buAutoNum type="alphaLcParenR"/>
            </a:pPr>
            <a:r>
              <a:rPr lang="en-US" sz="3500" b="1" dirty="0">
                <a:solidFill>
                  <a:srgbClr val="FFFF00"/>
                </a:solidFill>
              </a:rPr>
              <a:t>Solve and answer value of x.</a:t>
            </a:r>
          </a:p>
          <a:p>
            <a:pPr marL="0" indent="0">
              <a:buNone/>
            </a:pPr>
            <a:r>
              <a:rPr lang="en-IN" sz="3600" b="1" kern="100" dirty="0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IN" sz="3400" b="1" kern="100" dirty="0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 x=12;</a:t>
            </a:r>
          </a:p>
          <a:p>
            <a:pPr marL="571500" indent="0">
              <a:lnSpc>
                <a:spcPct val="107000"/>
              </a:lnSpc>
              <a:buNone/>
            </a:pPr>
            <a:r>
              <a:rPr lang="en-IN" sz="3400" b="1" kern="100" dirty="0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x=x++;</a:t>
            </a:r>
          </a:p>
          <a:p>
            <a:pPr marL="571500" indent="0">
              <a:lnSpc>
                <a:spcPct val="107000"/>
              </a:lnSpc>
              <a:buNone/>
            </a:pPr>
            <a:r>
              <a:rPr lang="en-IN" sz="3400" b="1" kern="100" dirty="0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x=x++;</a:t>
            </a:r>
          </a:p>
          <a:p>
            <a:pPr marL="571500" indent="0">
              <a:lnSpc>
                <a:spcPct val="107000"/>
              </a:lnSpc>
              <a:buNone/>
            </a:pPr>
            <a:r>
              <a:rPr lang="en-IN" sz="3400" b="1" kern="100" dirty="0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x=x++;</a:t>
            </a:r>
          </a:p>
          <a:p>
            <a:pPr marL="571500" indent="0">
              <a:lnSpc>
                <a:spcPct val="107000"/>
              </a:lnSpc>
              <a:buNone/>
            </a:pPr>
            <a:r>
              <a:rPr lang="en-IN" sz="3400" b="1" kern="100" dirty="0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x=++x;</a:t>
            </a:r>
          </a:p>
          <a:p>
            <a:pPr marL="571500" indent="0">
              <a:lnSpc>
                <a:spcPct val="107000"/>
              </a:lnSpc>
              <a:buNone/>
            </a:pPr>
            <a:r>
              <a:rPr lang="en-IN" sz="3400" b="1" kern="100" dirty="0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x=x++;</a:t>
            </a:r>
          </a:p>
          <a:p>
            <a:pPr marL="57150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3400" b="1" kern="100" dirty="0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IN" sz="3400" b="1" kern="100" dirty="0" err="1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System.out.println</a:t>
            </a:r>
            <a:r>
              <a:rPr lang="en-IN" sz="3400" b="1" kern="100" dirty="0">
                <a:solidFill>
                  <a:srgbClr val="00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(x);</a:t>
            </a:r>
            <a:endParaRPr lang="en-US" sz="23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</a:p>
          <a:p>
            <a:pPr marL="0" indent="0">
              <a:buNone/>
            </a:pP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769476-273E-D723-07B1-75F3F5FEB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b="1" dirty="0"/>
              <a:t>Shambhu Kumar QSpiders | JSpiders, NOIDA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D8B121-2BF1-422A-6C7A-77AF85984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r>
              <a:rPr lang="en-US" sz="4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4400" b="1" smtClean="0">
                <a:solidFill>
                  <a:srgbClr val="FFC000"/>
                </a:solidFill>
              </a:rPr>
              <a:pPr/>
              <a:t>6</a:t>
            </a:fld>
            <a:endParaRPr lang="en-US" sz="4400" b="1" dirty="0">
              <a:solidFill>
                <a:srgbClr val="FFC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8EAA4-7564-B2F8-909A-BA8C06A31BFF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5302F06-5D22-779A-14CA-37114ED017A3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>
                <a:solidFill>
                  <a:schemeClr val="tx1"/>
                </a:solidFill>
              </a:rPr>
              <a:t>SHAMBHU KUMAR QSpiders |JSpiders | PySpiders, NOIDA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20B7EB-F432-C8EE-D059-75996ECCC3D3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4BD7CD-BF3E-580B-DB77-3D9101CE159C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DD56DC-0199-89F0-2627-9170B42AC33F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440C2575-12A8-8353-3D85-116255F23A3C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00D36927-C337-BA91-60A4-1885311A7195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F2B0E2BD-DC4F-2E5D-7F7A-9BD76B3D68E5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6E856F8F-ACE1-1D56-C17E-CA3783EBE99F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3B940116-1FF7-1A36-B0F5-AD8C98205F16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F14C7CEC-FE18-CA55-B7BE-C22F0BAC712F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154FBDC2-D926-F08F-7D87-D2ACA399AE42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5453DBBA-F1EA-B315-9B75-1A8026E20524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EC5B22FC-8952-5C20-669C-FF88CBF8B483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1818B84F-DBFF-6EEC-32DB-46B4F481C8B0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956351E8-36A8-BDD1-1CB9-1FD361DE2598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46C253BB-1584-4F3B-DA5C-B82EBB0C14BE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DE292A6-98BB-A133-501B-B43390F0EBFB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FFFF99"/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FC457D8-5E80-78B0-D64B-1C8A156F4CEB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FF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lang="en-IN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692A67-11CA-2D2D-0EC4-27761DB2839C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FF99"/>
                </a:solidFill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</p:spTree>
    <p:extLst>
      <p:ext uri="{BB962C8B-B14F-4D97-AF65-F5344CB8AC3E}">
        <p14:creationId xmlns:p14="http://schemas.microsoft.com/office/powerpoint/2010/main" val="3868631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E6E84-9781-584F-2D1C-3B400F008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3FA86-F200-CCFD-2231-AEC0D78A1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C000"/>
                </a:solidFill>
              </a:rPr>
              <a:t>Topic: Number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07D5D-80D0-2037-7823-986CC354F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686800" cy="5289550"/>
          </a:xfrm>
        </p:spPr>
        <p:txBody>
          <a:bodyPr>
            <a:normAutofit/>
          </a:bodyPr>
          <a:lstStyle/>
          <a:p>
            <a:pPr marL="742950" indent="-742950">
              <a:buFont typeface="+mj-lt"/>
              <a:buAutoNum type="alphaLcParenR"/>
            </a:pPr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WAP to convert a number into absolute value.</a:t>
            </a:r>
          </a:p>
          <a:p>
            <a:pPr marL="742950" indent="-742950">
              <a:buFont typeface="+mj-lt"/>
              <a:buAutoNum type="alphaLcParenR"/>
            </a:pPr>
            <a:endParaRPr lang="en-US" sz="28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742950" indent="-742950">
              <a:buFont typeface="+mj-lt"/>
              <a:buAutoNum type="alphaLcParenR"/>
            </a:pPr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WAP to take three inputs and print all are equal if all have same value or print biggest value of three numbers using if else statement.</a:t>
            </a:r>
          </a:p>
          <a:p>
            <a:pPr marL="742950" indent="-742950">
              <a:buFont typeface="+mj-lt"/>
              <a:buAutoNum type="alphaLcParenR"/>
            </a:pPr>
            <a:endParaRPr lang="en-US" sz="28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742950" indent="-742950">
              <a:buFont typeface="+mj-lt"/>
              <a:buAutoNum type="alphaLcParenR"/>
            </a:pPr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WAP to check whether the given character is alphanumeric character or a special character.</a:t>
            </a:r>
          </a:p>
          <a:p>
            <a:pPr marL="742950" indent="-742950">
              <a:buFont typeface="+mj-lt"/>
              <a:buAutoNum type="alphaLcParenR"/>
            </a:pPr>
            <a:endParaRPr lang="en-US" sz="28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742950" indent="-742950">
              <a:buFont typeface="+mj-lt"/>
              <a:buAutoNum type="alphaLcParenR"/>
            </a:pPr>
            <a:r>
              <a:rPr lang="en-US" sz="2800" b="1" dirty="0">
                <a:solidFill>
                  <a:srgbClr val="FFFF99"/>
                </a:solidFill>
              </a:rPr>
              <a:t>WAP to check the given year is a Leap Year or NOT.</a:t>
            </a:r>
          </a:p>
          <a:p>
            <a:pPr marL="742950" indent="-742950">
              <a:buFont typeface="+mj-lt"/>
              <a:buAutoNum type="alphaLcParenR"/>
            </a:pPr>
            <a:endParaRPr lang="en-US" sz="28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742950" indent="-742950">
              <a:buFont typeface="+mj-lt"/>
              <a:buAutoNum type="alphaLcParenR"/>
            </a:pPr>
            <a:endParaRPr lang="en-US" sz="28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742950" indent="-742950">
              <a:buFont typeface="+mj-lt"/>
              <a:buAutoNum type="alphaLcParenR"/>
            </a:pPr>
            <a:endParaRPr lang="en-US" sz="28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0BA102-B77D-2C6C-C90B-90FE06C82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b="1" dirty="0"/>
              <a:t>Shambhu Kumar QSpiders | JSpiders, NOIDA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0A5079-50D7-EFE7-7DA1-C0B3B5231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r>
              <a:rPr lang="en-US" sz="4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4400" b="1" smtClean="0">
                <a:solidFill>
                  <a:srgbClr val="FFC000"/>
                </a:solidFill>
              </a:rPr>
              <a:pPr/>
              <a:t>7</a:t>
            </a:fld>
            <a:endParaRPr lang="en-US" sz="4400" b="1" dirty="0">
              <a:solidFill>
                <a:srgbClr val="FFC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48B46-2730-0274-8524-819EA97059F7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78FDBF8-C19F-2BAF-2522-3A392467B27C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>
                <a:solidFill>
                  <a:schemeClr val="tx1"/>
                </a:solidFill>
              </a:rPr>
              <a:t>SHAMBHU KUMAR QSpiders |JSpiders | PySpiders, NOIDA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ED62A8-F5B3-DEDE-B74E-F945F51BECD1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E70D16-0C2B-7B03-6860-0D5BB2C0FBA9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6AB27B-C6ED-E089-2641-379FFC17F34A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3D0C98D6-9AAE-F274-3F34-42359F671056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37720A7B-A2F9-28B2-1995-22636B6846A8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F9D757D6-C7C6-F96A-35CF-CEABB8ACBFEF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5B9351A8-5844-E312-C4C9-D259438A18B5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6367980D-4CFA-A2D4-E7F3-A476EFD6B72D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843C7333-764D-93B0-0C98-0A62F7614F19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EDDB29AA-1586-251B-8BA6-0D7E0D8131CD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6807B8CF-7F45-9B7A-A418-F28E0291DBCB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D73DC08C-1B82-51F2-28E2-FE5D3036C864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FC42AC22-E368-D74A-65E0-333747D07BC6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CB4C7578-DBC9-037B-ED38-7411D6224296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FE3E7B1D-0399-D164-FF90-2782EC6C1D67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52E66E6-5C31-8F9F-41F2-D82B876A69AB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FFFF99"/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1D846A9-AA3F-B905-97AB-68E3194F0FEB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FF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lang="en-IN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665C0E-23B4-3CBF-B4D7-7CFD1B53F081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FF99"/>
                </a:solidFill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</p:spTree>
    <p:extLst>
      <p:ext uri="{BB962C8B-B14F-4D97-AF65-F5344CB8AC3E}">
        <p14:creationId xmlns:p14="http://schemas.microsoft.com/office/powerpoint/2010/main" val="3180605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5E5B4-6F57-AB55-F886-7BF4BF3EA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138F2-C70D-3CB9-D6EA-420FBFE7F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C000"/>
                </a:solidFill>
              </a:rPr>
              <a:t>Topic: Number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60A3E-9558-F280-1E07-EB391C169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686800" cy="528955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WAP to provide discounted price as per below conditions: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	</a:t>
            </a:r>
            <a:r>
              <a:rPr lang="en-US" sz="24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if shopping price&gt;=10000 then %discount=40%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	shopping price&gt;=6000 and &lt;=9999 then %discount=30%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	shopping price&gt;=3000 and &lt;=5999 then %discount=20%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	shopping price&gt;=1 and &lt;=2999 then %discount=8%</a:t>
            </a:r>
          </a:p>
          <a:p>
            <a:pPr marL="0" indent="0">
              <a:buNone/>
            </a:pPr>
            <a:endParaRPr lang="en-US" sz="40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IN" sz="4000" b="1" dirty="0">
                <a:solidFill>
                  <a:srgbClr val="BBF96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Type of Triangle</a:t>
            </a:r>
            <a:endParaRPr lang="en-US" sz="4000" b="1" dirty="0">
              <a:solidFill>
                <a:srgbClr val="BBF96F"/>
              </a:solidFill>
            </a:endParaRPr>
          </a:p>
          <a:p>
            <a:pPr marL="742950" indent="-742950">
              <a:buAutoNum type="alphaLcParenR"/>
            </a:pPr>
            <a:endParaRPr lang="en-US" sz="40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F9D7D2-3CF4-54A7-109D-C260B4032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b="1" dirty="0"/>
              <a:t>Shambhu Kumar QSpiders | JSpiders, NOIDA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9E834-E474-9405-2669-E7F118483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r>
              <a:rPr lang="en-US" sz="4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4400" b="1" smtClean="0">
                <a:solidFill>
                  <a:srgbClr val="FFC000"/>
                </a:solidFill>
              </a:rPr>
              <a:pPr/>
              <a:t>8</a:t>
            </a:fld>
            <a:endParaRPr lang="en-US" sz="4400" b="1" dirty="0">
              <a:solidFill>
                <a:srgbClr val="FFC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BD3CF-3933-2E10-2206-4AB79F5A1654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6DBFDA1-865D-FEDD-9712-86A6DF2DF30D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>
                <a:solidFill>
                  <a:schemeClr val="tx1"/>
                </a:solidFill>
              </a:rPr>
              <a:t>SHAMBHU KUMAR QSpiders |JSpiders | PySpiders, NOIDA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079E59-F2D0-77B8-7EB3-BC95EFBBBDC7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2C146E-0901-362B-B9E5-BF7F6BD0C0FF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82EC53-C3F1-7E54-3C0F-4551EB19CCA3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8506FE21-90EF-F2B4-34D5-717279710B7B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E1499A3A-AB69-B670-57BD-331D442C4724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4158DD21-E5C9-2B16-A347-FF016400DBF6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A7B5527B-7025-4C85-9F32-E62CD0E705AC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FE95A09F-994F-3AFF-1F00-2CA07C4D8FF0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D20487E0-943D-3A0A-1418-715838053FF9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C22E3722-719C-4593-3AF1-18A80DAAACF0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E3186937-3102-003C-956A-72E607F016FB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E4985FC2-4B4C-D632-0B69-6F3618B0C778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3759D075-6F55-A349-36EB-7CD47DA738EA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56424782-B21C-57BA-0B3D-F3A7AA90BA2A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E460EEDB-6336-8046-60B8-47F70D3F4501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881765F-D92D-CCE3-77F4-593DB97E498F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FFFF99"/>
                </a:solidFill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E13BB2-7E16-8810-1C96-5B5B01FCC25B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FF99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lang="en-IN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C14E44-D12B-DB2F-7251-5586BC3CD958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FF99"/>
                </a:solidFill>
                <a:effectLst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</p:spTree>
    <p:extLst>
      <p:ext uri="{BB962C8B-B14F-4D97-AF65-F5344CB8AC3E}">
        <p14:creationId xmlns:p14="http://schemas.microsoft.com/office/powerpoint/2010/main" val="247546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48184-3302-A5AF-A36B-9058C1BC7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0A805-B9E0-EA5F-871B-11F2EF9E6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C000"/>
                </a:solidFill>
              </a:rPr>
              <a:t>Topic: Number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A8C47-FDC0-EDB2-F787-94E0B0B47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 lnSpcReduction="10000"/>
          </a:bodyPr>
          <a:lstStyle/>
          <a:p>
            <a:pPr marL="742950" indent="-742950">
              <a:buAutoNum type="alphaLcParenR"/>
            </a:pPr>
            <a:r>
              <a:rPr lang="en-US" sz="24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WAP to count the digits in a number.</a:t>
            </a:r>
          </a:p>
          <a:p>
            <a:pPr marL="742950" indent="-742950">
              <a:buAutoNum type="alphaLcParenR"/>
            </a:pPr>
            <a:endParaRPr lang="en-US" sz="24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742950" indent="-742950">
              <a:buAutoNum type="alphaLcParenR"/>
            </a:pPr>
            <a:r>
              <a:rPr lang="en-US" sz="2400" b="1" dirty="0">
                <a:solidFill>
                  <a:srgbClr val="E2FDC7"/>
                </a:solidFill>
              </a:rPr>
              <a:t>WAP to get the sum of each digits of the number.</a:t>
            </a:r>
          </a:p>
          <a:p>
            <a:pPr marL="742950" indent="-742950">
              <a:buAutoNum type="alphaLcParenR"/>
            </a:pPr>
            <a:endParaRPr lang="en-US" sz="2400" b="1" dirty="0">
              <a:solidFill>
                <a:srgbClr val="E2FDC7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IN" sz="2400" b="1" dirty="0">
                <a:solidFill>
                  <a:srgbClr val="BBF96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Harshad Number</a:t>
            </a:r>
            <a:endParaRPr lang="en-US" sz="2400" b="1" dirty="0">
              <a:solidFill>
                <a:srgbClr val="E2FDC7"/>
              </a:solidFill>
            </a:endParaRPr>
          </a:p>
          <a:p>
            <a:pPr marL="742950" indent="-742950">
              <a:buAutoNum type="alphaLcParenR"/>
            </a:pPr>
            <a:endParaRPr lang="en-US" sz="2400" b="1" dirty="0">
              <a:solidFill>
                <a:srgbClr val="E2FDC7"/>
              </a:solidFill>
              <a:latin typeface="Calibri" panose="020F0502020204030204" pitchFamily="34" charset="0"/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US" sz="2400" b="1" dirty="0">
                <a:solidFill>
                  <a:srgbClr val="BBF96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Subtract the Product and Sum of Digits of an Integer</a:t>
            </a:r>
            <a:endParaRPr lang="en-US" sz="2400" b="1" dirty="0">
              <a:solidFill>
                <a:srgbClr val="BBF96F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400" b="1" dirty="0">
              <a:solidFill>
                <a:srgbClr val="BBF96F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US" sz="2400" b="1" dirty="0">
                <a:solidFill>
                  <a:srgbClr val="BBF96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Check Divisibility by Digit Sum and Product</a:t>
            </a:r>
            <a:endParaRPr lang="en-US" sz="2400" b="1" dirty="0">
              <a:solidFill>
                <a:srgbClr val="BBF96F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400" b="1" dirty="0">
              <a:solidFill>
                <a:srgbClr val="BBF96F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US" sz="2400" b="1" dirty="0">
                <a:solidFill>
                  <a:srgbClr val="BBF96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Maximum Product of Two Digits</a:t>
            </a:r>
            <a:endParaRPr lang="en-US" sz="2400" b="1" dirty="0">
              <a:solidFill>
                <a:srgbClr val="BBF96F"/>
              </a:solidFill>
            </a:endParaRPr>
          </a:p>
          <a:p>
            <a:pPr marL="0" indent="0">
              <a:buNone/>
            </a:pPr>
            <a:endParaRPr lang="en-IN" sz="2400" b="1" dirty="0">
              <a:solidFill>
                <a:srgbClr val="BBF96F"/>
              </a:solidFill>
              <a:hlinkClick r:id="rId6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742950" indent="-742950">
              <a:buFont typeface="+mj-lt"/>
              <a:buAutoNum type="alphaLcParenR" startAt="6"/>
            </a:pPr>
            <a:r>
              <a:rPr lang="en-IN" sz="2400" b="1" dirty="0">
                <a:solidFill>
                  <a:srgbClr val="BBF96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Add Digits</a:t>
            </a:r>
            <a:endParaRPr lang="en-IN" sz="2400" b="1" dirty="0">
              <a:solidFill>
                <a:srgbClr val="BBF96F"/>
              </a:solidFill>
            </a:endParaRPr>
          </a:p>
          <a:p>
            <a:pPr marL="742950" indent="-742950">
              <a:buFont typeface="Arial" pitchFamily="34" charset="0"/>
              <a:buAutoNum type="alphaLcParenR" startAt="6"/>
            </a:pPr>
            <a:endParaRPr lang="en-IN" sz="2400" b="1" dirty="0">
              <a:solidFill>
                <a:srgbClr val="BBF96F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sz="2400" b="1" dirty="0">
              <a:solidFill>
                <a:srgbClr val="BBF96F"/>
              </a:solidFill>
              <a:latin typeface="Calibri" panose="020F0502020204030204" pitchFamily="34" charset="0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sz="2800" b="1" dirty="0">
              <a:solidFill>
                <a:srgbClr val="BBF96F"/>
              </a:solidFill>
              <a:latin typeface="Calibri" panose="020F0502020204030204" pitchFamily="34" charset="0"/>
            </a:endParaRPr>
          </a:p>
          <a:p>
            <a:pPr marL="742950" indent="-742950">
              <a:buAutoNum type="alphaLcParenR"/>
            </a:pPr>
            <a:endParaRPr lang="en-IN" b="1" dirty="0">
              <a:solidFill>
                <a:srgbClr val="BBF96F"/>
              </a:solidFill>
              <a:latin typeface="Calibri" panose="020F0502020204030204" pitchFamily="34" charset="0"/>
            </a:endParaRPr>
          </a:p>
          <a:p>
            <a:pPr marL="742950" indent="-742950">
              <a:buAutoNum type="alphaLcParenR"/>
            </a:pPr>
            <a:endParaRPr lang="en-US" b="1" dirty="0">
              <a:solidFill>
                <a:srgbClr val="E2FDC7"/>
              </a:solidFill>
            </a:endParaRPr>
          </a:p>
          <a:p>
            <a:pPr marL="742950" indent="-742950">
              <a:buAutoNum type="alphaLcParenR"/>
            </a:pPr>
            <a:endParaRPr lang="en-US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C566B4-0449-62BF-34C2-E2AF95F95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b="1" dirty="0"/>
              <a:t>Shambhu Kumar QSpiders | JSpiders, NOIDA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E5F800-76E0-91AC-283B-4BC9235DC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r>
              <a:rPr lang="en-US" sz="4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4400" b="1" smtClean="0">
                <a:solidFill>
                  <a:srgbClr val="FFC000"/>
                </a:solidFill>
              </a:rPr>
              <a:pPr/>
              <a:t>9</a:t>
            </a:fld>
            <a:endParaRPr lang="en-US" sz="4400" b="1" dirty="0">
              <a:solidFill>
                <a:srgbClr val="FFC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2E934-D43A-C8BA-2F98-B428507601F2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DD9B2A-335B-167B-FA58-C9719A44AC3F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F8464A-426F-2B13-E2E9-094ACA21A3E9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B03DB9-3D1F-8FBC-4C1C-D0B1D604D14E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CB66DCD8-A451-9FAC-AFB6-DC25E270308D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77C9BED7-2BCD-090E-4028-1C91E2DA5DF4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4CDE3DDB-A12E-A87A-57A4-5ABEC3147829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616E5D3A-8496-5AE8-A887-B134424B49CC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1EE267EF-1FBB-B08A-ED43-FC76C8262F43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8BBEC3C7-95D6-3B50-B67A-279B3E67A26A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9E67E350-680D-6F2A-E979-BFF80B8528A3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556A098A-3388-9250-8F1C-6ACEF46E2D2A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D50ABDD3-1397-6BDB-2FAD-3D6DC2B0EB18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080F3520-F1FF-8F85-0D2B-B0371DE63204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BCF76912-D24A-1428-416A-A8D5D34707B5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B3AFA37F-A18F-6EE2-7C93-6A5B571C1717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B1CD91E-BCBE-CDC6-DFA1-6C8B9DDBC603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FFFF99"/>
                </a:solidFill>
                <a:effectLst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D1E4A7-F1D5-6A93-DAC5-1E114581A8C1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FF99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lang="en-IN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9AF6E6-F5A0-B795-0CAC-BE9383724533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FF99"/>
                </a:solidFill>
                <a:effectLst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5493119-12FF-D2EB-1B9F-F92C50312F9E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>
                <a:solidFill>
                  <a:schemeClr val="tx1"/>
                </a:solidFill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214394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21FC0-6128-E484-E007-006D15E3D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4CA1F-8F0D-06CC-30F4-A541547E9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C000"/>
                </a:solidFill>
              </a:rPr>
              <a:t>Topic: Number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1CD6D-2A84-8111-D9EC-6534BD704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AutoNum type="alphaLcParenR"/>
            </a:pPr>
            <a:r>
              <a:rPr lang="en-US" sz="2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WAP to reverse the given number.</a:t>
            </a:r>
          </a:p>
          <a:p>
            <a:pPr marL="742950" indent="-742950">
              <a:buAutoNum type="alphaLcParenR"/>
            </a:pPr>
            <a:endParaRPr lang="en-US" sz="26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US" sz="2600" b="1" dirty="0">
                <a:solidFill>
                  <a:srgbClr val="BBF96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Mirror Distance of an Integer</a:t>
            </a:r>
            <a:endParaRPr lang="en-IN" sz="2600" b="1" dirty="0">
              <a:solidFill>
                <a:srgbClr val="BBF96F"/>
              </a:solidFill>
              <a:latin typeface="Calibri" panose="020F0502020204030204" pitchFamily="34" charset="0"/>
            </a:endParaRPr>
          </a:p>
          <a:p>
            <a:pPr marL="742950" indent="-742950">
              <a:buAutoNum type="alphaLcParenR"/>
            </a:pPr>
            <a:endParaRPr lang="en-IN" sz="2600" b="1" dirty="0">
              <a:solidFill>
                <a:srgbClr val="BBF96F"/>
              </a:solidFill>
              <a:latin typeface="Calibri" panose="020F0502020204030204" pitchFamily="34" charset="0"/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IN" sz="2600" b="1" dirty="0">
                <a:solidFill>
                  <a:srgbClr val="BBF96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Palindrome Number</a:t>
            </a:r>
            <a:endParaRPr lang="en-US" sz="2600" b="1" dirty="0">
              <a:solidFill>
                <a:srgbClr val="BBF96F"/>
              </a:solidFill>
            </a:endParaRPr>
          </a:p>
          <a:p>
            <a:pPr marL="742950" indent="-742950">
              <a:buAutoNum type="alphaLcParenR"/>
            </a:pPr>
            <a:endParaRPr lang="en-IN" sz="2600" b="1" dirty="0">
              <a:solidFill>
                <a:srgbClr val="BBF96F"/>
              </a:solidFill>
              <a:latin typeface="Calibri" panose="020F0502020204030204" pitchFamily="34" charset="0"/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US" sz="2600" b="1" dirty="0">
                <a:solidFill>
                  <a:srgbClr val="BBF96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Number After a Double Reversal</a:t>
            </a:r>
            <a:endParaRPr lang="en-US" sz="2600" b="1" dirty="0">
              <a:solidFill>
                <a:srgbClr val="BBF96F"/>
              </a:solidFill>
              <a:latin typeface="Calibri" panose="020F0502020204030204" pitchFamily="34" charset="0"/>
            </a:endParaRPr>
          </a:p>
          <a:p>
            <a:pPr marL="742950" indent="-742950">
              <a:buAutoNum type="alphaLcParenR"/>
            </a:pPr>
            <a:endParaRPr lang="en-IN" b="1" dirty="0">
              <a:solidFill>
                <a:srgbClr val="BBF96F"/>
              </a:solidFill>
              <a:latin typeface="Calibri" panose="020F0502020204030204" pitchFamily="34" charset="0"/>
            </a:endParaRPr>
          </a:p>
          <a:p>
            <a:pPr marL="742950" indent="-742950">
              <a:buAutoNum type="alphaLcParenR"/>
            </a:pPr>
            <a:endParaRPr lang="en-IN" b="1" dirty="0">
              <a:solidFill>
                <a:srgbClr val="BBF96F"/>
              </a:solidFill>
              <a:latin typeface="Calibri" panose="020F0502020204030204" pitchFamily="34" charset="0"/>
            </a:endParaRPr>
          </a:p>
          <a:p>
            <a:pPr marL="742950" indent="-742950">
              <a:buAutoNum type="alphaLcParenR"/>
            </a:pPr>
            <a:endParaRPr lang="en-US" b="1" dirty="0">
              <a:solidFill>
                <a:srgbClr val="E2FDC7"/>
              </a:solidFill>
            </a:endParaRPr>
          </a:p>
          <a:p>
            <a:pPr marL="742950" indent="-742950">
              <a:buAutoNum type="alphaLcParenR"/>
            </a:pPr>
            <a:endParaRPr lang="en-US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E885A4-85C8-A052-01DF-2C4137EE7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b="1" dirty="0"/>
              <a:t>Shambhu Kumar QSpiders | JSpiders, NOIDA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3DBFFF-276A-7421-43D1-28C4B91E7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r>
              <a:rPr lang="en-US" sz="4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4400" b="1" smtClean="0">
                <a:solidFill>
                  <a:srgbClr val="FFC000"/>
                </a:solidFill>
              </a:rPr>
              <a:pPr/>
              <a:t>10</a:t>
            </a:fld>
            <a:endParaRPr lang="en-US" sz="4400" b="1" dirty="0">
              <a:solidFill>
                <a:srgbClr val="FFC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5CB3A-BCCC-435C-4079-9BC1DD1AE0F9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59EA5B-B347-2262-3462-1850F83DC382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18300F-7BD4-9F76-991F-911E75CE1B6B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0E0E18-A4BE-E2E3-A3A4-773913F234F6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FD89314D-0508-693C-0B9F-14721CBADBD2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524DB911-7A81-8A29-F5E0-0F1B1F4224D2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2B3EC0CE-A321-D645-03ED-3026EE62FE4E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61E6BCCA-9D8A-C441-170C-82B95ACBAEC7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445B0AD8-9340-5882-381E-CDF637592D26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6D2BCF82-C758-04BB-FB19-48A58A6C346C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9508DD52-C458-457D-6777-07416E1A9F20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5070262F-CF27-A9A6-DFF9-2A9D793F0C51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AEF0CC71-988C-BF97-1FAB-FD4C0F498B17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CE81286E-FBC2-68CC-F59F-41BEAE205FA7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E7AFA210-9400-7365-0404-87776A8B5C7C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AD129D49-1895-B517-054A-3F6EB3B7007F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9FDE662-2D96-EB86-ADF7-431CC622761F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FFFF99"/>
                </a:solidFill>
                <a:effectLst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DF40E6-29A0-2BA1-A34A-B5F44F34B683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FF99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lang="en-IN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D18462E-9B5E-D516-7C68-857DA23E9926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FF99"/>
                </a:solidFill>
                <a:effectLst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E8C8CCB-7B14-2906-92FA-F1E9C4F08E53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>
                <a:solidFill>
                  <a:schemeClr val="tx1"/>
                </a:solidFill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034591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48406-E09E-2E01-CDE9-D49A00AD8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3B561-CD76-D987-BD67-6CB20B668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C000"/>
                </a:solidFill>
              </a:rPr>
              <a:t>Topic: Number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D5804-E590-AA9E-B7CD-6C65F4C18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Font typeface="Arial" pitchFamily="34" charset="0"/>
              <a:buAutoNum type="alphaLcParenR"/>
            </a:pPr>
            <a:r>
              <a:rPr lang="en-IN" sz="2800" b="1" dirty="0">
                <a:solidFill>
                  <a:srgbClr val="BBF96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Power of Two</a:t>
            </a:r>
            <a:endParaRPr lang="en-US" sz="2800" b="1" u="sng" dirty="0">
              <a:solidFill>
                <a:srgbClr val="BBF96F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sz="2600" b="1" dirty="0">
              <a:solidFill>
                <a:srgbClr val="BBF96F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IN" sz="2800" b="1" dirty="0">
                <a:solidFill>
                  <a:srgbClr val="BBF96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Power of Three</a:t>
            </a:r>
            <a:endParaRPr lang="en-US" sz="2800" b="1" dirty="0">
              <a:solidFill>
                <a:srgbClr val="BBF96F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sz="2600" b="1" dirty="0">
              <a:solidFill>
                <a:srgbClr val="BBF96F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IN" sz="2800" b="1" dirty="0">
                <a:solidFill>
                  <a:srgbClr val="BBF96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Power of Four</a:t>
            </a:r>
            <a:endParaRPr lang="en-IN" sz="2800" b="1" u="sng" dirty="0">
              <a:solidFill>
                <a:srgbClr val="BBF96F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sz="2600" b="1" dirty="0">
              <a:solidFill>
                <a:srgbClr val="BBF96F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US" sz="2800" b="1" dirty="0">
                <a:solidFill>
                  <a:srgbClr val="E8E8E8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Number of 1 Bits:</a:t>
            </a:r>
          </a:p>
          <a:p>
            <a:pPr marL="742950" indent="-742950">
              <a:buFont typeface="Arial" pitchFamily="34" charset="0"/>
              <a:buAutoNum type="alphaLcParenR"/>
            </a:pPr>
            <a:endParaRPr lang="en-IN" sz="2600" b="1" dirty="0">
              <a:solidFill>
                <a:srgbClr val="BBF96F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sz="2600" b="1" dirty="0">
              <a:solidFill>
                <a:srgbClr val="BBF96F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600" b="1" dirty="0">
              <a:solidFill>
                <a:srgbClr val="BBF96F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b="1" dirty="0">
              <a:solidFill>
                <a:srgbClr val="BBF96F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b="1" dirty="0">
              <a:solidFill>
                <a:srgbClr val="BBF96F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b="1" dirty="0">
              <a:solidFill>
                <a:srgbClr val="BBF96F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b="1" dirty="0">
              <a:solidFill>
                <a:srgbClr val="BBF96F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b="1" dirty="0">
              <a:solidFill>
                <a:srgbClr val="E2FDC7"/>
              </a:solidFill>
            </a:endParaRPr>
          </a:p>
          <a:p>
            <a:pPr marL="742950" indent="-742950">
              <a:buAutoNum type="alphaLcParenR"/>
            </a:pPr>
            <a:endParaRPr lang="en-US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9ABB11-521A-4E4F-7541-F50E09C2C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b="1" dirty="0"/>
              <a:t>Shambhu Kumar QSpiders | JSpiders, NOIDA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FDB121-D9E3-DBA0-AB87-70158DA6E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r>
              <a:rPr lang="en-US" sz="4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4400" b="1" smtClean="0">
                <a:solidFill>
                  <a:srgbClr val="FFC000"/>
                </a:solidFill>
              </a:rPr>
              <a:pPr/>
              <a:t>11</a:t>
            </a:fld>
            <a:endParaRPr lang="en-US" sz="4400" b="1" dirty="0">
              <a:solidFill>
                <a:srgbClr val="FFC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A0F07-FAC5-4D24-9274-EA7E639CCFE5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9092A4-D62D-8884-6389-F2F173EC1B0C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72BB04-2A54-2633-6B45-5851D0E7BC3C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8AF9CE-8521-C909-4AF2-5271E7D34D3D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7577139D-D1AB-0673-1F7D-46B9423D336D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D9AEA978-3964-C601-1CCA-DC29F6A9DE4A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8DCF9E5D-72F5-E7F8-D6DD-1DA8F439BCA7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001B0202-A63B-29E8-C5C2-356EF573FA61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B9C71D48-2FAE-7186-4499-132D433B1DE7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FDF398ED-0F83-3539-973D-1D15AB433234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391415C6-817F-B830-BE95-9FD0428A3A8B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A6B9307D-2917-2B4A-A751-396DFACEF4D1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10666B5F-A0EA-9E1A-3C03-AC07484A1B9E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944B7D29-C32C-8E23-2F38-54433B393087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A4A7B008-E481-4F16-6F2B-414070A77B6F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A52F7C05-613C-2FB5-5379-D9C09702E57E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A49F44E-A790-1F68-68DE-4039ED72138A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FFFF99"/>
                </a:solidFill>
                <a:effectLst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EA099B-C2C0-6513-DC58-5C0840F34E5E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FF99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lang="en-IN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959310-59B2-8F67-1888-5FBFD1A14EAA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FF99"/>
                </a:solidFill>
                <a:effectLst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9C227D-8881-27FF-A271-47F6252AF77F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>
                <a:solidFill>
                  <a:schemeClr val="tx1"/>
                </a:solidFill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76921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BFDD0-952B-A182-A3C8-8EFF0D500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D8C8B-7F7E-29A1-3A42-3FA121637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C000"/>
                </a:solidFill>
              </a:rPr>
              <a:t>Topic: Number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5C456-D4C9-4A32-4C23-A087EA89E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Font typeface="Arial" pitchFamily="34" charset="0"/>
              <a:buAutoNum type="alphaLcParenR"/>
            </a:pPr>
            <a:r>
              <a:rPr lang="en-IN" sz="2600" b="1" dirty="0">
                <a:solidFill>
                  <a:srgbClr val="BBF96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Factorial Trailing Zeroes</a:t>
            </a:r>
            <a:endParaRPr lang="en-IN" sz="2600" b="1" dirty="0">
              <a:solidFill>
                <a:srgbClr val="BBF96F"/>
              </a:solidFill>
            </a:endParaRPr>
          </a:p>
          <a:p>
            <a:pPr marL="0" indent="0">
              <a:buNone/>
            </a:pPr>
            <a:endParaRPr lang="en-US" sz="2600" b="1" dirty="0">
              <a:solidFill>
                <a:srgbClr val="BBF96F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US" sz="2600" b="1" dirty="0">
                <a:solidFill>
                  <a:srgbClr val="BBF96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Number of Steps to Reduce a Number to Zero</a:t>
            </a:r>
            <a:endParaRPr lang="en-US" sz="2600" b="1" dirty="0">
              <a:solidFill>
                <a:srgbClr val="BBF96F"/>
              </a:solidFill>
            </a:endParaRPr>
          </a:p>
          <a:p>
            <a:pPr marL="0" indent="0">
              <a:buNone/>
            </a:pPr>
            <a:endParaRPr lang="en-IN" sz="2600" b="1" dirty="0">
              <a:solidFill>
                <a:srgbClr val="BBF96F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pt-BR" sz="2800" b="1" dirty="0">
                <a:solidFill>
                  <a:srgbClr val="BBF96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Remove Zeros in Decimal Representation</a:t>
            </a:r>
            <a:endParaRPr lang="en-US" sz="2800" b="1" dirty="0">
              <a:solidFill>
                <a:srgbClr val="BBF96F"/>
              </a:solidFill>
              <a:latin typeface="Calibri" panose="020F0502020204030204" pitchFamily="34" charset="0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sz="2600" b="1" dirty="0">
              <a:solidFill>
                <a:srgbClr val="BBF96F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US" sz="2800" b="1" dirty="0">
                <a:solidFill>
                  <a:srgbClr val="BBF96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Concatenate Non-Zero Digits and Multiply by Sum I</a:t>
            </a:r>
            <a:endParaRPr lang="en-US" sz="2800" b="1" dirty="0">
              <a:solidFill>
                <a:srgbClr val="BBF96F"/>
              </a:solidFill>
              <a:latin typeface="Calibri" panose="020F0502020204030204" pitchFamily="34" charset="0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sz="2600" b="1" dirty="0">
              <a:solidFill>
                <a:srgbClr val="BBF96F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sz="2600" b="1" dirty="0">
              <a:solidFill>
                <a:srgbClr val="BBF96F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600" b="1" dirty="0">
              <a:solidFill>
                <a:srgbClr val="BBF96F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b="1" dirty="0">
              <a:solidFill>
                <a:srgbClr val="BBF96F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b="1" dirty="0">
              <a:solidFill>
                <a:srgbClr val="BBF96F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b="1" dirty="0">
              <a:solidFill>
                <a:srgbClr val="BBF96F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b="1" dirty="0">
              <a:solidFill>
                <a:srgbClr val="BBF96F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b="1" dirty="0">
              <a:solidFill>
                <a:srgbClr val="E2FDC7"/>
              </a:solidFill>
            </a:endParaRPr>
          </a:p>
          <a:p>
            <a:pPr marL="742950" indent="-742950">
              <a:buAutoNum type="alphaLcParenR"/>
            </a:pPr>
            <a:endParaRPr lang="en-US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6B5AE4-5758-5042-9732-088C9BF55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b="1" dirty="0"/>
              <a:t>Shambhu Kumar QSpiders | JSpiders, NOIDA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754860-3804-7728-2F91-B73064FAC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r>
              <a:rPr lang="en-US" sz="4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4400" b="1" smtClean="0">
                <a:solidFill>
                  <a:srgbClr val="FFC000"/>
                </a:solidFill>
              </a:rPr>
              <a:pPr/>
              <a:t>12</a:t>
            </a:fld>
            <a:endParaRPr lang="en-US" sz="4400" b="1" dirty="0">
              <a:solidFill>
                <a:srgbClr val="FFC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80732-A1A2-03AC-4CD1-0551F3CD3190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E71C75-59B3-20CB-40AA-9529BC6F2141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D53369-115F-16DB-E794-9A99C5F80851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5537FE-36F1-5235-E717-D810AACA26D6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F13C2DD1-CCDA-F260-8C69-C1C1FF7DF20A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A7FDCE90-92FB-DFBB-751C-B7610771820B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C223D9D2-DC8E-9F17-09E3-1C7B432EAC40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81505DC1-F787-7DDF-7AD5-DD71994A1728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65D68F80-96BF-53F2-42E2-43F4F6BFFADE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C8841FB5-196E-471B-B093-6B245DA73540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A5272192-DB14-B6CE-AEBC-8F1CBD2DDA87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C98705FF-CC32-4CDF-94CB-119B59A708C1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098CBF6E-21AF-69DF-7C98-DF099EB8A22E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3C7C90F2-3835-1F1C-1563-EB397CBFF2A7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AA11F12A-699E-069B-BF61-1CC6EC108064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E5687339-CADC-B11D-641A-C6CA5B8CDCCD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D346D92-6CA8-199B-086B-D4EEC34650EB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FFFF99"/>
                </a:solidFill>
                <a:effectLst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BB5876-D47D-8C5D-0785-0C8391708807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FF99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lang="en-IN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488609C-8080-12B7-7076-86B1477D18CF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FF99"/>
                </a:solidFill>
                <a:effectLst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E88A774-9804-7FB2-B545-984AD0D5D784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>
                <a:solidFill>
                  <a:schemeClr val="tx1"/>
                </a:solidFill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531446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A5E77-2468-72BB-EF19-AD7FECA80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9D792-A4DB-9A27-8A1F-18E3FC65D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C000"/>
                </a:solidFill>
              </a:rPr>
              <a:t>Topic: Number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98182-3E41-A58F-6A0D-989FFBFC3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Font typeface="Arial" pitchFamily="34" charset="0"/>
              <a:buAutoNum type="alphaLcParenR"/>
            </a:pPr>
            <a:r>
              <a:rPr lang="en-IN" b="1" dirty="0">
                <a:solidFill>
                  <a:srgbClr val="DCFEA4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Water Bottles</a:t>
            </a:r>
            <a:endParaRPr lang="en-IN" b="1" dirty="0">
              <a:solidFill>
                <a:srgbClr val="DCFEA4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b="1" dirty="0">
              <a:solidFill>
                <a:srgbClr val="DCFEA4"/>
              </a:solidFill>
              <a:latin typeface="Calibri" panose="020F0502020204030204" pitchFamily="34" charset="0"/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US" sz="2800" b="1" dirty="0">
                <a:solidFill>
                  <a:srgbClr val="DCFEA4"/>
                </a:solidFill>
                <a:latin typeface="Calibri" panose="020F0502020204030204" pitchFamily="34" charset="0"/>
              </a:rPr>
              <a:t>Wrapper Exchange Problem: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bg2"/>
                </a:solidFill>
                <a:latin typeface="Calibri" panose="020F0502020204030204" pitchFamily="34" charset="0"/>
              </a:rPr>
              <a:t>Problem Statement: Rohan has X rupees. He wants to buy chocolates from a shop. Each chocolate costs Y rupees. Every chocolate comes with one wrapper. The shopkeeper has a special offer: Exchange Z wrappers for 1 free chocolate. Every free chocolate also gives one wrapper, which can be used in future exchanges. Find the maximum number of chocolates Rohan can eat.</a:t>
            </a:r>
          </a:p>
          <a:p>
            <a:pPr marL="0" indent="0">
              <a:buNone/>
            </a:pPr>
            <a:r>
              <a:rPr lang="en-US" sz="2400" b="1" dirty="0" err="1">
                <a:solidFill>
                  <a:srgbClr val="DCFEA4"/>
                </a:solidFill>
                <a:latin typeface="Calibri" panose="020F0502020204030204" pitchFamily="34" charset="0"/>
              </a:rPr>
              <a:t>i</a:t>
            </a:r>
            <a:r>
              <a:rPr lang="en-US" sz="2400" b="1" dirty="0">
                <a:solidFill>
                  <a:srgbClr val="DCFEA4"/>
                </a:solidFill>
                <a:latin typeface="Calibri" panose="020F0502020204030204" pitchFamily="34" charset="0"/>
              </a:rPr>
              <a:t>/p: money = 15 cost = 1 </a:t>
            </a:r>
            <a:r>
              <a:rPr lang="en-US" sz="2400" b="1" dirty="0" err="1">
                <a:solidFill>
                  <a:srgbClr val="DCFEA4"/>
                </a:solidFill>
                <a:latin typeface="Calibri" panose="020F0502020204030204" pitchFamily="34" charset="0"/>
              </a:rPr>
              <a:t>wrappersNeeded</a:t>
            </a:r>
            <a:r>
              <a:rPr lang="en-US" sz="2400" b="1" dirty="0">
                <a:solidFill>
                  <a:srgbClr val="DCFEA4"/>
                </a:solidFill>
                <a:latin typeface="Calibri" panose="020F0502020204030204" pitchFamily="34" charset="0"/>
              </a:rPr>
              <a:t> = 3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DCFEA4"/>
                </a:solidFill>
                <a:latin typeface="Calibri" panose="020F0502020204030204" pitchFamily="34" charset="0"/>
              </a:rPr>
              <a:t>o/p: 22</a:t>
            </a:r>
          </a:p>
          <a:p>
            <a:pPr marL="0" indent="0">
              <a:buNone/>
            </a:pPr>
            <a:endParaRPr lang="en-US" b="1" dirty="0">
              <a:solidFill>
                <a:srgbClr val="E2FDC7"/>
              </a:solidFill>
            </a:endParaRPr>
          </a:p>
          <a:p>
            <a:pPr marL="742950" indent="-742950">
              <a:buAutoNum type="alphaLcParenR"/>
            </a:pPr>
            <a:endParaRPr lang="en-US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891F5B-BA6B-5CE0-CC94-7D9B31CCF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b="1" dirty="0"/>
              <a:t>Shambhu Kumar QSpiders | JSpiders, NOIDA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1009B1-7A7A-3260-397C-C0E47319A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r>
              <a:rPr lang="en-US" sz="4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4400" b="1" smtClean="0">
                <a:solidFill>
                  <a:srgbClr val="FFC000"/>
                </a:solidFill>
              </a:rPr>
              <a:pPr/>
              <a:t>13</a:t>
            </a:fld>
            <a:endParaRPr lang="en-US" sz="4400" b="1" dirty="0">
              <a:solidFill>
                <a:srgbClr val="FFC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4CADE-5AD7-B60F-EC47-89C0A38E6B1A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97EC49-0DEC-1E00-6E3A-DB40C507C7BE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9EA1EF-270E-379B-1BFA-36BAE04EDFA7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9A68DE-80D2-2762-4B55-2BE696B8D7FB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D77B92CA-CA95-8CAE-C76B-EA0A24D846E4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676F0535-FA5D-08C1-04D8-0366B98F6843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3C3545E7-1FFC-ED04-83D1-8B7AEADAC922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8714F789-4B0D-C098-93C1-3D3D632425D7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CBE07428-DB5A-9A60-B997-8DB18F9D638F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3F473B68-33ED-6E5F-BFA7-8C7CB43D3D77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E05F774B-88ED-39EB-24F9-EC225F238169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BCEC986B-59EA-60AF-35FC-A7959A7258C0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5B3EE4F8-AB47-7376-81CB-B21B6399DB04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571C8E78-1247-B39C-C3C3-B6F9BAB915F5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956759CE-2201-BF2E-34FE-CCEFD717169E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F8BBAFE9-45F5-728F-3760-9BDE38F2DD25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87611BB-0952-22C3-A189-414DFCA0C6D4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FFFF99"/>
                </a:solidFill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AD6FE0-27A6-8452-55B0-8643B48988CC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FF99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lang="en-IN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27F1C19-FFDE-0355-8E04-92CE81E8F39D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FF99"/>
                </a:solidFill>
                <a:effectLst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E809E7C-9D4C-0160-0817-2872800B3D5F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>
                <a:solidFill>
                  <a:schemeClr val="tx1"/>
                </a:solidFill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758090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BA708-07FB-3827-4916-50699820D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D205B-97E5-7BFA-2D3C-F0CD6CDC1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C000"/>
                </a:solidFill>
              </a:rPr>
              <a:t>Topic: Number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D0456-AD0E-7996-FFA8-D8C716929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 lnSpcReduction="10000"/>
          </a:bodyPr>
          <a:lstStyle/>
          <a:p>
            <a:pPr marL="742950" indent="-742950">
              <a:buAutoNum type="alphaLcParenR"/>
            </a:pPr>
            <a:r>
              <a:rPr lang="en-US" sz="2800" b="1" dirty="0">
                <a:solidFill>
                  <a:srgbClr val="DCFEA4"/>
                </a:solidFill>
              </a:rPr>
              <a:t>WAP to print and count all factors of a number.</a:t>
            </a:r>
          </a:p>
          <a:p>
            <a:pPr marL="742950" indent="-742950">
              <a:buAutoNum type="alphaLcParenR"/>
            </a:pPr>
            <a:endParaRPr lang="en-US" sz="2800" b="1" dirty="0">
              <a:solidFill>
                <a:srgbClr val="DCFEA4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US" sz="2800" b="1" dirty="0">
                <a:solidFill>
                  <a:srgbClr val="DCFEA4"/>
                </a:solidFill>
              </a:rPr>
              <a:t>Write an optimized program to check whether the given number is a prime number or NOT.</a:t>
            </a:r>
          </a:p>
          <a:p>
            <a:pPr marL="742950" indent="-742950">
              <a:buAutoNum type="alphaLcParenR"/>
            </a:pPr>
            <a:endParaRPr lang="en-US" sz="2800" b="1" dirty="0">
              <a:solidFill>
                <a:srgbClr val="DCFEA4"/>
              </a:solidFill>
            </a:endParaRPr>
          </a:p>
          <a:p>
            <a:pPr marL="742950" indent="-742950">
              <a:buAutoNum type="alphaLcParenR"/>
            </a:pPr>
            <a:endParaRPr lang="en-US" sz="2800" b="1" dirty="0">
              <a:solidFill>
                <a:srgbClr val="DCFEA4"/>
              </a:solidFill>
            </a:endParaRPr>
          </a:p>
          <a:p>
            <a:pPr marL="742950" indent="-742950">
              <a:buAutoNum type="alphaLcParenR"/>
            </a:pPr>
            <a:r>
              <a:rPr lang="en-US" sz="2800" b="1" dirty="0">
                <a:solidFill>
                  <a:srgbClr val="DCFEA4"/>
                </a:solidFill>
              </a:rPr>
              <a:t>Print and count all prime numbers in a range.</a:t>
            </a:r>
          </a:p>
          <a:p>
            <a:pPr marL="742950" indent="-742950">
              <a:buAutoNum type="alphaLcParenR"/>
            </a:pPr>
            <a:endParaRPr lang="en-US" sz="2800" b="1" dirty="0">
              <a:solidFill>
                <a:srgbClr val="DCFEA4"/>
              </a:solidFill>
            </a:endParaRPr>
          </a:p>
          <a:p>
            <a:pPr marL="742950" indent="-742950">
              <a:buAutoNum type="alphaLcParenR"/>
            </a:pPr>
            <a:r>
              <a:rPr lang="en-US" sz="2800" b="1" dirty="0">
                <a:solidFill>
                  <a:srgbClr val="DCFEA4"/>
                </a:solidFill>
              </a:rPr>
              <a:t>Print nth prime number.</a:t>
            </a:r>
          </a:p>
          <a:p>
            <a:pPr marL="742950" indent="-742950">
              <a:buAutoNum type="alphaLcParenR"/>
            </a:pPr>
            <a:endParaRPr lang="en-US" sz="2800" b="1" dirty="0">
              <a:solidFill>
                <a:srgbClr val="DCFEA4"/>
              </a:solidFill>
            </a:endParaRPr>
          </a:p>
          <a:p>
            <a:pPr marL="742950" indent="-742950">
              <a:buAutoNum type="alphaLcParenR"/>
            </a:pPr>
            <a:r>
              <a:rPr lang="en-US" sz="2800" b="1" dirty="0">
                <a:solidFill>
                  <a:srgbClr val="DCFEA4"/>
                </a:solidFill>
              </a:rPr>
              <a:t>Store first 100 prime numbers in a list/array</a:t>
            </a:r>
            <a:r>
              <a:rPr lang="en-US" b="1" dirty="0">
                <a:solidFill>
                  <a:srgbClr val="DCFEA4"/>
                </a:solidFill>
              </a:rPr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6FCE0E-495F-001E-4F17-AAE034509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b="1" dirty="0"/>
              <a:t>Shambhu Kumar QSpiders | JSpiders, NOIDA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FE0999-7CFD-D9BE-F398-AF5735284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r>
              <a:rPr lang="en-US" sz="4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4400" b="1" smtClean="0">
                <a:solidFill>
                  <a:srgbClr val="FFC000"/>
                </a:solidFill>
              </a:rPr>
              <a:pPr/>
              <a:t>14</a:t>
            </a:fld>
            <a:endParaRPr lang="en-US" sz="4400" b="1" dirty="0">
              <a:solidFill>
                <a:srgbClr val="FFC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EE4BC-FFC6-E511-472F-3647630038EB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36E1BD-2A13-70D2-F61C-9C49BB1F2D47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8A3301-EC34-FB9A-9F90-92FC19EC024C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F07903-1DA2-96F1-40D2-DF73530B6E91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434DAC1D-A7B5-04C8-B492-E7DC96DC52A0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C0855F05-2E6C-C7A7-9899-A951A781D707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370EFF58-2E9A-29B9-4761-EC9820D18FA7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B421412F-2015-538A-4BB8-62FDF672BC15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9AADF58C-5402-7E57-DAD4-470262C709D2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B0242EE2-801C-36EF-1CB7-91FC111F9A8E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1778815C-4240-0DDF-9B78-5151FC00E18B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74DAE1CC-12DE-52EE-0CD1-F2E0760A3278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340A793E-BF13-C81A-8842-C9DB4C625E83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C842B1C7-EFBD-725A-7C69-5E9DC70C68DA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65E68DA0-E0E1-1BEB-37CF-E04C66C9915F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9D99AD87-8625-D487-D92C-D1C91ADF8E23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22DD585-EA67-734D-2E10-C2987854CC48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FFFF99"/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C85234-AC3A-F82B-5434-F4A2FDEF517C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FF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lang="en-IN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1683ACF-154F-C96D-46E4-50ECFAD5C315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FF99"/>
                </a:solidFill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1E148C4-9956-0C59-8C73-EBE330E6A378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>
                <a:solidFill>
                  <a:schemeClr val="tx1"/>
                </a:solidFill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309516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A0408-C8A0-799D-D9A2-4A730942C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2B9A0-7083-DEBE-D1B9-5E9D7C403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C000"/>
                </a:solidFill>
              </a:rPr>
              <a:t>Topic: Number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8E462-2262-5182-E73C-467FDCCF7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AutoNum type="alphaLcParenR"/>
            </a:pPr>
            <a:r>
              <a:rPr lang="en-US" b="1" dirty="0">
                <a:solidFill>
                  <a:srgbClr val="DCFEA4"/>
                </a:solidFill>
              </a:rPr>
              <a:t>WAP to generate n terms of Fibonacci series.</a:t>
            </a:r>
          </a:p>
          <a:p>
            <a:pPr marL="742950" indent="-742950">
              <a:buAutoNum type="alphaLcParenR"/>
            </a:pPr>
            <a:endParaRPr lang="en-US" b="1" dirty="0">
              <a:solidFill>
                <a:srgbClr val="DCFEA4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IN" b="1" dirty="0">
                <a:solidFill>
                  <a:srgbClr val="DCFEA4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Fibonacci Number</a:t>
            </a:r>
            <a:endParaRPr lang="en-IN" b="1" dirty="0">
              <a:solidFill>
                <a:srgbClr val="DCFEA4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b="1" dirty="0">
              <a:solidFill>
                <a:srgbClr val="DCFEA4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US" b="1" dirty="0">
                <a:solidFill>
                  <a:srgbClr val="DCFEA4"/>
                </a:solidFill>
              </a:rPr>
              <a:t>WAP to generate all n terms of Tribonacci series.</a:t>
            </a:r>
          </a:p>
          <a:p>
            <a:pPr marL="742950" indent="-742950">
              <a:buFont typeface="Arial" pitchFamily="34" charset="0"/>
              <a:buAutoNum type="alphaLcParenR"/>
            </a:pPr>
            <a:endParaRPr lang="en-US" b="1" dirty="0">
              <a:solidFill>
                <a:srgbClr val="DCFEA4"/>
              </a:solidFill>
            </a:endParaRPr>
          </a:p>
          <a:p>
            <a:pPr marL="742950" indent="-742950">
              <a:buAutoNum type="alphaLcParenR"/>
            </a:pPr>
            <a:endParaRPr lang="en-US" b="1" dirty="0">
              <a:solidFill>
                <a:srgbClr val="DCFEA4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BA90B2-35F6-C091-C741-9C1BD80D1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b="1" dirty="0"/>
              <a:t>Shambhu Kumar QSpiders | JSpiders, NOIDA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17AB03-A7AC-A7DE-42C0-BA6765489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r>
              <a:rPr lang="en-US" sz="4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4400" b="1" smtClean="0">
                <a:solidFill>
                  <a:srgbClr val="FFC000"/>
                </a:solidFill>
              </a:rPr>
              <a:pPr/>
              <a:t>15</a:t>
            </a:fld>
            <a:endParaRPr lang="en-US" sz="4400" b="1" dirty="0">
              <a:solidFill>
                <a:srgbClr val="FFC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F9FB8-67A1-DBCA-F700-CCC3AA886C34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F5F293-CAF1-E6D9-E6BA-8C427528FAB1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5660D7-4891-EFB6-0FA2-8C7B58065218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FB977F-1C37-94DC-0E5A-20B8F2EA8FF2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1C9208F0-A480-C52D-5477-3A8BE5F1228D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D44879D2-5668-A9E1-9228-861410D1C1B6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C28F0E1D-9581-6BDE-F9F8-AFA57C70047B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6189C7F4-FC64-48CB-F2EC-D7C9EC4320F6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548D54DF-F31A-A97B-6812-0A5D3E20EA04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DF096FEC-C961-64AA-E01F-851B33BC52CE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71A0A006-9203-B3FD-8DF0-237A89C53228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7DFB111A-511D-1193-AD25-ADE8982B3B4C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DF7168B0-C427-BA25-521D-E6C6EA71F75E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43BE8E54-0CA9-F845-BD48-C590308553FB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8A327D59-812B-4CD9-435D-2D49FA54E254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7CA0A0D3-C18E-6A73-FDF1-5D7B81080BF5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B1C72EF-EF41-7163-61BA-2DD7C5D67217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FFFF99"/>
                </a:solidFill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C5B8BF-03FC-C387-956D-5F4F19CB255D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FF99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lang="en-IN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91E64B2-30B1-46D2-9315-B890DAE3A409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FF99"/>
                </a:solidFill>
                <a:effectLst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61776DB-CC2F-99CC-4747-A431C26E8722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>
                <a:solidFill>
                  <a:schemeClr val="tx1"/>
                </a:solidFill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332682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E2C4B-BC13-9580-10E9-B821BCBBA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E094F-1C46-AF19-8BB2-A0A4AB296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C000"/>
                </a:solidFill>
              </a:rPr>
              <a:t>Topic: Number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00C1C-619D-18DA-E12F-7B6F0FB83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AutoNum type="alphaLcParenR"/>
            </a:pPr>
            <a:r>
              <a:rPr lang="en-US" b="1" dirty="0">
                <a:solidFill>
                  <a:srgbClr val="BBF96F"/>
                </a:solidFill>
              </a:rPr>
              <a:t>WAP to check whether the given number is an Armstrong number or NOT.</a:t>
            </a:r>
            <a:endParaRPr lang="en-US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742950" indent="-742950">
              <a:buAutoNum type="alphaLcParenR"/>
            </a:pPr>
            <a:r>
              <a:rPr lang="en-US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Print and count all Armstrong numbers in a range.</a:t>
            </a:r>
          </a:p>
          <a:p>
            <a:pPr marL="742950" indent="-742950">
              <a:buAutoNum type="alphaLcParenR"/>
            </a:pPr>
            <a:endParaRPr lang="en-US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US" b="1" dirty="0">
                <a:solidFill>
                  <a:srgbClr val="DCFEA4"/>
                </a:solidFill>
              </a:rPr>
              <a:t>WAP to take user input and print whether the number is dissarium number or not.</a:t>
            </a:r>
          </a:p>
          <a:p>
            <a:pPr marL="742950" indent="-742950">
              <a:buFont typeface="Arial" pitchFamily="34" charset="0"/>
              <a:buAutoNum type="alphaLcParenR"/>
            </a:pPr>
            <a:r>
              <a:rPr lang="en-US" b="1" dirty="0">
                <a:solidFill>
                  <a:srgbClr val="DCFEA4"/>
                </a:solidFill>
              </a:rPr>
              <a:t>WAP to print and count all the dissarium numbers in a range.</a:t>
            </a:r>
          </a:p>
          <a:p>
            <a:pPr marL="742950" indent="-742950">
              <a:buFont typeface="Arial" pitchFamily="34" charset="0"/>
              <a:buAutoNum type="alphaLcParenR"/>
            </a:pPr>
            <a:endParaRPr lang="en-US" dirty="0">
              <a:solidFill>
                <a:srgbClr val="DCFEA4"/>
              </a:solidFill>
            </a:endParaRPr>
          </a:p>
          <a:p>
            <a:pPr marL="742950" indent="-742950">
              <a:buAutoNum type="alphaLcParenR"/>
            </a:pPr>
            <a:endParaRPr lang="en-US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649CFA-ACF4-2758-7E4C-200F3B963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b="1" dirty="0"/>
              <a:t>Shambhu Kumar QSpiders | JSpiders, NOIDA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7F300D-D0DF-AC5E-0E6D-69AEE4C3B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r>
              <a:rPr lang="en-US" sz="4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4400" b="1" smtClean="0">
                <a:solidFill>
                  <a:srgbClr val="FFC000"/>
                </a:solidFill>
              </a:rPr>
              <a:pPr/>
              <a:t>16</a:t>
            </a:fld>
            <a:endParaRPr lang="en-US" sz="4400" b="1" dirty="0">
              <a:solidFill>
                <a:srgbClr val="FFC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FF910-8CF6-8B84-41A0-EE2A1C4533A8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1F4509-046F-D2E7-C6AD-C9497F4C4F2A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3BA6BC-4F53-0200-EBAA-4E5713178CC6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10509E-0B11-F9A7-CA31-8E5B0F5C448C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C6F3F8E8-0F78-2308-1904-FB3D050EE2B2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E96AC115-8D71-9467-A591-FF26AAD3DE75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B9893F66-F56F-0944-A556-486DD82E7D91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344B6768-1465-A4B2-56CE-49453782E893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29918F1E-6D6D-1BE5-08A7-6A1F725228A9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8059A3F3-91D9-8FE1-8A0D-9BE02C513F04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7ADCBD2C-B1AC-069E-1A0D-E090D2E9F0A0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6D6FC818-DAAB-F21F-2E82-803206DF3EBD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4AD4FAAC-451C-D363-D0D3-4D6266B06CA4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92B817DA-1401-DDD3-FB15-DBEDD7B29D42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B938D96B-F91C-6AFB-E410-9E5699E6D955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EAA87AC3-2F39-C8CF-3BE0-3F24D51271C5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6C3DA1C-E8C6-2F93-4C4D-421D59EEDCC9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FFFF99"/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642D5D-24D5-AC8E-6D9B-24F61A97466E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FF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lang="en-IN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E7F9D5-93CF-523E-56A1-0CD4820BC573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FF99"/>
                </a:solidFill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1F87CDF-0A76-72B4-88BC-75FD40EE86DC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>
                <a:solidFill>
                  <a:schemeClr val="tx1"/>
                </a:solidFill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7066048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2E173-7359-AEA3-BB30-FEBF14369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34604-DC09-14B3-84BA-33755937D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C000"/>
                </a:solidFill>
              </a:rPr>
              <a:t>Topic: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98B52-BDAC-8A8A-62CA-8D098ED53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DCFEA4"/>
                </a:solidFill>
              </a:rPr>
              <a:t>Print Pattern: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7DF5-C324-9ED6-2974-3C164006D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b="1" dirty="0"/>
              <a:t>Shambhu Kumar QSpiders | JSpiders, NOIDA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8DCA89-E2EC-6F9E-36E2-ADFB5D908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r>
              <a:rPr lang="en-US" sz="4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4400" b="1" smtClean="0">
                <a:solidFill>
                  <a:srgbClr val="FFC000"/>
                </a:solidFill>
              </a:rPr>
              <a:pPr/>
              <a:t>17</a:t>
            </a:fld>
            <a:endParaRPr lang="en-US" sz="4400" b="1" dirty="0">
              <a:solidFill>
                <a:srgbClr val="FFC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1CA0E-AEB0-EA9A-1647-951D88049122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50EC67-A073-CBEF-9FB3-EE0BF817346C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B502A8-055E-DEB9-191D-93A6E6985CE8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5AE591-7F8F-C8A5-964F-65B686B30907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671770D1-5732-FAE1-F010-A21A87899A3E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0F119C5C-5D34-D1A4-344E-03F38BDC9B4E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D4D1A612-FA83-C57F-ED0B-33E44A0E4838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88B7EFA8-8868-1613-7106-97D5C14549CE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463B88D0-712F-0B0D-94AB-D88E3FE55FC8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E267F484-F7D0-DABE-8D20-36B91A06D0F9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C2D87202-CD4F-032E-6D95-03338EC48374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CFE57D7F-4C40-ECC9-F0B2-5491850080CD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BC352844-B6A1-302C-AD4A-3A85BA43094C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BBCDB3EA-55D1-A3F1-BB3D-AD5B83CFBAE2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189736D9-FFEB-4D60-F81E-496D2D60FF42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E9CB603C-52F2-A9C8-DDFF-32A1EF16B909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2217BC7-2308-063B-4C2F-87C144F87D40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FFFF99"/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433F422-6E13-0D8D-A270-D1BB99F1AD6F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FF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lang="en-IN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B1504FB-0631-E6DB-CB1C-913177FA98CD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FF99"/>
                </a:solidFill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D18604A-9BCE-D7F8-7F6B-6EA2BB8D5427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>
                <a:solidFill>
                  <a:schemeClr val="tx1"/>
                </a:solidFill>
              </a:rPr>
              <a:t>SHAMBHU KUMAR QSpiders |JSpiders | PySpiders, NOIDA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02EABE-9BAA-4AD0-F20C-F3DACF29EA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642" y="1760537"/>
            <a:ext cx="2250055" cy="17179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CAB496E-D13F-8DC0-085A-72A2698707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6883" y="1760537"/>
            <a:ext cx="2004321" cy="171799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D358849-7AA7-1B80-0BE6-666B19B6F6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2390" y="1760537"/>
            <a:ext cx="1672697" cy="171886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2C7BBC3-FEB5-7C29-3417-4976B9AA1E7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1660" y="1559380"/>
            <a:ext cx="1600200" cy="215219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7D6ABEF6-E5ED-6CB4-011F-9C80652E218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5642" y="3953812"/>
            <a:ext cx="2205337" cy="171886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4825DE3-A6F3-0B8C-BBEC-38541CC8E72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96883" y="3889803"/>
            <a:ext cx="2181013" cy="171886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9D72C44-05AD-E08F-A47E-6DB74E1E10D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3800" y="3921433"/>
            <a:ext cx="3171212" cy="168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5439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31738-0C20-3783-F646-2DEB7FDD5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4AF2C-27A2-78C2-E281-8D04E5B82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C000"/>
                </a:solidFill>
              </a:rPr>
              <a:t>Topic: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36C89-1689-EDC8-A92E-ED0FD91A7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DCFEA4"/>
                </a:solidFill>
              </a:rPr>
              <a:t>Print Pattern: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80177B-CA51-DE9B-92A1-BB54CEB54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b="1" dirty="0"/>
              <a:t>Shambhu Kumar QSpiders | JSpiders, NOIDA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72B683-722C-9456-EA49-B5B8022D6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r>
              <a:rPr lang="en-US" sz="4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4400" b="1" smtClean="0">
                <a:solidFill>
                  <a:srgbClr val="FFC000"/>
                </a:solidFill>
              </a:rPr>
              <a:pPr/>
              <a:t>18</a:t>
            </a:fld>
            <a:endParaRPr lang="en-US" sz="4400" b="1" dirty="0">
              <a:solidFill>
                <a:srgbClr val="FFC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A60A1-7663-C66F-128E-F8B5E78FFAB6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CCB129-F78E-813B-48EF-3CFAB7CD0936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77B6B4-5DA8-A751-AEA3-B377DE4514DC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80B106-467B-6765-530E-B75B656670EA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59F421C7-18F4-AC2A-712A-FFBD5E028055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7E783D09-2D0C-6368-5390-7FF28C30BEA1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1B4C53DD-67C6-90C1-FFDB-CC3DE99901A9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62A1F5D5-F541-CBD9-8FB2-366FF4EE11B0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F39333EA-D8E8-01F5-B58D-39BE709C9465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97695BEA-1CBF-A3D2-BAAC-9D4217CC6714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688C9FE0-5144-5D70-8054-C997C0C159D5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8DB91471-1B95-1E12-FF6A-E21C4D8F4501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6E88019C-9BA5-21C9-33D2-A8E5A5DD462D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9CB16C56-178B-2A1B-1614-8201C7E652CE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E7E666F1-346E-4D99-6123-6C77EB9C41D3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DCAE3625-CA4C-686B-6373-8493B2DF4529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A8A5115-708D-4678-F7BB-01C51780EB80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FFFF99"/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7542E02-0396-65A2-F268-4930721DDB05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FF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lang="en-IN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6A9DAAE-306C-6A21-5A57-AE59CA14D9F9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FF99"/>
                </a:solidFill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DD84BFE-3F41-09A4-51ED-2D31D312C50C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>
                <a:solidFill>
                  <a:schemeClr val="tx1"/>
                </a:solidFill>
              </a:rPr>
              <a:t>SHAMBHU KUMAR QSpiders |JSpiders | PySpiders, NOIDA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05BD5BD-556E-3B71-990E-909E3154A7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841" y="1728158"/>
            <a:ext cx="2653469" cy="147649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9D09583-18C5-F176-AC08-9180EA7FF2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1728158"/>
            <a:ext cx="2490753" cy="147104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A883D39-9033-C070-37DF-14C10824D4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486" y="1736784"/>
            <a:ext cx="2788865" cy="147105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B1FD18C5-6007-9DA2-375B-99D6F4E009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72" y="3429000"/>
            <a:ext cx="2703796" cy="224367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4A8D88E4-F465-6969-ED4E-D2199000B47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5492" y="3436296"/>
            <a:ext cx="3336822" cy="2236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1680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64514-E2C2-97B5-2485-96E66D1A9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415BD-38A0-61C3-ED77-796639BC7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C000"/>
                </a:solidFill>
              </a:rPr>
              <a:t>Topic: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F5916-71D2-6A01-2524-62CF7AADA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DCFEA4"/>
                </a:solidFill>
              </a:rPr>
              <a:t>Print Pattern: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49F030-31BD-75AC-28BA-CB3E6F443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b="1" dirty="0"/>
              <a:t>Shambhu Kumar QSpiders | JSpiders, NOIDA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5D28E4-A974-20E6-36C6-F6014DAC4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r>
              <a:rPr lang="en-US" sz="4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4400" b="1" smtClean="0">
                <a:solidFill>
                  <a:srgbClr val="FFC000"/>
                </a:solidFill>
              </a:rPr>
              <a:pPr/>
              <a:t>19</a:t>
            </a:fld>
            <a:endParaRPr lang="en-US" sz="4400" b="1" dirty="0">
              <a:solidFill>
                <a:srgbClr val="FFC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13310-E541-E1D7-2BEA-EBD38F598458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BB772D-A318-0121-C077-D80D39A2577F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3501B9-68EC-E0A4-A6C9-BA4F6C89242A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DD3AA5-5316-8E80-8C46-27C20550336A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0882F644-35C7-17C4-0DE6-0EF02F244FE8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2CC7A355-BDD0-A5C9-1B0F-68EB8E0E527B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76C197A1-ED68-7B76-1651-6718718932EA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A2AD93BE-0288-389B-DD62-C79B61F3C7F2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875A73CC-C583-1FAE-5CCF-BB6318B3B57E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D27E9292-FE38-030F-DC76-610D479C13AF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6956C2FE-4EEC-20B3-9893-86DA35736CFC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7DD24F09-2E95-DFB6-39D1-11EE7C608566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675AAD33-F524-EE98-912E-A2F3811DD048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A06735D9-C19D-B756-C046-5ECBDF0DC2F4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08E8B375-C5B8-4384-E74B-212A11F2054B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D32DE81D-2B94-C3BD-E5B8-1E6E0F67AFEB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1001F20-2546-1B7E-A6EB-0E9F43A2FEB4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FFFF99"/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C147E9-9CFF-C389-E787-D28B82102A95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FF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lang="en-IN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DE1DE2-B10D-5472-1A40-F21B2F06AAE1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FF99"/>
                </a:solidFill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980C1E5-807E-4DED-5775-2874FAC5328D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>
                <a:solidFill>
                  <a:schemeClr val="tx1"/>
                </a:solidFill>
              </a:rPr>
              <a:t>SHAMBHU KUMAR QSpiders |JSpiders | PySpiders, NOIDA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07F213-D95F-A191-C555-CC17B9261D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910" y="1777313"/>
            <a:ext cx="3211005" cy="194432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0BCBCAF-CCEB-970D-B6C9-7F157F93AB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5158" y="1777312"/>
            <a:ext cx="3406542" cy="194432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B5B800F-B014-EE03-85F9-54259D7F65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227" y="3980191"/>
            <a:ext cx="1428370" cy="211760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AF5578A-BAED-2478-C5D9-63AD0E1E748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8798" y="3970654"/>
            <a:ext cx="3402902" cy="2197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8587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A66C9-A177-1427-88D4-16D5B1B84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9AF45-45AD-748B-BEC4-32806C3CE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C000"/>
                </a:solidFill>
              </a:rPr>
              <a:t>Topic: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BB536-4949-5099-B437-623C675DE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DCFEA4"/>
                </a:solidFill>
              </a:rPr>
              <a:t>Print Pattern: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24F236-0785-3F8C-7749-2EC6D0CA4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b="1" dirty="0"/>
              <a:t>Shambhu Kumar QSpiders | JSpiders, NOIDA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E5992C-0455-1682-C762-6B762E7EE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r>
              <a:rPr lang="en-US" sz="4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4400" b="1" smtClean="0">
                <a:solidFill>
                  <a:srgbClr val="FFC000"/>
                </a:solidFill>
              </a:rPr>
              <a:pPr/>
              <a:t>20</a:t>
            </a:fld>
            <a:endParaRPr lang="en-US" sz="4400" b="1" dirty="0">
              <a:solidFill>
                <a:srgbClr val="FFC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D752A-4DAB-4334-DCFC-91B066007BD2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281085-C869-D647-89FB-E97FBA1B56A2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D2482A-9295-84CC-F85E-63A1622255E6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E17E15-8AFF-141F-EA68-B016BA85E287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F104261C-EA97-D801-6ECA-46540B97842E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1B467F37-7821-94B3-C39A-35BCA01FA8B9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D79645C3-0691-F83F-E842-A41F58239FCA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B35CDCE8-73FE-ABAE-362B-A0CFCC0603DE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AE6425A7-35B9-CD98-627C-FD38F0AD8DC4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2AF90729-8BBC-1402-CF24-2956F3A2C421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2D37543C-830D-3E3A-A10C-6BD554D40774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E3DA9B99-9985-FD34-8905-740012ACEDD4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06078261-6FDD-1B67-AEDB-21EFC4FFCB97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3BB86471-C938-180C-228D-38A7AC08CC4E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7DF803CE-FFA1-D1CA-CAE8-9A1F4D2C9512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85E981B2-ED8B-A809-7306-90827FA294F4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737EF37-EC49-041A-DF14-0695A236972F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FFFF99"/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DA5CB1-76C8-3E52-D88B-57CF906EF6D8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FF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lang="en-IN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247B74-0003-433E-B89A-4BE41A35E20D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FF99"/>
                </a:solidFill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58E18DE-47A7-9CC9-140B-A89EF04753E1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>
                <a:solidFill>
                  <a:schemeClr val="tx1"/>
                </a:solidFill>
              </a:rPr>
              <a:t>SHAMBHU KUMAR QSpiders |JSpiders | PySpiders, NOIDA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4DCDA12-1DD8-C3F8-832C-E1D02D701C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910" y="1763412"/>
            <a:ext cx="3144757" cy="204658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C000232-782F-8BAC-9467-C56493EF95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0083" y="1763412"/>
            <a:ext cx="2419172" cy="204658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D71943D-AEE5-B37A-5C0F-929A784F01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3671" y="1763412"/>
            <a:ext cx="2596008" cy="204658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4738F13-E3D1-8B5C-AF4D-5F5F983D1C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140" y="4029295"/>
            <a:ext cx="2395391" cy="204658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CB416178-E5B4-1504-5E8E-FB4412D836B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3626" y="4029295"/>
            <a:ext cx="3066174" cy="20465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039AB243-510C-8ADB-76FA-968E135433E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8149" y="4032638"/>
            <a:ext cx="2942662" cy="2046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3353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E1F49-1D77-CC41-9FED-E949FC5CD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01B2C-B546-CA6D-23BC-1F930F2ED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C000"/>
                </a:solidFill>
              </a:rPr>
              <a:t>Topic: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7A436-244D-A438-D0C7-CFDB9A240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DCFEA4"/>
                </a:solidFill>
              </a:rPr>
              <a:t>Print Pattern: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C41987-2C1E-026A-82C3-CFDE246B8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b="1" dirty="0"/>
              <a:t>Shambhu Kumar QSpiders | JSpiders, NOIDA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511EFD-0968-FABA-C36C-02278FD24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r>
              <a:rPr lang="en-US" sz="4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4400" b="1" smtClean="0">
                <a:solidFill>
                  <a:srgbClr val="FFC000"/>
                </a:solidFill>
              </a:rPr>
              <a:pPr/>
              <a:t>21</a:t>
            </a:fld>
            <a:endParaRPr lang="en-US" sz="4400" b="1" dirty="0">
              <a:solidFill>
                <a:srgbClr val="FFC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48410-9F64-D911-E348-C2FBA9E3136C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3549D3-6470-337C-CC5F-C55FF8D01FC2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118D7C-E4A3-C819-3D7B-00390B9E59C0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2E3224-38BF-071E-81E1-E1BB5DA205FD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480741A8-A1A0-0844-EE12-F8F3B1DE5482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60A77F93-BF5B-6E66-E063-25A123525DA5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EC30A2C7-F800-DC7B-F98D-70111B603D80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43178B82-CAC5-3023-80BB-6668BB6F2D8B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DBF3AFAA-DB50-9EDA-8B8B-F022762E4BCF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B321A667-950F-8BD9-B3B6-85A15A2E9915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FB7E2F75-DDFB-90BA-F020-FA629B306168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1EE61EE5-0C13-CD91-AD9B-385453E509EB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7EFAE0E4-FCBF-DB9F-975B-CAA43387482F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C59D0C3B-491D-982F-F373-A4A534095E78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769A8B4E-16EE-E3BC-D304-71EFDA6612CF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8F456A87-0A74-82F5-6021-47A8D5C5CB99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E2F5055-981D-FA53-FE30-447BF4F12161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FFFF99"/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334A41-0A1F-533F-A925-4BD6D6EAA38E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FF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lang="en-IN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BBB2F8C-ECC2-7087-F4CE-1BDEC1C5A53C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FF99"/>
                </a:solidFill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556DAB1-A937-A776-1771-2AB14D65F3E8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>
                <a:solidFill>
                  <a:schemeClr val="tx1"/>
                </a:solidFill>
              </a:rPr>
              <a:t>SHAMBHU KUMAR QSpiders |JSpiders | PySpiders, NOIDA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AC4537-F21D-CF67-AD45-80B583F91E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140" y="1759098"/>
            <a:ext cx="4020110" cy="202838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2A9B774-B049-8D9D-9903-8E3E8C9F85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104" y="1770075"/>
            <a:ext cx="3950339" cy="202838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6E6ED92-01F0-3014-BB4E-4C7E263340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399" y="4093869"/>
            <a:ext cx="3715601" cy="202838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46C17DE-5F97-9145-4387-26D5C2F24C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883" y="4081835"/>
            <a:ext cx="3796840" cy="202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2689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9C69C-2FD6-B9EE-507C-02C3C358A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5168F-ACE2-3FD2-D491-946A6CBB3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C000"/>
                </a:solidFill>
              </a:rPr>
              <a:t>Topic: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5151D-ACF5-AF90-BA84-C74733B63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DCFEA4"/>
                </a:solidFill>
              </a:rPr>
              <a:t>Print Pattern: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9EBA0D-5238-5F45-6F27-E91880338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b="1" dirty="0"/>
              <a:t>Shambhu Kumar QSpiders | JSpiders, NOIDA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015DE-4D71-0573-0364-4F02BE252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r>
              <a:rPr lang="en-US" sz="4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4400" b="1" smtClean="0">
                <a:solidFill>
                  <a:srgbClr val="FFC000"/>
                </a:solidFill>
              </a:rPr>
              <a:pPr/>
              <a:t>22</a:t>
            </a:fld>
            <a:endParaRPr lang="en-US" sz="4400" b="1" dirty="0">
              <a:solidFill>
                <a:srgbClr val="FFC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AE121-D97F-3667-F089-2904C8434AE3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30C581-A171-8556-5D2E-D22B22B3ACB2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77E62F-0590-E0AB-392F-15F043DA4032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68920C-9D75-4391-E9C0-01D61B8DC31B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EDC4426A-15E0-6C50-1541-8FFC568845C0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614C5FE3-F494-E110-03EB-1CA3894F21F9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D40881BC-9CBB-D071-0CC7-174258592AB7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36E25C63-E965-00AE-32AF-B8423CDE75CB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2661EF5E-1BFD-B048-7764-EAB4686F526A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D42947F1-162C-0308-8202-F4121F8C6589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8BF3B2A7-C257-5ED0-8613-1F3050D24932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1C992703-24BE-8E69-8307-645A827CEAD3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64466035-54AE-1DF4-0C1F-7187435AF377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222AA586-9681-6FFC-5988-606D5A40DF99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2A6C968F-0BF7-BCB0-998D-6A7641B8CC6C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85071D32-4030-8AC1-9E65-6D10A9CB5910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0A2A646-01BB-75EF-D27F-088EFF1A1485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FFFF99"/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B48993-2D91-5154-5AC2-C7C62C849BBD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FF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lang="en-IN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3C4E2A-6E82-8F19-548C-5623430C9072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FF99"/>
                </a:solidFill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60ACE75-5343-99BB-9EF4-CB3FDC476F4D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>
                <a:solidFill>
                  <a:schemeClr val="tx1"/>
                </a:solidFill>
              </a:rPr>
              <a:t>SHAMBHU KUMAR QSpiders |JSpiders | PySpiders, NOIDA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4FBD975-C9CF-CF96-2FCB-F678390648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0" y="3608736"/>
            <a:ext cx="3097338" cy="203376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3AC27A8-E848-303D-CAD6-28E3A2AB8C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3604482"/>
            <a:ext cx="2926760" cy="20337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CEED351F-4EAA-C11D-28F3-2ED2CD453C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951" y="1616055"/>
            <a:ext cx="7106642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8740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24EF8-CBC0-FEED-27F4-B12C29AD1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7F410-0C46-0A11-C044-EBFD76D3C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C000"/>
                </a:solidFill>
              </a:rPr>
              <a:t>Topic: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FCFE0-B820-B8D5-21A0-9895EAE3F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DCFEA4"/>
                </a:solidFill>
              </a:rPr>
              <a:t>Print Pattern: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8B1C8-9875-6368-85D7-5A91B1A02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b="1" dirty="0"/>
              <a:t>Shambhu Kumar QSpiders | JSpiders, NOIDA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032AA-1E38-C078-89E8-DCA60CC76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r>
              <a:rPr lang="en-US" sz="4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4400" b="1" smtClean="0">
                <a:solidFill>
                  <a:srgbClr val="FFC000"/>
                </a:solidFill>
              </a:rPr>
              <a:pPr/>
              <a:t>23</a:t>
            </a:fld>
            <a:endParaRPr lang="en-US" sz="4400" b="1" dirty="0">
              <a:solidFill>
                <a:srgbClr val="FFC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F9717-338A-EEE4-74D0-FBADA68D3E8B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B6C389-0428-B4E8-DF7C-C37614031652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902578-67B9-CDFD-ADA9-4BAC2932C0F2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B28450-52B8-580D-2CC8-F317C62A4AA3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177C5745-E478-453F-8586-B6CEF9A0FFBF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67FB7971-9B8A-91DD-E443-402C43EAE9C6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2FC98CF5-504B-828C-B2D3-B60214056080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36F7B22C-6FD4-50ED-475F-E147F1F36375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9E71BEAE-E62C-2250-5063-8C7C981EACC5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7F67665A-FD5C-CA92-69A3-7E283724C50E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71E93199-4269-4B85-AB21-13CC7E7FF898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DBBDACD5-1405-EA28-3117-EAF35A71F12F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38002B84-3C68-8D94-15D8-707E829E7BD1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485AC771-B6CD-68F3-FC53-53BCAA061334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B6DCE6FD-741B-345C-5E86-5BBB79308BF5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6D7CB995-F257-D6CF-3C79-8ACB2768FF79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10F0DF2-CF6F-C166-B1EB-0537FEFB1B83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FFFF99"/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7B4FC8-9527-0EFC-1629-6D9557807F32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FF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lang="en-IN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A0FB03-354D-FDD2-1A89-661D50E02BB4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FF99"/>
                </a:solidFill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D7E7CC5-A7FB-135A-4B6D-8E6CD762AFFF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>
                <a:solidFill>
                  <a:schemeClr val="tx1"/>
                </a:solidFill>
              </a:rPr>
              <a:t>SHAMBHU KUMAR QSpiders |JSpiders | PySpiders, NOIDA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81AE43-B4EA-B964-2ECC-5D09E5473C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0" y="1630413"/>
            <a:ext cx="3046721" cy="181296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43CEA18-0E56-F3AF-2064-CC59E8D2C6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5057" y="1630413"/>
            <a:ext cx="2936800" cy="181460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F3A735B-3102-2F0A-0FDC-FF8C63E6EF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0" y="3711575"/>
            <a:ext cx="2705428" cy="181296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1EEA364-1D79-7488-B7BF-955D1A80E5D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5057" y="3721938"/>
            <a:ext cx="2865025" cy="1819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969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A777E-6012-150A-E1E6-00BE6E2A4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74B70-45C2-409A-38AD-E0B7E88AB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C000"/>
                </a:solidFill>
              </a:rPr>
              <a:t>Topic: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DAF43-A1C6-2401-B4E4-DF4EE2738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b="1" dirty="0">
                <a:solidFill>
                  <a:schemeClr val="bg2">
                    <a:lumMod val="90000"/>
                  </a:schemeClr>
                </a:solidFill>
              </a:rPr>
              <a:t>1. </a:t>
            </a:r>
            <a:r>
              <a:rPr lang="en-US" sz="2400" b="1" dirty="0">
                <a:solidFill>
                  <a:srgbClr val="DCFEA4"/>
                </a:solidFill>
              </a:rPr>
              <a:t>Print Pattern:</a:t>
            </a:r>
            <a:endParaRPr lang="pt-BR" sz="2400" b="1" dirty="0">
              <a:solidFill>
                <a:schemeClr val="bg2">
                  <a:lumMod val="90000"/>
                </a:schemeClr>
              </a:solidFill>
            </a:endParaRPr>
          </a:p>
          <a:p>
            <a:pPr marL="0" indent="0">
              <a:buNone/>
            </a:pPr>
            <a:endParaRPr lang="pt-BR" sz="2400" b="1" dirty="0">
              <a:solidFill>
                <a:schemeClr val="bg2">
                  <a:lumMod val="90000"/>
                </a:schemeClr>
              </a:solidFill>
            </a:endParaRPr>
          </a:p>
          <a:p>
            <a:pPr marL="0" indent="0">
              <a:buNone/>
            </a:pPr>
            <a:endParaRPr lang="pt-BR" sz="2400" b="1" dirty="0">
              <a:solidFill>
                <a:schemeClr val="bg2">
                  <a:lumMod val="90000"/>
                </a:schemeClr>
              </a:solidFill>
            </a:endParaRPr>
          </a:p>
          <a:p>
            <a:pPr marL="0" indent="0">
              <a:buNone/>
            </a:pPr>
            <a:endParaRPr lang="pt-BR" sz="2400" b="1" dirty="0">
              <a:solidFill>
                <a:schemeClr val="bg2">
                  <a:lumMod val="90000"/>
                </a:schemeClr>
              </a:solidFill>
            </a:endParaRPr>
          </a:p>
          <a:p>
            <a:pPr marL="0" indent="0">
              <a:buNone/>
            </a:pPr>
            <a:endParaRPr lang="pt-BR" sz="2400" b="1" dirty="0">
              <a:solidFill>
                <a:schemeClr val="bg2">
                  <a:lumMod val="90000"/>
                </a:schemeClr>
              </a:solidFill>
            </a:endParaRPr>
          </a:p>
          <a:p>
            <a:pPr marL="0" indent="0">
              <a:buNone/>
            </a:pPr>
            <a:r>
              <a:rPr lang="pt-BR" sz="2400" b="1" dirty="0">
                <a:solidFill>
                  <a:schemeClr val="bg2">
                    <a:lumMod val="90000"/>
                  </a:schemeClr>
                </a:solidFill>
              </a:rPr>
              <a:t>2. Print the below </a:t>
            </a:r>
            <a:r>
              <a:rPr lang="en-IN" sz="2400" b="1" dirty="0">
                <a:solidFill>
                  <a:schemeClr val="bg2">
                    <a:lumMod val="90000"/>
                  </a:schemeClr>
                </a:solidFill>
              </a:rPr>
              <a:t>Series:</a:t>
            </a:r>
          </a:p>
          <a:p>
            <a:pPr marL="514350" indent="-514350">
              <a:buAutoNum type="alphaLcParenR"/>
            </a:pPr>
            <a:r>
              <a:rPr lang="pt-BR" sz="2000" b="1" dirty="0">
                <a:solidFill>
                  <a:schemeClr val="bg2">
                    <a:lumMod val="90000"/>
                  </a:schemeClr>
                </a:solidFill>
              </a:rPr>
              <a:t>2  6  12  20  30  42</a:t>
            </a:r>
          </a:p>
          <a:p>
            <a:pPr marL="514350" indent="-514350">
              <a:buAutoNum type="alphaLcParenR"/>
            </a:pPr>
            <a:r>
              <a:rPr lang="pt-BR" sz="2000" b="1" dirty="0">
                <a:solidFill>
                  <a:schemeClr val="bg2">
                    <a:lumMod val="90000"/>
                  </a:schemeClr>
                </a:solidFill>
              </a:rPr>
              <a:t>2  5  11  23  47  95  191  383  767  1535</a:t>
            </a:r>
          </a:p>
          <a:p>
            <a:pPr marL="514350" indent="-514350">
              <a:buAutoNum type="alphaLcParenR"/>
            </a:pPr>
            <a:r>
              <a:rPr lang="pt-BR" sz="2000" b="1" dirty="0">
                <a:solidFill>
                  <a:schemeClr val="bg2">
                    <a:lumMod val="90000"/>
                  </a:schemeClr>
                </a:solidFill>
              </a:rPr>
              <a:t>3  5  9  17  33</a:t>
            </a:r>
          </a:p>
          <a:p>
            <a:pPr marL="514350" indent="-514350">
              <a:buAutoNum type="alphaLcParenR"/>
            </a:pPr>
            <a:r>
              <a:rPr lang="pt-BR" sz="2000" b="1" dirty="0">
                <a:solidFill>
                  <a:schemeClr val="bg2">
                    <a:lumMod val="90000"/>
                  </a:schemeClr>
                </a:solidFill>
              </a:rPr>
              <a:t>1  2  5  26  677</a:t>
            </a:r>
          </a:p>
          <a:p>
            <a:pPr marL="514350" indent="-514350">
              <a:buAutoNum type="alphaLcParenR"/>
            </a:pPr>
            <a:r>
              <a:rPr lang="pt-BR" sz="2000" b="1" dirty="0">
                <a:solidFill>
                  <a:schemeClr val="bg2">
                    <a:lumMod val="90000"/>
                  </a:schemeClr>
                </a:solidFill>
              </a:rPr>
              <a:t>0  1  1  2  3  5  8  13  21 [Fibonacci Series]</a:t>
            </a:r>
          </a:p>
          <a:p>
            <a:pPr marL="514350" indent="-514350">
              <a:buAutoNum type="alphaLcParenR"/>
            </a:pPr>
            <a:r>
              <a:rPr lang="pt-BR" sz="2000" b="1" dirty="0">
                <a:solidFill>
                  <a:schemeClr val="bg2">
                    <a:lumMod val="90000"/>
                  </a:schemeClr>
                </a:solidFill>
              </a:rPr>
              <a:t>0  1  1  2  4  7  13  24 [Tribonacci Series]</a:t>
            </a:r>
            <a:endParaRPr lang="pt-BR" b="1" dirty="0">
              <a:solidFill>
                <a:schemeClr val="bg2">
                  <a:lumMod val="90000"/>
                </a:schemeClr>
              </a:solidFill>
            </a:endParaRPr>
          </a:p>
          <a:p>
            <a:pPr marL="514350" indent="-514350">
              <a:buAutoNum type="alphaLcParenR"/>
            </a:pPr>
            <a:endParaRPr lang="pt-BR" b="1" dirty="0">
              <a:solidFill>
                <a:schemeClr val="bg2">
                  <a:lumMod val="90000"/>
                </a:schemeClr>
              </a:solidFill>
            </a:endParaRPr>
          </a:p>
          <a:p>
            <a:pPr marL="514350" indent="-514350">
              <a:buAutoNum type="alphaLcParenR"/>
            </a:pPr>
            <a:endParaRPr lang="pt-BR" b="1" dirty="0">
              <a:solidFill>
                <a:schemeClr val="bg2">
                  <a:lumMod val="90000"/>
                </a:schemeClr>
              </a:solidFill>
            </a:endParaRPr>
          </a:p>
          <a:p>
            <a:pPr marL="514350" indent="-514350">
              <a:buAutoNum type="alphaLcParenR"/>
            </a:pPr>
            <a:endParaRPr lang="pt-BR" b="1" dirty="0">
              <a:solidFill>
                <a:schemeClr val="bg2">
                  <a:lumMod val="90000"/>
                </a:schemeClr>
              </a:solidFill>
            </a:endParaRPr>
          </a:p>
          <a:p>
            <a:pPr marL="514350" indent="-514350">
              <a:buAutoNum type="alphaLcParenR"/>
            </a:pPr>
            <a:endParaRPr lang="pt-BR" b="1" dirty="0">
              <a:solidFill>
                <a:schemeClr val="bg2">
                  <a:lumMod val="90000"/>
                </a:schemeClr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DCFEA4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9FEC9F-D06D-FA7E-169F-BD2AA3D4F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b="1" dirty="0"/>
              <a:t>Shambhu Kumar QSpiders | JSpiders, NOIDA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4F5DF0-62B5-2648-4C17-A4F883819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r>
              <a:rPr lang="en-US" sz="4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4400" b="1" smtClean="0">
                <a:solidFill>
                  <a:srgbClr val="FFC000"/>
                </a:solidFill>
              </a:rPr>
              <a:pPr/>
              <a:t>24</a:t>
            </a:fld>
            <a:endParaRPr lang="en-US" sz="4400" b="1" dirty="0">
              <a:solidFill>
                <a:srgbClr val="FFC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DF319-5238-EE99-10C1-2EC5864B7631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822933-BA12-9B38-5597-D4992580F941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F94C26-64FF-A444-2C55-2BA81D8A890B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E3B769-70C7-B82C-CB72-F5938D318334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C7D7FCFC-10CD-FD3D-6B2B-E51EEA54661E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AFD47324-8A5B-7D73-FBB0-ABA56242F879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D38D5231-8437-99A4-8BDC-1827BCDD4973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59F99FE1-61C8-EE32-C508-15C9FA481EC7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710D936B-EF5A-6EC4-5B40-4187B0BD6D90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3D4BB74A-38E3-EEF6-9D49-3F6DE46E9696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1E03AE69-3548-79C1-1212-A2A6E513C38C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DFB89989-7960-A808-5D65-CABF42A34CBE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733E5A7E-005D-599E-F503-7C1AD5C6E471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773F1D16-1518-F5EB-8F07-7F94CBFEBD2E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1F642D0F-1DE9-24D8-7503-E1953BD2ACE2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4EF21859-DD79-7C76-2354-EE257595CC8F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0659687-2467-2B0D-1059-6C562073CCA9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FFFF99"/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CF7057-31EB-489C-5295-00EC071B0F0E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FF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lang="en-IN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C40FAFC-9489-112F-09BE-B4C9BD0BA1C3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FF99"/>
                </a:solidFill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C6AE614-F6C0-E870-8420-C70C377210BD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>
                <a:solidFill>
                  <a:schemeClr val="tx1"/>
                </a:solidFill>
              </a:rPr>
              <a:t>SHAMBHU KUMAR QSpiders |JSpiders | PySpiders, NOIDA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1D9205E-AAB4-916F-43F2-9F602AB84C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182915"/>
            <a:ext cx="2599660" cy="2043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0357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49EDC-C04D-0814-204A-87A5D6E7F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EC955-DC51-F458-C95D-B638B15EA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C000"/>
                </a:solidFill>
              </a:rPr>
              <a:t>Topic: Number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6639A5-B26A-C0F3-B9DE-D54C611C30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534400" cy="5289550"/>
              </a:xfrm>
            </p:spPr>
            <p:txBody>
              <a:bodyPr>
                <a:normAutofit/>
              </a:bodyPr>
              <a:lstStyle/>
              <a:p>
                <a:pPr marL="742950" indent="-742950">
                  <a:buAutoNum type="alphaLcParenR"/>
                </a:pPr>
                <a:r>
                  <a:rPr lang="en-US" b="1" dirty="0">
                    <a:solidFill>
                      <a:srgbClr val="BBF96F"/>
                    </a:solidFill>
                  </a:rPr>
                  <a:t>WAP to calculate permutation or total number of ways of arrangements of n things taken r at a time.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DCFEA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DCFEA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US" b="1" i="1">
                                <a:solidFill>
                                  <a:srgbClr val="DCFEA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solidFill>
                                  <a:srgbClr val="DCFEA4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b="1" i="1">
                                <a:solidFill>
                                  <a:srgbClr val="DCFEA4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sub>
                    </m:sSub>
                    <m:r>
                      <a:rPr lang="en-IN" b="1" i="1">
                        <a:solidFill>
                          <a:srgbClr val="DCFEA4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1" i="1">
                            <a:solidFill>
                              <a:srgbClr val="DCFEA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>
                            <a:solidFill>
                              <a:srgbClr val="DCFEA4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IN" b="1" i="1">
                            <a:solidFill>
                              <a:srgbClr val="DCFEA4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d>
                          <m:dPr>
                            <m:ctrlPr>
                              <a:rPr lang="en-IN" b="1" i="1">
                                <a:solidFill>
                                  <a:srgbClr val="DCFEA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1" i="1">
                                <a:solidFill>
                                  <a:srgbClr val="DCFEA4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IN" b="1" i="1">
                                <a:solidFill>
                                  <a:srgbClr val="DCFEA4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b="1" i="1">
                                <a:solidFill>
                                  <a:srgbClr val="DCFEA4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d>
                        <m:r>
                          <a:rPr lang="en-IN" b="1" i="1">
                            <a:solidFill>
                              <a:srgbClr val="DCFEA4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en-US" b="1" dirty="0">
                  <a:solidFill>
                    <a:srgbClr val="BBF96F"/>
                  </a:solidFill>
                </a:endParaRPr>
              </a:p>
              <a:p>
                <a:pPr marL="742950" indent="-742950">
                  <a:buAutoNum type="alphaLcParenR"/>
                </a:pPr>
                <a:endParaRPr lang="en-US" b="1" dirty="0">
                  <a:solidFill>
                    <a:srgbClr val="BBF96F"/>
                  </a:solidFill>
                </a:endParaRPr>
              </a:p>
              <a:p>
                <a:pPr marL="742950" indent="-742950">
                  <a:buAutoNum type="alphaLcParenR"/>
                </a:pPr>
                <a:endParaRPr lang="en-US" b="1" dirty="0">
                  <a:solidFill>
                    <a:srgbClr val="BBF96F"/>
                  </a:solidFill>
                </a:endParaRPr>
              </a:p>
              <a:p>
                <a:pPr marL="742950" indent="-742950">
                  <a:buAutoNum type="alphaLcParenR"/>
                </a:pPr>
                <a:r>
                  <a:rPr lang="en-US" b="1" dirty="0">
                    <a:solidFill>
                      <a:srgbClr val="DCFEA4"/>
                    </a:solidFill>
                  </a:rPr>
                  <a:t>WAP to calculate combination or total number of ways of selecting r things at a time from n things.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DCFEA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DCFEA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IN" b="1" i="1">
                                <a:solidFill>
                                  <a:srgbClr val="DCFEA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solidFill>
                                  <a:srgbClr val="DCFEA4"/>
                                </a:solidFill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IN" b="1" i="1">
                                <a:solidFill>
                                  <a:srgbClr val="DCFEA4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sub>
                    </m:sSub>
                    <m:r>
                      <a:rPr lang="en-IN" b="1" i="1">
                        <a:solidFill>
                          <a:srgbClr val="DCFEA4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1" i="1">
                            <a:solidFill>
                              <a:srgbClr val="DCFEA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>
                            <a:solidFill>
                              <a:srgbClr val="DCFEA4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IN" b="1" i="1">
                            <a:solidFill>
                              <a:srgbClr val="DCFEA4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b="1" i="1">
                            <a:solidFill>
                              <a:srgbClr val="DCFEA4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  <m:r>
                          <a:rPr lang="en-IN" b="1" i="1">
                            <a:solidFill>
                              <a:srgbClr val="DCFEA4"/>
                            </a:solidFill>
                            <a:latin typeface="Cambria Math" panose="02040503050406030204" pitchFamily="18" charset="0"/>
                          </a:rPr>
                          <m:t>!∗</m:t>
                        </m:r>
                        <m:d>
                          <m:dPr>
                            <m:ctrlPr>
                              <a:rPr lang="en-IN" b="1" i="1">
                                <a:solidFill>
                                  <a:srgbClr val="DCFEA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1" i="1">
                                <a:solidFill>
                                  <a:srgbClr val="DCFEA4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IN" b="1" i="1">
                                <a:solidFill>
                                  <a:srgbClr val="DCFEA4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b="1" i="1">
                                <a:solidFill>
                                  <a:srgbClr val="DCFEA4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d>
                        <m:r>
                          <a:rPr lang="en-IN" b="1" i="1">
                            <a:solidFill>
                              <a:srgbClr val="DCFEA4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en-US" b="1" dirty="0">
                  <a:solidFill>
                    <a:srgbClr val="DCFEA4"/>
                  </a:solidFill>
                </a:endParaRPr>
              </a:p>
              <a:p>
                <a:pPr marL="742950" indent="-742950">
                  <a:buAutoNum type="alphaLcParenR"/>
                </a:pPr>
                <a:endParaRPr lang="en-US" dirty="0">
                  <a:solidFill>
                    <a:srgbClr val="DCFEA4"/>
                  </a:solidFill>
                </a:endParaRPr>
              </a:p>
              <a:p>
                <a:pPr marL="742950" indent="-742950">
                  <a:buAutoNum type="alphaLcParenR"/>
                </a:pPr>
                <a:endParaRPr lang="en-US" b="1" dirty="0">
                  <a:solidFill>
                    <a:schemeClr val="accent6">
                      <a:lumMod val="20000"/>
                      <a:lumOff val="8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US" b="1" dirty="0">
                  <a:solidFill>
                    <a:schemeClr val="accent6">
                      <a:lumMod val="20000"/>
                      <a:lumOff val="8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6639A5-B26A-C0F3-B9DE-D54C611C30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534400" cy="5289550"/>
              </a:xfrm>
              <a:blipFill>
                <a:blip r:embed="rId2"/>
                <a:stretch>
                  <a:fillRect l="-1857" t="-1728" r="-10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D2DFE3-72BA-984B-3143-2261ED59A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b="1" dirty="0"/>
              <a:t>Shambhu Kumar QSpiders | JSpiders, NOIDA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186F1-4A71-F45A-920B-22974A7C2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r>
              <a:rPr lang="en-US" sz="4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4400" b="1" smtClean="0">
                <a:solidFill>
                  <a:srgbClr val="FFC000"/>
                </a:solidFill>
              </a:rPr>
              <a:pPr/>
              <a:t>25</a:t>
            </a:fld>
            <a:endParaRPr lang="en-US" sz="4400" b="1" dirty="0">
              <a:solidFill>
                <a:srgbClr val="FFC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24A14-71FD-0C94-66F5-64E81E645425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1E0076-773D-0FC0-ED61-B1E0B32BAFFE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F0B5A2-E915-351E-123B-AB917EF7591D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3B83D0-FCBE-906B-B72A-72B4A19F21E6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8F5767D4-FAC5-552B-CBCF-B87F1681C324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3CBEF580-2B46-243F-93FF-B71F8DE63275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163FCE5A-3BF5-C2EF-3A12-D1DACB060423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1FBD9E9C-95B6-155C-9AF5-35B7F135EA2E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9E0BB0A8-4F97-265C-2A90-EEA8E7492442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B23F85AC-09E9-4378-0D97-DD5FF11E57EE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4410272C-5398-A030-BED0-7BDF8D6C7904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D8A88F15-06EE-CD67-001F-D38BCDDA28CD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F2B4A3F2-E833-9BC3-9A4A-2F9F278D9CE9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FCEE5F77-07DD-09B9-CC6F-23E9ACE6E159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9A58D86C-4FCE-F394-3C92-92F1C1A82562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C2250240-EAB1-343E-5083-2119C1EBC1BA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89CBE3C-409F-0AB0-78E4-348DCF9ABA30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FFFF99"/>
                </a:solidFill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A492903-1B48-3314-5263-F0F59D0A8BE2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FF99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lang="en-IN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BF1108-35A8-D161-F60B-6E557C448DC7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FF99"/>
                </a:solidFill>
                <a:effectLst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EC03F98-B580-46BC-8182-CF81D3A5DE7E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>
                <a:solidFill>
                  <a:schemeClr val="tx1"/>
                </a:solidFill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1269125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D8DED-5492-FCDF-0273-87D5FB07C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2FDBE-96E4-8410-DBB2-ECA69B8CC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C000"/>
                </a:solidFill>
              </a:rPr>
              <a:t>Topic: Number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36516-3A6F-4494-46C6-E1F2AE6D4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AutoNum type="alphaLcParenR"/>
            </a:pPr>
            <a:r>
              <a:rPr lang="en-IN" b="1" dirty="0">
                <a:solidFill>
                  <a:srgbClr val="DCFEA4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119. Pascal's Triangle II</a:t>
            </a:r>
            <a:endParaRPr lang="en-IN" b="1" dirty="0">
              <a:solidFill>
                <a:srgbClr val="DCFEA4"/>
              </a:solidFill>
            </a:endParaRPr>
          </a:p>
          <a:p>
            <a:pPr marL="742950" indent="-742950">
              <a:buAutoNum type="alphaLcParenR"/>
            </a:pPr>
            <a:r>
              <a:rPr lang="en-IN" b="1" dirty="0">
                <a:solidFill>
                  <a:srgbClr val="DCFEA4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118. Pascal's Triangle</a:t>
            </a:r>
            <a:endParaRPr lang="en-US" dirty="0">
              <a:solidFill>
                <a:srgbClr val="DCFEA4"/>
              </a:solidFill>
            </a:endParaRPr>
          </a:p>
          <a:p>
            <a:pPr marL="742950" indent="-742950">
              <a:buAutoNum type="alphaLcParenR"/>
            </a:pPr>
            <a:r>
              <a:rPr lang="en-US" b="1" dirty="0">
                <a:solidFill>
                  <a:srgbClr val="DCFEA4"/>
                </a:solidFill>
              </a:rPr>
              <a:t>Generate Pascal’s Triangle:</a:t>
            </a:r>
          </a:p>
          <a:p>
            <a:pPr marL="0" indent="0">
              <a:buNone/>
            </a:pPr>
            <a:endParaRPr lang="en-US" b="1" dirty="0">
              <a:solidFill>
                <a:srgbClr val="DCFEA4"/>
              </a:solidFill>
            </a:endParaRPr>
          </a:p>
          <a:p>
            <a:pPr marL="742950" indent="-742950">
              <a:buAutoNum type="alphaLcParenR"/>
            </a:pPr>
            <a:endParaRPr lang="en-US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C9334E-E53F-4DA4-000E-F1BF0B91A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b="1" dirty="0"/>
              <a:t>Shambhu Kumar QSpiders | JSpiders, NOIDA</a:t>
            </a:r>
            <a:endParaRPr lang="en-US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18960-125B-FD3E-9C43-7191A9F27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r>
              <a:rPr lang="en-US" sz="4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4400" b="1" smtClean="0">
                <a:solidFill>
                  <a:srgbClr val="FFC000"/>
                </a:solidFill>
              </a:rPr>
              <a:pPr/>
              <a:t>26</a:t>
            </a:fld>
            <a:endParaRPr lang="en-US" sz="4400" b="1" dirty="0">
              <a:solidFill>
                <a:srgbClr val="FFC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7C36B-3798-29A3-FE53-06928E89AB3E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020BE7-C98E-B6FD-3B16-855B8D34036A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87FF01-4697-1A66-9850-4D724A4F7A43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17BB89-B604-D4F8-742B-FA8F5523D328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37D125A2-B9A4-5128-1447-2BFA112EB9EB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1150E65F-90D3-A1D8-0C46-D33D4B39017C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256EEA23-73D2-A6DE-F9B1-B1264C9D24EB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F5F807E9-BE17-E0E1-8C39-84F9001BB730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9AFA93A9-7847-292C-FEF3-8184C3B6FD88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E8E34867-0D1A-AD14-5F0C-7D8D5D0371CF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02720D80-1696-8F99-B54B-C15C476E4CFE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8B52688E-2861-B52A-DAB9-7CFEF0BD3C06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2BB89F2A-1F69-4251-FA28-BADF3E1EAAF4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22D52741-4726-CDF9-2F0B-049D9434E1C4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F0B7219F-54A5-E9DE-6652-67A33F5D1352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4342BE42-81D1-5F9E-B959-C9DC48784529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2A9B09D-1EE7-48C7-A9AC-F4180113A31E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FFFF99"/>
                </a:solidFill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A06EC2-B095-528E-67B4-612F49BC3BE9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FF99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lang="en-IN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46D861-642D-CDE2-334A-57F3D30D3B5B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FF99"/>
                </a:solidFill>
                <a:effectLst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785CA38-52A2-2DDE-B9C8-A400AA290B6F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>
                <a:solidFill>
                  <a:schemeClr val="tx1"/>
                </a:solidFill>
              </a:rPr>
              <a:t>SHAMBHU KUMAR QSpiders |JSpiders | PySpiders, NOIDA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0C19BC0-9466-9C2E-3ED8-F454B4B86E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941" y="2955364"/>
            <a:ext cx="4744112" cy="319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6932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78ECE-1C10-9541-F90C-161517684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5D7F6-BF6D-9528-FD81-97F923893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C000"/>
                </a:solidFill>
              </a:rPr>
              <a:t>Topic: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25EEA-D21D-DC0E-4C94-883ACE6D4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Font typeface="Arial" pitchFamily="34" charset="0"/>
              <a:buAutoNum type="alphaLcParenR"/>
            </a:pPr>
            <a:r>
              <a:rPr lang="en-US" b="1" dirty="0">
                <a:solidFill>
                  <a:srgbClr val="00FF00"/>
                </a:solidFill>
              </a:rPr>
              <a:t>WAP to  swap two index values of the array. </a:t>
            </a:r>
            <a:r>
              <a:rPr lang="en-US" dirty="0">
                <a:solidFill>
                  <a:srgbClr val="00FF00"/>
                </a:solidFill>
              </a:rPr>
              <a:t>Swap index 1 and 5 elements: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	Original array: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	Swapped array:</a:t>
            </a:r>
            <a:endParaRPr lang="en-US" b="1" dirty="0">
              <a:solidFill>
                <a:srgbClr val="DCFEA4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DCFEA4"/>
              </a:solidFill>
            </a:endParaRPr>
          </a:p>
          <a:p>
            <a:pPr marL="742950" indent="-742950">
              <a:buFont typeface="+mj-lt"/>
              <a:buAutoNum type="alphaLcParenR" startAt="2"/>
            </a:pPr>
            <a:r>
              <a:rPr lang="en-US" b="1" dirty="0">
                <a:solidFill>
                  <a:srgbClr val="DCFEA4"/>
                </a:solidFill>
              </a:rPr>
              <a:t>to print max and min element of array.</a:t>
            </a: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b="1" dirty="0">
              <a:solidFill>
                <a:srgbClr val="DCFEA4"/>
              </a:solidFill>
            </a:endParaRPr>
          </a:p>
          <a:p>
            <a:pPr marL="742950" indent="-742950">
              <a:buAutoNum type="alphaLcParenR" startAt="2"/>
            </a:pPr>
            <a:r>
              <a:rPr lang="en-US" b="1" dirty="0">
                <a:solidFill>
                  <a:srgbClr val="DCFEA4"/>
                </a:solidFill>
              </a:rPr>
              <a:t>For the given array of Strings, print the largest string.</a:t>
            </a:r>
          </a:p>
          <a:p>
            <a:pPr marL="0" indent="0">
              <a:buNone/>
            </a:pPr>
            <a:endParaRPr lang="en-US" b="1" dirty="0">
              <a:solidFill>
                <a:srgbClr val="DCFEA4"/>
              </a:solidFill>
            </a:endParaRPr>
          </a:p>
          <a:p>
            <a:pPr marL="742950" indent="-742950">
              <a:buAutoNum type="alphaLcParenR"/>
            </a:pPr>
            <a:endParaRPr lang="en-US" b="1" dirty="0">
              <a:solidFill>
                <a:srgbClr val="DCFEA4"/>
              </a:solidFill>
            </a:endParaRPr>
          </a:p>
          <a:p>
            <a:pPr marL="742950" indent="-742950">
              <a:buAutoNum type="alphaLcParenR"/>
            </a:pPr>
            <a:endParaRPr lang="en-US" b="1" dirty="0">
              <a:solidFill>
                <a:srgbClr val="DCFEA4"/>
              </a:solidFill>
            </a:endParaRPr>
          </a:p>
          <a:p>
            <a:pPr marL="742950" indent="-742950">
              <a:buAutoNum type="alphaLcParenR"/>
            </a:pPr>
            <a:endParaRPr lang="en-US" b="1" dirty="0">
              <a:solidFill>
                <a:srgbClr val="DCFEA4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853388-3548-8E16-9299-C45DF7FB9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7AC92C-07AA-D7E0-7F55-90889A0B2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07F38-DCE8-A307-1274-95A459330485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0E9760-1C0D-6673-6A60-67853D25A82E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A7D524-8A69-D5E7-5937-556CB10B3651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678705-9F9B-8FE9-146B-475360989B35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F3F3E326-0F11-C809-172C-67CE0FCC5B2F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91A43508-67D0-DD45-B5BF-1653F7B3E16A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C7ACC63E-17DE-94DE-FA97-748D7AE88CB7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DD2E6CB9-5AA0-D42C-3745-A5224A26C4CA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B66AEE09-7DFD-BE82-20D9-570D66D7110F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8CF312C7-B8AF-B24E-06CD-6B8FFBB544FA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DFBF6DAA-DFFD-2247-94BF-4EB2E2BFA99D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681DACAC-4814-FE2C-1812-5DD537CFE54A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BFA11E2B-F6CD-429B-2E6E-4ADAA9EF5745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A1A4D6E3-FF63-397C-9BA8-819148BC2E63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224399EE-54ED-2EA8-3587-540E36966A5E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9D80A05C-61D5-5D80-73F8-0B279F29EBC1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58DA51A-D90B-E849-4312-90C01AFAC7C6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624FC3-D840-7BBF-1DF8-77E630A7AB15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1CA050-E812-F633-8DB9-5A1E348949D2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32DF92A-A290-E084-11C1-69E7408BB265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PySpiders, NOIDA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6C988A-DBB8-0DE0-0CBF-35C4697970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7541" y="2209800"/>
            <a:ext cx="4688230" cy="6462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BF1509D-5E17-C505-6F3E-21A5DF170C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7541" y="2715479"/>
            <a:ext cx="4688230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9758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F2CDE-61AE-9017-9E6E-845EBADD4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4FD3C-38AD-E5A8-3EC6-D0FC8232C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C000"/>
                </a:solidFill>
              </a:rPr>
              <a:t>Topic: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46927-0CCF-04A0-A5FB-9B7796DC5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Font typeface="Arial" pitchFamily="34" charset="0"/>
              <a:buAutoNum type="alphaLcParenR"/>
            </a:pPr>
            <a:r>
              <a:rPr lang="en-US" b="1" dirty="0">
                <a:solidFill>
                  <a:srgbClr val="DCFEA4"/>
                </a:solidFill>
              </a:rPr>
              <a:t>WAP to get sum of all elements of array.</a:t>
            </a:r>
          </a:p>
          <a:p>
            <a:pPr marL="742950" indent="-742950">
              <a:buFont typeface="Arial" pitchFamily="34" charset="0"/>
              <a:buAutoNum type="alphaLcParenR"/>
            </a:pPr>
            <a:endParaRPr lang="en-US" b="1" dirty="0">
              <a:solidFill>
                <a:srgbClr val="DCFEA4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US" b="1" dirty="0">
                <a:solidFill>
                  <a:srgbClr val="DCFEA4"/>
                </a:solidFill>
              </a:rPr>
              <a:t>WAP to get average of all elements of array.</a:t>
            </a:r>
          </a:p>
          <a:p>
            <a:pPr marL="742950" indent="-742950">
              <a:buAutoNum type="alphaLcParenR"/>
            </a:pPr>
            <a:endParaRPr lang="en-US" b="1" dirty="0">
              <a:solidFill>
                <a:srgbClr val="DCFEA4"/>
              </a:solidFill>
            </a:endParaRPr>
          </a:p>
          <a:p>
            <a:pPr marL="742950" indent="-742950">
              <a:buAutoNum type="alphaLcParenR"/>
            </a:pPr>
            <a:r>
              <a:rPr lang="en-US" b="1" dirty="0">
                <a:solidFill>
                  <a:srgbClr val="DCFEA4"/>
                </a:solidFill>
              </a:rPr>
              <a:t>WAP to get average of all elements at even index of array.</a:t>
            </a:r>
          </a:p>
          <a:p>
            <a:pPr marL="742950" indent="-742950">
              <a:buAutoNum type="alphaLcParenR"/>
            </a:pPr>
            <a:endParaRPr lang="en-US" b="1" dirty="0">
              <a:solidFill>
                <a:srgbClr val="DCFEA4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US" b="1" dirty="0">
                <a:solidFill>
                  <a:srgbClr val="99FF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Difference Between Element Sum and Digit Sum of an Array</a:t>
            </a:r>
            <a:endParaRPr lang="en-US" b="1" dirty="0">
              <a:solidFill>
                <a:srgbClr val="99FF99"/>
              </a:solidFill>
            </a:endParaRPr>
          </a:p>
          <a:p>
            <a:pPr marL="742950" indent="-742950">
              <a:buAutoNum type="alphaLcParenR"/>
            </a:pPr>
            <a:endParaRPr lang="en-US" b="1" dirty="0">
              <a:solidFill>
                <a:srgbClr val="DCFEA4"/>
              </a:solidFill>
            </a:endParaRPr>
          </a:p>
          <a:p>
            <a:pPr marL="742950" indent="-742950">
              <a:buAutoNum type="alphaLcParenR"/>
            </a:pPr>
            <a:endParaRPr lang="en-US" b="1" dirty="0">
              <a:solidFill>
                <a:srgbClr val="DCFEA4"/>
              </a:solidFill>
            </a:endParaRPr>
          </a:p>
          <a:p>
            <a:pPr marL="742950" indent="-742950">
              <a:buAutoNum type="alphaLcParenR"/>
            </a:pPr>
            <a:endParaRPr lang="en-US" b="1" dirty="0">
              <a:solidFill>
                <a:srgbClr val="DCFEA4"/>
              </a:solidFill>
            </a:endParaRPr>
          </a:p>
          <a:p>
            <a:pPr marL="742950" indent="-742950">
              <a:buAutoNum type="alphaLcParenR"/>
            </a:pPr>
            <a:endParaRPr lang="en-US" b="1" dirty="0">
              <a:solidFill>
                <a:srgbClr val="DCFEA4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2131D0-F63E-39E1-B8F7-47F63C617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AF1B03-41B0-EF59-E087-6B37C9E69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A739-2B1D-9C70-3981-74B5AC1D9E30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151B95-89F1-96EF-733D-47E403FBEC0D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4578E5-65B3-009B-D0EE-07578508880C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E7E75F-4D1C-34CF-C498-F259E234959D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E6AD84CF-9C0A-3C41-2866-C434B9E2A9B0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8256445B-1053-1067-EB42-EBC907993812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4FF00734-1E98-016E-CEF4-9EA966E47FD0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7B828D8C-F8B7-F658-D878-EA0F414F8EBD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3FF59DB9-AD65-8E0B-44C4-C6C21CC85836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5E9B3E2D-1B4D-E549-0CA6-471F951A4FB9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34A50461-F01A-126D-E3E3-D2CC60C1B6B4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BA02117D-D70F-33DE-7BFD-6F2F741261B3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93145E70-6A4D-AAF7-F8FA-886CE83D704F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6E6B6B92-4DA6-33E0-68E0-620FBB7E94F5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80B39926-FD6D-F90A-BF4A-5209C060DE27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043FBC1C-AA33-287B-30C4-5E394797FE68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808D4FB-2BEB-A66E-FDC3-D8D77289D3C7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3CE2AB-32A0-29A9-3FDE-65CBBD103FF8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6D3788-DA72-690F-C95E-C36386F9EB19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E6D25AD-172E-4784-C9DA-AE24CD2DC19E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7930103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74D41-E2AB-A551-72B7-8C95CDE22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18BCC-6A26-A5F4-D90E-87BF2E7F1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C000"/>
                </a:solidFill>
              </a:rPr>
              <a:t>Topic: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E1BF3-7397-6F50-7177-0319D7722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Font typeface="Arial" pitchFamily="34" charset="0"/>
              <a:buAutoNum type="alphaLcParenR"/>
            </a:pPr>
            <a:r>
              <a:rPr lang="en-US" b="1" dirty="0">
                <a:solidFill>
                  <a:srgbClr val="DCFEA4"/>
                </a:solidFill>
              </a:rPr>
              <a:t>WAP to print and count all prime number elements of array.</a:t>
            </a:r>
          </a:p>
          <a:p>
            <a:pPr marL="742950" indent="-742950">
              <a:buFont typeface="Arial" pitchFamily="34" charset="0"/>
              <a:buAutoNum type="alphaLcParenR"/>
            </a:pPr>
            <a:endParaRPr lang="en-US" b="1" dirty="0">
              <a:solidFill>
                <a:srgbClr val="DCFEA4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IN" b="1" dirty="0">
                <a:solidFill>
                  <a:srgbClr val="BBF96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Maximum Prime Difference</a:t>
            </a:r>
            <a:endParaRPr lang="en-US" b="1" dirty="0">
              <a:solidFill>
                <a:srgbClr val="BBF96F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b="1" dirty="0">
              <a:solidFill>
                <a:srgbClr val="DCFEA4"/>
              </a:solidFill>
            </a:endParaRPr>
          </a:p>
          <a:p>
            <a:pPr marL="742950" indent="-742950">
              <a:buAutoNum type="alphaLcParenR"/>
            </a:pPr>
            <a:endParaRPr lang="en-US" b="1" dirty="0">
              <a:solidFill>
                <a:srgbClr val="DCFEA4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US" b="1" dirty="0">
                <a:solidFill>
                  <a:srgbClr val="DCFEA4"/>
                </a:solidFill>
              </a:rPr>
              <a:t>WAJP to print and count all palindrome number elements of array.</a:t>
            </a:r>
          </a:p>
          <a:p>
            <a:pPr marL="742950" indent="-742950">
              <a:buAutoNum type="alphaLcParenR"/>
            </a:pPr>
            <a:endParaRPr lang="en-US" b="1" dirty="0">
              <a:solidFill>
                <a:srgbClr val="DCFEA4"/>
              </a:solidFill>
            </a:endParaRPr>
          </a:p>
          <a:p>
            <a:pPr marL="742950" indent="-742950">
              <a:buAutoNum type="alphaLcParenR"/>
            </a:pPr>
            <a:endParaRPr lang="en-US" b="1" dirty="0">
              <a:solidFill>
                <a:srgbClr val="DCFEA4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C6269E-C3B5-6472-9E95-AE8C87DE1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EB00C5-16DF-C023-D46B-D4945AD45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14793-87BB-C631-679B-F0BA15E0E9E3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FD8CC6-C3F2-AEEC-1844-3C2D81960C0D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C5CA53-0F1E-A2C9-7D10-56FBD864BF51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E4E6AB-5C4A-DD53-B5B9-9F4476AC1274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378F9C08-88C9-02FF-002D-8A92BA26ACE9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D458DAC2-896F-218B-F6FB-69FD6FF68C85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1CAB7055-B0F2-E55A-EBC2-B4FEDF09D239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0021DF78-C9E5-C16C-B191-B5A345A6B11D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648E7691-4C98-BD9D-5F75-70F6EC2AA134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171FDB0F-53C9-50AF-5AE6-7B6F084EC4A6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8A067B33-B165-BA76-BE28-A454165FB7EF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167880BF-BE64-6565-A2D2-FB2D2CD042EF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DEBCB9C0-4CD7-9DE1-9980-16C5A2A50644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CEDA8912-98D9-82B1-B955-257EB212F8EE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D5EBF9E2-E98E-4CD2-03E1-5033EC0AB1F2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ABD1C956-7AFD-3A85-EC48-1E246228AE2E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4AF35AB-46DA-8982-1D28-46151CF136FF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05C999-3858-5913-7A87-90B75111D34C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F38975-21AA-3CD0-F115-B700E89ABC6E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64B3223-8EF2-75CB-AA3B-5374B2F984B3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9243649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D5471-A3E8-3E01-7617-F9A0FB60D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12590-5519-3A7C-0522-8725C12FA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C000"/>
                </a:solidFill>
              </a:rPr>
              <a:t>Topic: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4DD05-08F4-8414-5B38-CB9BB23E0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Font typeface="Arial" pitchFamily="34" charset="0"/>
              <a:buAutoNum type="alphaLcParenR"/>
            </a:pPr>
            <a:r>
              <a:rPr lang="en-IN" b="1" dirty="0">
                <a:solidFill>
                  <a:srgbClr val="DCFEA4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Monotonic Array</a:t>
            </a:r>
            <a:endParaRPr lang="en-IN" b="1" dirty="0">
              <a:solidFill>
                <a:srgbClr val="DCFEA4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b="1" dirty="0">
              <a:solidFill>
                <a:srgbClr val="DCFEA4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US" sz="2400" b="1" dirty="0">
                <a:solidFill>
                  <a:schemeClr val="bg2">
                    <a:lumMod val="90000"/>
                  </a:schemeClr>
                </a:solidFill>
              </a:rPr>
              <a:t>You are given an integer array coins representing coins of different denominations and an integer amount representing a total amount of money. Write a function to compute the fewest number of coins 	that you need to make up that amount. You must return the count of each specific denomination used.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DCFEA4"/>
                </a:solidFill>
              </a:rPr>
              <a:t>	</a:t>
            </a:r>
            <a:r>
              <a:rPr lang="en-US" sz="2400" b="1" dirty="0" err="1">
                <a:solidFill>
                  <a:srgbClr val="DCFEA4"/>
                </a:solidFill>
              </a:rPr>
              <a:t>i</a:t>
            </a:r>
            <a:r>
              <a:rPr lang="en-US" sz="2400" b="1" dirty="0">
                <a:solidFill>
                  <a:srgbClr val="DCFEA4"/>
                </a:solidFill>
              </a:rPr>
              <a:t>/p: coins = [100, 50, 10, 5, 2, 1], amount = 371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DCFEA4"/>
                </a:solidFill>
              </a:rPr>
              <a:t>	o/p: [3, 1, 2, 0, 0, 1]</a:t>
            </a:r>
          </a:p>
          <a:p>
            <a:pPr marL="0" indent="0">
              <a:buNone/>
            </a:pPr>
            <a:endParaRPr lang="en-US" b="1" dirty="0">
              <a:solidFill>
                <a:srgbClr val="DCFEA4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34D187-A03E-83AE-7F4E-90EAB8E55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050A45-0853-5F83-38D6-EB5AA8A43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6ECA5-8EA7-A26E-1B83-56336ADA7679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33F6A6-13C8-7BDF-DA7A-356E0B08FF31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23438A-E9DE-57B2-FF27-2F72256BE685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3A3F94-DCB8-7C65-385E-F19579ACF268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AED50E2E-B06F-1034-BB75-D737CE3E1741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B80F405A-9BD2-B659-745F-198150A09D80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665D5FB7-CCB0-0ECC-9343-56BD6A9AE959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3391D1AB-FDDA-09BD-AC9F-3B478C96719C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0076EFE0-4AD7-9E37-97B9-C86B7880E7A1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FA208D0C-4578-AE6E-2353-F30C4AEDCCF6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8527FC8D-2290-DE3D-C60B-97DE71A829F7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6A3AF4D2-9770-CA67-133A-5836BE9BE40A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28BF11CF-AD07-C462-A369-C19B3F64D2F4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87C82A5A-AF35-E0C3-9289-D73AF5AF13B8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AAD4EEBA-3BAC-F3E2-8E0D-ADC83C6B1F96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462D5796-CCF6-8C1D-BB82-2B53511804A3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D6C75BA-F4E7-6025-E41C-FF6FDE47E1DB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13453E2-C07D-1B3A-22A4-5C47A5B6E7EB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30BE75-1BDB-98DC-DAB6-F4EC6CC33200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96A6827-FE53-B04F-4E19-BAE053C83D6F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9826119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80C33-36D9-C54A-2237-E14DD0384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460DC-AF6A-3CF9-DFB8-B847694E7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C000"/>
                </a:solidFill>
              </a:rPr>
              <a:t>Topic: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CFB4F-C8A0-C5CE-F9BA-70F1CCEA9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Font typeface="Arial" pitchFamily="34" charset="0"/>
              <a:buAutoNum type="alphaLcParenR"/>
            </a:pPr>
            <a:r>
              <a:rPr lang="en-IN" sz="4400" b="1" dirty="0">
                <a:solidFill>
                  <a:srgbClr val="BBF96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Two Sum</a:t>
            </a:r>
            <a:endParaRPr lang="en-US" sz="4400" b="1" dirty="0">
              <a:solidFill>
                <a:srgbClr val="BBF96F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DCFEA4"/>
              </a:solidFill>
            </a:endParaRPr>
          </a:p>
          <a:p>
            <a:pPr marL="742950" indent="-742950">
              <a:buAutoNum type="alphaLcParenR"/>
            </a:pPr>
            <a:endParaRPr lang="en-US" b="1" dirty="0">
              <a:solidFill>
                <a:srgbClr val="DCFEA4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306BD4-6C17-9B21-644F-EB39081C9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B24445-9B06-69B8-6506-4382572E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27979-EBE7-681E-CA2D-69C59CE819DB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BC29FD-CC89-B097-D2F1-0083D44E9625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27DE6E-9591-87E8-1E07-301891741205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ABEB01-7EC3-64FF-74AB-5A39FCA1404B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B9EF59EC-1CF7-F79F-4A7B-4856653E44AD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2AB742E8-91E5-72A0-C17E-2FF16B4D54CA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DB584C73-9CB6-D0FD-31E5-D30A57017547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9836219B-612E-747D-0ED4-306933B70D93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A67AE398-2D08-8A17-AA29-B44E13FA2015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CD3E96B4-CAAB-DAF4-2D04-C7843280938B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DDA5B8AD-8CB6-C942-F7CF-42FEC65EA8AD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DFBFD704-B6F2-172B-FB20-ECAF0AB79806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8C72595D-A404-1528-B6A1-BD3202F441BB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DA1EDAAC-3AFC-F85F-AD8B-2931FE1AC4A4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50D7D787-93BF-5422-D1D1-ED184899A81E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1C73A7D0-7E9D-4A5D-2C24-75E0F70318D9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FF8C295-5611-58E9-4058-CCBC98BC4C48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C2330B-8C58-7AB7-F6CE-566EFBF2E2CD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3090F65-AF26-8478-8661-9ABF674B95C6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68F89C0-9093-BC9C-8F0E-EE8506CF924B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41886092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FCD55-28D3-A68A-A0C4-83A5F5B7B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93624-191E-4254-2435-6E208B321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C000"/>
                </a:solidFill>
              </a:rPr>
              <a:t>Topic: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61960-56B7-E149-581F-EDE24281D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Font typeface="Arial" pitchFamily="34" charset="0"/>
              <a:buAutoNum type="alphaLcParenR"/>
            </a:pPr>
            <a:r>
              <a:rPr lang="en-IN" b="1" dirty="0">
                <a:solidFill>
                  <a:srgbClr val="DCFEA4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Max Consecutive Ones</a:t>
            </a:r>
            <a:endParaRPr lang="en-US" b="1" dirty="0">
              <a:solidFill>
                <a:srgbClr val="DCFEA4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b="1" dirty="0">
              <a:solidFill>
                <a:srgbClr val="BBF96F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DCFEA4"/>
              </a:solidFill>
            </a:endParaRPr>
          </a:p>
          <a:p>
            <a:pPr marL="742950" indent="-742950">
              <a:buAutoNum type="alphaLcParenR"/>
            </a:pPr>
            <a:endParaRPr lang="en-US" b="1" dirty="0">
              <a:solidFill>
                <a:srgbClr val="DCFEA4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AFA950-FCDE-D836-63A5-7749A9DBA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989AC9-B5FC-603B-D081-2CB49F611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6C0B2-C2AE-17DD-6EAD-CA06B1EDB943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F7BFD2-4810-29C9-E1DA-B84BD9DDAAB3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D07D17-32E5-614B-45DA-C7D3F41F346F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AA2DE9-4DFC-015E-DF8E-6951A78E53B3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570B0D21-C35F-E4FE-3283-26719FA58D6B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9384AECD-09F5-32CE-6C1C-800A5DB1DE27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95C6CA98-986B-D1E1-AE72-9CA5F441695C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C89A6168-CBB9-0733-9415-B916D341682E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A6BF64AA-7080-14B1-A725-494245C0420C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2AF815D5-CBA6-3D6B-7381-06B8CFF53A11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5E0A5399-D68B-18F6-27CA-2D7F3312C40E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9B17350A-2E60-FD63-2367-82E44E8ADBE8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111FE5B9-71BC-DA37-13B9-2CF87993E208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3618E677-494A-0451-6F32-1FB0E465DFCE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705C1EA9-4427-5D87-2113-B764F37DB4F5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24835DC0-A3CD-C464-E8AC-AB5AD0D43137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D961147-C30A-7768-55B9-61A1A1BBC794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BB13D9-AA8B-5569-418D-E98C9FD60136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7180F9-0D58-0A61-B3E2-988693AFA2FF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8C4FFE7-217F-1950-F841-B2DD7205A427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8185088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D2543-9DE7-BB3B-6B5C-A15ECC24B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C6BB7-D1B1-BDEB-8698-D4DDE93B4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C000"/>
                </a:solidFill>
              </a:rPr>
              <a:t>Topic: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EC518-8B55-AA8F-265A-A71EC3A16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Font typeface="Arial" pitchFamily="34" charset="0"/>
              <a:buAutoNum type="alphaLcParenR"/>
            </a:pPr>
            <a:r>
              <a:rPr lang="en-US" b="1" dirty="0">
                <a:solidFill>
                  <a:srgbClr val="DCFEA4"/>
                </a:solidFill>
              </a:rPr>
              <a:t>WAP to find Second distinct biggest element of the array.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DCFEA4"/>
                </a:solidFill>
              </a:rPr>
              <a:t>	int[] a= {80, 80, 43, 50, 38, 63, 58, 80};</a:t>
            </a:r>
          </a:p>
          <a:p>
            <a:pPr marL="0" indent="0">
              <a:buNone/>
            </a:pPr>
            <a:r>
              <a:rPr lang="en-US" b="1" dirty="0">
                <a:solidFill>
                  <a:srgbClr val="DCFEA4"/>
                </a:solidFill>
              </a:rPr>
              <a:t>	o/p</a:t>
            </a:r>
          </a:p>
          <a:p>
            <a:pPr marL="0" indent="0">
              <a:buNone/>
            </a:pPr>
            <a:r>
              <a:rPr lang="en-US" b="1" dirty="0">
                <a:solidFill>
                  <a:srgbClr val="DCFEA4"/>
                </a:solidFill>
              </a:rPr>
              <a:t>	63</a:t>
            </a:r>
          </a:p>
          <a:p>
            <a:pPr marL="514350" indent="-514350">
              <a:buAutoNum type="alphaLcParenR" startAt="2"/>
            </a:pPr>
            <a:r>
              <a:rPr lang="en-US" b="1" dirty="0">
                <a:solidFill>
                  <a:schemeClr val="bg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Largest and Second Largest Practice Problem in Arrays</a:t>
            </a:r>
            <a:endParaRPr lang="en-US" b="1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BBF96F"/>
                </a:solidFill>
              </a:rPr>
              <a:t>c) </a:t>
            </a:r>
            <a:r>
              <a:rPr lang="en-US" b="1" dirty="0">
                <a:solidFill>
                  <a:srgbClr val="DCFEA4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Maximum Product of Two Elements in an Array</a:t>
            </a:r>
            <a:endParaRPr lang="en-US" b="1" dirty="0">
              <a:solidFill>
                <a:srgbClr val="DCFEA4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BBF96F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b="1" dirty="0">
              <a:solidFill>
                <a:srgbClr val="BBF96F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DCFEA4"/>
              </a:solidFill>
            </a:endParaRPr>
          </a:p>
          <a:p>
            <a:pPr marL="742950" indent="-742950">
              <a:buAutoNum type="alphaLcParenR"/>
            </a:pPr>
            <a:endParaRPr lang="en-US" b="1" dirty="0">
              <a:solidFill>
                <a:srgbClr val="DCFEA4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489FA3-94A9-AB79-7F4C-2CB6BB60C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DB4E4-9A2D-C1E8-2B5E-0DF561247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EFC058-8B04-F5A6-98E5-DF2D57C367CF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8DE721-2124-84BB-9480-B4005858D247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6B664C-8AB2-4860-D12D-B849DC1844B7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E36CF8-6487-EAD2-0BC9-C56EE9DEF962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6F5D7EB9-DBC6-62CD-2444-A830625B4689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AF7C364E-2C0F-7F26-7BF2-5A82CAF7F41C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A69E931F-60D2-AC54-83C0-60A38B623916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BF6D5A4C-F7B9-327D-E86D-1FE08BDE5A2C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75BB5C7C-54FE-BAF2-CCBF-FA0A776BB167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772495E1-57B3-736A-E1B8-6FB4B262737C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312B59AB-FF53-7742-C3C1-DE7FE1480628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95BD6F1F-40A7-A92C-AF9B-020CF386AA7B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FD22EF09-C833-2DE6-0683-8BEA7086D7A5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CAD54D51-B6E5-A755-5753-84D01895E952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58A310C9-13F6-2B74-084D-B583E85E4747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ECA2F880-C964-CBC8-6917-1876E6812DB1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1E40AEF-65E7-96DC-2276-AAE6CF6AA0E0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86542E-CF4E-E3FB-C12B-A700524AE7BA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DBAC3A-5100-B462-BFC9-E6CDD654C673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9E73CA6-C9FF-0980-5251-3E6AF4F04811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8110684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F1D61-2934-3AF5-6562-06E32B96E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DB77A-E861-2CC5-89A7-CC5E52B05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C000"/>
                </a:solidFill>
              </a:rPr>
              <a:t>Topic: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346C2-5A9B-BCEA-7DB5-A07056DB2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 lnSpcReduction="10000"/>
          </a:bodyPr>
          <a:lstStyle/>
          <a:p>
            <a:pPr marL="742950" indent="-742950">
              <a:buFont typeface="Arial" pitchFamily="34" charset="0"/>
              <a:buAutoNum type="alphaLcParenR"/>
            </a:pPr>
            <a:r>
              <a:rPr lang="en-US" b="1" dirty="0">
                <a:solidFill>
                  <a:srgbClr val="00FF00"/>
                </a:solidFill>
              </a:rPr>
              <a:t>WAP to print Second Smallest element of the array.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BBF96F"/>
                </a:solidFill>
              </a:rPr>
              <a:t>	</a:t>
            </a:r>
            <a:r>
              <a:rPr lang="en-IN" b="1" dirty="0">
                <a:solidFill>
                  <a:srgbClr val="FFFF99"/>
                </a:solidFill>
              </a:rPr>
              <a:t>int[] </a:t>
            </a:r>
            <a:r>
              <a:rPr lang="en-IN" b="1" u="sng" dirty="0">
                <a:solidFill>
                  <a:srgbClr val="FFFF99"/>
                </a:solidFill>
              </a:rPr>
              <a:t>a</a:t>
            </a:r>
            <a:r>
              <a:rPr lang="en-IN" b="1" dirty="0">
                <a:solidFill>
                  <a:srgbClr val="FFFF99"/>
                </a:solidFill>
              </a:rPr>
              <a:t>= {80, 80, 43, 50, 38, 63, 38, 80};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FF99"/>
                </a:solidFill>
              </a:rPr>
              <a:t>	o/p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FF99"/>
                </a:solidFill>
              </a:rPr>
              <a:t>	38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b) 	WAP to print Second distinct Smallest 	element of the array.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BBF96F"/>
                </a:solidFill>
              </a:rPr>
              <a:t>	</a:t>
            </a:r>
            <a:r>
              <a:rPr lang="en-IN" b="1" dirty="0">
                <a:solidFill>
                  <a:srgbClr val="FFFF99"/>
                </a:solidFill>
              </a:rPr>
              <a:t>int[] </a:t>
            </a:r>
            <a:r>
              <a:rPr lang="en-IN" b="1" u="sng" dirty="0">
                <a:solidFill>
                  <a:srgbClr val="FFFF99"/>
                </a:solidFill>
              </a:rPr>
              <a:t>a</a:t>
            </a:r>
            <a:r>
              <a:rPr lang="en-IN" b="1" dirty="0">
                <a:solidFill>
                  <a:srgbClr val="FFFF99"/>
                </a:solidFill>
              </a:rPr>
              <a:t>= {80, 80, 43, 50, 38, 63, 38, 80};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FF99"/>
                </a:solidFill>
              </a:rPr>
              <a:t>	o/p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FF99"/>
                </a:solidFill>
              </a:rPr>
              <a:t>	43</a:t>
            </a:r>
          </a:p>
          <a:p>
            <a:pPr marL="0" indent="0">
              <a:buNone/>
            </a:pPr>
            <a:endParaRPr lang="en-IN" b="1" dirty="0">
              <a:solidFill>
                <a:srgbClr val="FFFF99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BBF96F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DCFEA4"/>
              </a:solidFill>
            </a:endParaRPr>
          </a:p>
          <a:p>
            <a:pPr marL="742950" indent="-742950">
              <a:buAutoNum type="alphaLcParenR"/>
            </a:pPr>
            <a:endParaRPr lang="en-US" b="1" dirty="0">
              <a:solidFill>
                <a:srgbClr val="DCFEA4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183EB1-B769-D84D-7A01-F8EC3EDCE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948694-15BC-8583-6C9A-5FFB28528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B18AE-66B0-366D-E920-F655683DCCB2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2B3E05-9529-E1FE-22E5-5F95966EC5BB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530ABE-1DD8-F22E-681F-90FAD1AE9966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87EBCC-4B12-7574-4E60-A47F3F8834F8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9ADFE29C-A564-4D2A-EFBF-6CCBCEB16D4F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21E65F2C-7AC3-1CCE-BFC9-231E75D60786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12E3224A-4C8E-6D4B-4B79-F0B6F3F876AF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F6F8A48B-9030-EA99-D962-50BCFAA7F8BF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487E0001-9982-4D39-8FF1-6516D5F7E7E4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93194544-5FC7-725B-B18F-AB221053280B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117D580C-FA6A-B96A-57A2-C5DF9B33A86E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F308BFEA-EA97-B014-85EE-0A629F937581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12E51DCB-78FE-FD86-69BB-3447C284FE20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CEE5BF79-D302-D3DB-A524-69C6147E0BD8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989A336C-30C0-5032-86B9-5285870EB3D7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4FFCBBB7-56F6-409E-6698-511A1ED891FA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B8EB653-6643-038E-198B-72B7163F646D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50FD6A-1F91-CC1F-E5AD-F560AE5B938C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D290481-B532-18E3-7B0E-DD2281876A42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9B0548E-E25C-AD79-EA46-7D7BDFEDA953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1487339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147D1-A32E-7D7E-5BB5-57761A3DE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653B4-1BED-FF87-585B-CCE192715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C000"/>
                </a:solidFill>
              </a:rPr>
              <a:t>Topic: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81D95-DD8E-D58D-909C-3D4F21373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Font typeface="Arial" pitchFamily="34" charset="0"/>
              <a:buAutoNum type="alphaLcParenR"/>
            </a:pPr>
            <a:r>
              <a:rPr lang="en-IN" sz="4000" b="1" dirty="0">
                <a:solidFill>
                  <a:srgbClr val="FFFF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Third Maximum Number</a:t>
            </a:r>
            <a:endParaRPr lang="en-US" sz="4000" b="1" dirty="0">
              <a:solidFill>
                <a:srgbClr val="FFFF99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BBF96F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DCFEA4"/>
              </a:solidFill>
            </a:endParaRPr>
          </a:p>
          <a:p>
            <a:pPr marL="742950" indent="-742950">
              <a:buAutoNum type="alphaLcParenR"/>
            </a:pPr>
            <a:endParaRPr lang="en-US" b="1" dirty="0">
              <a:solidFill>
                <a:srgbClr val="DCFEA4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E27148-3951-67D2-0199-5AA8CE9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9C3F65-7843-BC95-DC3A-A661BDD79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93DA9-E67B-683E-E5FA-5042FF73D13B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4EFF93-C338-41E7-6F0D-AFC62A595432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345AC1-3C39-A5F0-6AFC-97550E52C6A0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2FC6E4-43C8-E28F-FDF6-21A83DE9F5BF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DAE7B4DE-20BD-A0A2-DAD1-71FFCA693737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5F926E7B-94C1-DA05-C034-EB4AE0087836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13C0079D-8954-6FDE-5489-1AC9380B0857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00CA5F0C-9506-1440-E29E-83732DA7D1D5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53449A8A-927F-44A2-BE86-F31A7E6F2ABE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7F00CCF0-EBB5-9E38-B85C-0CBDD2121A94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6FB994E1-1819-E608-A773-36CCF43B3E2F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523F5E3C-28AB-2A38-B3F3-3048A3986EF3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440421D1-2ED8-C240-E12D-20991433F2E5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43E1E6EC-1B50-AE9D-D58D-302CC1108D0D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FB879AB7-7133-CA10-2570-6156892663C2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2BDD421A-1067-3117-0EE1-8E2909262637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3B17B0E-C642-07D2-E993-6B5AC4C45574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32506CE-1201-6698-8CC2-5F9D6952D732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5114C66-76A1-5C92-28F9-76E2EAF1C9A7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34999E5-16CE-570B-321F-FCDED677633A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6283164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0FB7F-A2D2-E4BA-BFCF-F3A857D84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83156-510A-3673-696E-49877C2AF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C000"/>
                </a:solidFill>
              </a:rPr>
              <a:t>Topic: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EED5A-9B4A-CA1D-FD1B-026482960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99FF99"/>
                </a:solidFill>
              </a:rPr>
              <a:t>a) </a:t>
            </a:r>
            <a:r>
              <a:rPr lang="en-US" sz="3600" b="1" dirty="0">
                <a:solidFill>
                  <a:srgbClr val="99FF99"/>
                </a:solidFill>
              </a:rPr>
              <a:t>Sunlight Problem: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FF99"/>
                </a:solidFill>
              </a:rPr>
              <a:t>In left side we have sun and array contains height of buildings. How many buildings will get sun light?</a:t>
            </a:r>
          </a:p>
          <a:p>
            <a:pPr marL="0" indent="0">
              <a:buNone/>
            </a:pPr>
            <a:r>
              <a:rPr lang="en-US" sz="2800" b="1" dirty="0" err="1">
                <a:solidFill>
                  <a:srgbClr val="FFFF99"/>
                </a:solidFill>
              </a:rPr>
              <a:t>i</a:t>
            </a:r>
            <a:r>
              <a:rPr lang="en-US" sz="2800" b="1" dirty="0">
                <a:solidFill>
                  <a:srgbClr val="FFFF99"/>
                </a:solidFill>
              </a:rPr>
              <a:t>/p:[4, 2, 6, 8, 5, 7, 12, 6]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FF99"/>
                </a:solidFill>
              </a:rPr>
              <a:t>o/p: 4</a:t>
            </a:r>
          </a:p>
          <a:p>
            <a:pPr marL="0" indent="0">
              <a:buNone/>
            </a:pPr>
            <a:r>
              <a:rPr lang="en-US" sz="3600" b="1" dirty="0">
                <a:solidFill>
                  <a:srgbClr val="99FF99"/>
                </a:solidFill>
              </a:rPr>
              <a:t>b) Sunlight Problem:</a:t>
            </a:r>
          </a:p>
          <a:p>
            <a:pPr marL="0" indent="0">
              <a:buNone/>
            </a:pPr>
            <a:r>
              <a:rPr lang="en-US" sz="2600" b="1" dirty="0">
                <a:solidFill>
                  <a:srgbClr val="FFFF99"/>
                </a:solidFill>
              </a:rPr>
              <a:t>In left side we have sun and array contains height of buildings. Get index of all buildings which will get sun light?</a:t>
            </a:r>
          </a:p>
          <a:p>
            <a:pPr marL="0" indent="0">
              <a:buNone/>
            </a:pPr>
            <a:r>
              <a:rPr lang="en-US" sz="2600" b="1" dirty="0" err="1">
                <a:solidFill>
                  <a:srgbClr val="FFFF99"/>
                </a:solidFill>
              </a:rPr>
              <a:t>i</a:t>
            </a:r>
            <a:r>
              <a:rPr lang="en-US" sz="2600" b="1" dirty="0">
                <a:solidFill>
                  <a:srgbClr val="FFFF99"/>
                </a:solidFill>
              </a:rPr>
              <a:t>/p:[4, 2, 6, 8, 5, 7, 12, 6]</a:t>
            </a:r>
          </a:p>
          <a:p>
            <a:pPr marL="0" indent="0">
              <a:buNone/>
            </a:pPr>
            <a:r>
              <a:rPr lang="en-US" sz="2600" b="1" dirty="0">
                <a:solidFill>
                  <a:srgbClr val="FFFF99"/>
                </a:solidFill>
              </a:rPr>
              <a:t>o/p: [0, 2, 3, 6]</a:t>
            </a:r>
            <a:endParaRPr lang="en-US" b="1" dirty="0">
              <a:solidFill>
                <a:srgbClr val="BBF96F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110050-1A57-D074-2BEB-8DB1DA0D2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5ED70A-14F4-23C6-B175-84C026662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E9F71-24B5-F18F-D48A-6733F7654497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B016C4-9ADF-2E38-CEFB-755B7FD529C7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F4531C-989F-82B8-0057-747162FB1E73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6D53CB-042C-123E-BBC9-90AA63B2CD64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5AD38223-9FE4-F149-65F1-670140DA9B32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3BBEFDDA-714F-064B-9D42-A69B4963E05E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3545426A-F88E-00C8-01F2-DF68320E97A0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5BDD18C3-502A-5CCF-AA05-BF6FDBB565AC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6DA9BE0F-3D85-280F-6A12-A7583AC12E93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385D51B6-F631-8F4D-9C4E-FADEDE088674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DEA02790-F9AE-FFC1-E4DA-C7A5262CDD64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802593DD-D4EA-D87D-4699-332AB881C06F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474D3D42-7CEA-2065-3AFD-5D180ED4A5DF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EF8A0520-9F1B-30CA-4DB6-FCB892D47CD7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359770F0-0BAE-A71F-41CD-60BAD023EA7C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E5A24BEC-24F9-F530-3260-FD705CE20E36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E7D9415-F2BF-5DF9-ED7E-1AF72473EE2F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D5944B-9992-332E-FD45-6F783916BBBF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2F28F27-4AFC-0302-F437-298BFFD6B225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4758040-8891-8C8B-8500-6534B1227283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1400976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39642-741B-37B0-65A0-09C4C6B92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F6611-13FB-F241-E12A-092C2CD7D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C000"/>
                </a:solidFill>
              </a:rPr>
              <a:t>Topic: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6EC19-8F26-F6EA-F355-692092975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b="1" u="sng" dirty="0">
                <a:solidFill>
                  <a:srgbClr val="99FF99"/>
                </a:solidFill>
              </a:rPr>
              <a:t>a) </a:t>
            </a:r>
            <a:r>
              <a:rPr lang="en-US" sz="3600" b="1" u="sng" dirty="0">
                <a:solidFill>
                  <a:srgbClr val="99FF99"/>
                </a:solidFill>
              </a:rPr>
              <a:t>Oceanview Problem:</a:t>
            </a:r>
          </a:p>
          <a:p>
            <a:pPr marL="0" indent="0">
              <a:buNone/>
            </a:pPr>
            <a:r>
              <a:rPr lang="en-US" sz="3000" b="1" dirty="0">
                <a:solidFill>
                  <a:srgbClr val="FFFF99"/>
                </a:solidFill>
              </a:rPr>
              <a:t>In right side we have Ocean and array contains height of buildings. How many buildings will get Ocean view?</a:t>
            </a:r>
          </a:p>
          <a:p>
            <a:pPr marL="0" indent="0">
              <a:buNone/>
            </a:pPr>
            <a:r>
              <a:rPr lang="en-US" sz="3000" b="1" dirty="0" err="1">
                <a:solidFill>
                  <a:srgbClr val="FFFF99"/>
                </a:solidFill>
              </a:rPr>
              <a:t>i</a:t>
            </a:r>
            <a:r>
              <a:rPr lang="en-US" sz="3000" b="1" dirty="0">
                <a:solidFill>
                  <a:srgbClr val="FFFF99"/>
                </a:solidFill>
              </a:rPr>
              <a:t>/p:[4, 2, 6, 18, 5, 7, 12, 6]</a:t>
            </a:r>
          </a:p>
          <a:p>
            <a:pPr marL="0" indent="0">
              <a:buNone/>
            </a:pPr>
            <a:r>
              <a:rPr lang="en-US" sz="3000" b="1" dirty="0">
                <a:solidFill>
                  <a:srgbClr val="FFFF99"/>
                </a:solidFill>
              </a:rPr>
              <a:t>o/p: 3</a:t>
            </a:r>
          </a:p>
          <a:p>
            <a:pPr marL="0" indent="0">
              <a:buNone/>
            </a:pPr>
            <a:r>
              <a:rPr lang="en-US" sz="3600" b="1" u="sng" dirty="0">
                <a:solidFill>
                  <a:srgbClr val="99FF99"/>
                </a:solidFill>
              </a:rPr>
              <a:t>b) Oceanview Problem:</a:t>
            </a:r>
          </a:p>
          <a:p>
            <a:pPr marL="0" indent="0">
              <a:buNone/>
            </a:pPr>
            <a:r>
              <a:rPr lang="en-US" sz="3000" b="1" dirty="0">
                <a:solidFill>
                  <a:srgbClr val="FFFF99"/>
                </a:solidFill>
              </a:rPr>
              <a:t>In right side we have Ocean and array contains height of buildings. Get all the index of buildings which will get Ocean view?</a:t>
            </a:r>
          </a:p>
          <a:p>
            <a:pPr marL="0" indent="0">
              <a:buNone/>
            </a:pPr>
            <a:r>
              <a:rPr lang="en-US" sz="3000" b="1" dirty="0" err="1">
                <a:solidFill>
                  <a:srgbClr val="FFFF99"/>
                </a:solidFill>
              </a:rPr>
              <a:t>i</a:t>
            </a:r>
            <a:r>
              <a:rPr lang="en-US" sz="3000" b="1" dirty="0">
                <a:solidFill>
                  <a:srgbClr val="FFFF99"/>
                </a:solidFill>
              </a:rPr>
              <a:t>/p:[4, 2, 6, 18, 5, 7, 12, 6]</a:t>
            </a:r>
          </a:p>
          <a:p>
            <a:pPr marL="0" indent="0">
              <a:buNone/>
            </a:pPr>
            <a:r>
              <a:rPr lang="en-US" sz="3000" b="1" dirty="0">
                <a:solidFill>
                  <a:srgbClr val="FFFF99"/>
                </a:solidFill>
              </a:rPr>
              <a:t>o/p: [3,6,7]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C84FC8-BDBE-48F4-33F1-A1C01B310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7E4B4F-CCC3-F81C-44C0-83DE6834B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69EE2-DB4B-71C5-908F-2AFEBCB6EB1A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CDDE8C-0031-902F-C1BE-71916CB9730F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B8B20B-3432-3E02-335D-8F4A00AAFA91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9EBAFF-3321-5BFC-38F5-A647403F243B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22873B04-D0B2-9B05-4DD6-59DB8B859B3C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3778BA80-61E8-4B45-4D2A-FDE54B4EEA1C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7DBA2CB0-0A82-8008-5258-05E303601B0E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BF79E2AE-3F35-F6C6-8A89-E38712334B9B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E8BA801D-A48B-64AB-3A77-4C402F478F4A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F2D1A766-BDBC-FA50-B6B4-551716C10E1E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7955490D-64EA-974E-FDA1-62FE3A8E9740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C0000964-6089-A4F5-D3EB-C3C4631F0D74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5C8F2942-5921-5A45-4101-DE36F9A1C699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13D48870-34E6-59CF-3E4D-A135A790990A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7C5FF439-B22C-2C28-8F74-F3F886A70463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5D5015CF-B2C8-2EED-DD5B-17FED115ECD9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32FA7B9-8679-6E56-67F3-26B7BD469028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C5BDCD-24F7-EA6C-41AD-16FC6B14F268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E948D15-2B39-DCD1-2B0C-288B82FE4A91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93657CE-A818-1939-F43B-E514740B067D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7970672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02DD6-E4B0-8215-7410-A3771F749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9B46A-3DDD-9725-B6A5-0400C0B5A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C000"/>
                </a:solidFill>
              </a:rPr>
              <a:t>Topic: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17DBE-8F7C-121B-7639-7415DECF5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Font typeface="Arial" pitchFamily="34" charset="0"/>
              <a:buAutoNum type="alphaLcParenR"/>
            </a:pPr>
            <a:r>
              <a:rPr lang="en-IN" b="1" dirty="0">
                <a:solidFill>
                  <a:srgbClr val="DCFEA4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Missing Number</a:t>
            </a:r>
            <a:endParaRPr lang="en-IN" b="1" dirty="0">
              <a:solidFill>
                <a:srgbClr val="DCFEA4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b="1" dirty="0">
              <a:solidFill>
                <a:srgbClr val="DCFEA4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US" b="1" dirty="0">
                <a:solidFill>
                  <a:srgbClr val="BBF96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Smallest Index With Digit Sum Equal to Index</a:t>
            </a:r>
            <a:endParaRPr lang="en-US" b="1" dirty="0">
              <a:solidFill>
                <a:srgbClr val="BBF96F"/>
              </a:solidFill>
            </a:endParaRPr>
          </a:p>
          <a:p>
            <a:pPr marL="0" indent="0">
              <a:buNone/>
            </a:pPr>
            <a:endParaRPr lang="en-IN" b="1" dirty="0">
              <a:solidFill>
                <a:srgbClr val="DCFEA4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b="1" dirty="0">
              <a:solidFill>
                <a:srgbClr val="DCFEA4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b="1" dirty="0">
              <a:solidFill>
                <a:srgbClr val="DCFEA4"/>
              </a:solidFill>
            </a:endParaRPr>
          </a:p>
          <a:p>
            <a:pPr marL="742950" indent="-742950">
              <a:buAutoNum type="alphaLcParenR"/>
            </a:pPr>
            <a:endParaRPr lang="en-US" b="1" dirty="0">
              <a:solidFill>
                <a:srgbClr val="DCFEA4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0C6A20-DE39-8275-886D-EA1C76DE6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D28A60-DF87-C81F-AB73-DCE21E274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FE75B-80D9-FA9C-5250-00C4A64F3E8C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E9B096-3241-BA03-11BE-EE3DC859251C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426138-66F0-03A0-A349-8BC00201F876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567893-2A1D-ECF9-7984-56E36FA7BA10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2CD0837B-C70E-FEF4-BD1D-1729D7B73EB8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A6F396C6-2D6F-D307-315A-7C484F4A4D93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EB347228-9C1D-FF9A-EB08-A39DF9AA6460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F89B5F9C-9815-7687-B58A-8DA57E33950A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ED4374F7-3B86-2D52-94F1-EDCC14863E2B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7348686F-A8C5-A760-3D69-7F52CE8863B6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19954D14-A93D-A64F-5225-C1BBE250BB37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19471AD2-CB14-C235-ED18-516E9D118881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97CE97D3-B607-67CB-39DD-49DFF39CF01A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46F17CA0-F19F-A8DB-444C-025CCB9E2B70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C6F24AEE-2BE9-FCEB-3E4C-F0098C0E59F2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85E73811-DF2E-C23A-4701-DCBF360E355A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CB39022-752B-60D5-405E-D089ED7B34A7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BE9BEA-B741-6585-3A44-9F15F847B204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E83394-FE6F-DE6E-C3F4-87C190006111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B1B2FCB-5B7D-6C41-98A4-65EC4CF99E9A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0672187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C0B1A-CDA2-B4BB-A46E-85E04843C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D7B9D-CB3F-06D4-6E74-59F3A19C5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C000"/>
                </a:solidFill>
              </a:rPr>
              <a:t>Topic: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834AC-5837-C92D-FB3C-A25025AE1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Font typeface="Arial" pitchFamily="34" charset="0"/>
              <a:buAutoNum type="alphaLcParenR"/>
            </a:pPr>
            <a:r>
              <a:rPr lang="en-US" b="1" dirty="0">
                <a:solidFill>
                  <a:srgbClr val="53E810"/>
                </a:solidFill>
              </a:rPr>
              <a:t>WAP to remove an element from the certain position of the array.</a:t>
            </a:r>
          </a:p>
          <a:p>
            <a:pPr marL="0" lvl="0" indent="0">
              <a:buNone/>
              <a:defRPr/>
            </a:pPr>
            <a:r>
              <a:rPr lang="en-US" b="1" dirty="0">
                <a:solidFill>
                  <a:srgbClr val="53E810"/>
                </a:solidFill>
              </a:rPr>
              <a:t>Original array:</a:t>
            </a:r>
          </a:p>
          <a:p>
            <a:pPr marL="0" lvl="0" indent="0">
              <a:buNone/>
              <a:defRPr/>
            </a:pPr>
            <a:r>
              <a:rPr lang="en-US" b="1" dirty="0">
                <a:solidFill>
                  <a:srgbClr val="53E810"/>
                </a:solidFill>
              </a:rPr>
              <a:t>Updated array:</a:t>
            </a:r>
          </a:p>
          <a:p>
            <a:pPr marL="0" indent="0">
              <a:buNone/>
            </a:pPr>
            <a:endParaRPr lang="en-IN" b="1" dirty="0">
              <a:solidFill>
                <a:srgbClr val="53E810"/>
              </a:solidFill>
            </a:endParaRPr>
          </a:p>
          <a:p>
            <a:pPr marL="514350" indent="-514350">
              <a:buAutoNum type="alphaLcParenR" startAt="2"/>
            </a:pPr>
            <a:r>
              <a:rPr lang="en-US" b="1" dirty="0">
                <a:solidFill>
                  <a:srgbClr val="53E810"/>
                </a:solidFill>
              </a:rPr>
              <a:t>WAP to insert an element at the certain position of the array.</a:t>
            </a:r>
          </a:p>
          <a:p>
            <a:pPr marL="0" lvl="0" indent="0">
              <a:buNone/>
              <a:defRPr/>
            </a:pPr>
            <a:r>
              <a:rPr lang="en-US" b="1" dirty="0">
                <a:solidFill>
                  <a:srgbClr val="53E810"/>
                </a:solidFill>
              </a:rPr>
              <a:t>Original array:</a:t>
            </a:r>
          </a:p>
          <a:p>
            <a:pPr marL="0" lvl="0" indent="0">
              <a:buNone/>
              <a:defRPr/>
            </a:pPr>
            <a:r>
              <a:rPr lang="en-US" b="1" dirty="0">
                <a:solidFill>
                  <a:srgbClr val="53E810"/>
                </a:solidFill>
              </a:rPr>
              <a:t>Updated array:</a:t>
            </a:r>
          </a:p>
          <a:p>
            <a:pPr marL="0" indent="0">
              <a:buNone/>
            </a:pPr>
            <a:endParaRPr lang="en-US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endParaRPr lang="en-IN" b="1" dirty="0">
              <a:solidFill>
                <a:srgbClr val="DCFEA4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b="1" dirty="0">
              <a:solidFill>
                <a:srgbClr val="DCFEA4"/>
              </a:solidFill>
            </a:endParaRPr>
          </a:p>
          <a:p>
            <a:pPr marL="742950" indent="-742950">
              <a:buAutoNum type="alphaLcParenR"/>
            </a:pPr>
            <a:endParaRPr lang="en-US" b="1" dirty="0">
              <a:solidFill>
                <a:srgbClr val="DCFEA4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23A897-3DCA-F7E9-6E83-9EAB0D0A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B08CBE-2A39-D8FE-64ED-3D8ED1A8D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2417A-6360-7362-192C-5023D63DF302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D3D9CE-DC60-E38B-CE97-A4819F10FC4C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C153A6-75C1-6476-2E4D-7CFDDB8DBA7E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8374B3-D0A7-0A2A-E391-107D1FFC25D2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7156B65D-1855-DF59-2C3D-C4C42753D649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4835FA09-DD14-9C6C-EF5F-00F4E436CB41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FA75A293-B872-D2D9-3067-991CD44EC861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B73F12D8-A310-D296-F81D-24E32716A6BF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7DE339E4-CD96-6C84-D9FD-5836788093C4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1A2D9444-774F-3BE4-522D-9930828C88AE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D7A732AA-EFAD-338B-D42B-42EF6A461417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A27531EB-58CF-09EA-699B-6F39671688A5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C9921C1D-AEFC-1ADB-1AC7-1CF1DA167991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544CAA34-90EE-ED52-95E1-398163572C3A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836113C4-C885-E1E1-CB41-09E6E1538A25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E0E998C6-CAF9-5B93-83B6-E7B9BEC47CCF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86C7B20-07D6-C04F-7869-D2BAEDCDFD6D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F6B339-6BDB-7F79-7445-137DA37B5EFB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2AD80F-E04B-2F5A-2858-0B8FC9EC359D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42B24F3-9B05-4305-AE2B-8CF6489C52C1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PySpiders, NOIDA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47FC84AF-A88D-9DB0-49B6-0EC39ACD71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7211326"/>
              </p:ext>
            </p:extLst>
          </p:nvPr>
        </p:nvGraphicFramePr>
        <p:xfrm>
          <a:off x="3124200" y="2209800"/>
          <a:ext cx="4648203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4029">
                  <a:extLst>
                    <a:ext uri="{9D8B030D-6E8A-4147-A177-3AD203B41FA5}">
                      <a16:colId xmlns:a16="http://schemas.microsoft.com/office/drawing/2014/main" val="230121204"/>
                    </a:ext>
                  </a:extLst>
                </a:gridCol>
                <a:gridCol w="664029">
                  <a:extLst>
                    <a:ext uri="{9D8B030D-6E8A-4147-A177-3AD203B41FA5}">
                      <a16:colId xmlns:a16="http://schemas.microsoft.com/office/drawing/2014/main" val="3483373329"/>
                    </a:ext>
                  </a:extLst>
                </a:gridCol>
                <a:gridCol w="664029">
                  <a:extLst>
                    <a:ext uri="{9D8B030D-6E8A-4147-A177-3AD203B41FA5}">
                      <a16:colId xmlns:a16="http://schemas.microsoft.com/office/drawing/2014/main" val="4257941926"/>
                    </a:ext>
                  </a:extLst>
                </a:gridCol>
                <a:gridCol w="664029">
                  <a:extLst>
                    <a:ext uri="{9D8B030D-6E8A-4147-A177-3AD203B41FA5}">
                      <a16:colId xmlns:a16="http://schemas.microsoft.com/office/drawing/2014/main" val="2844113168"/>
                    </a:ext>
                  </a:extLst>
                </a:gridCol>
                <a:gridCol w="664029">
                  <a:extLst>
                    <a:ext uri="{9D8B030D-6E8A-4147-A177-3AD203B41FA5}">
                      <a16:colId xmlns:a16="http://schemas.microsoft.com/office/drawing/2014/main" val="3703500012"/>
                    </a:ext>
                  </a:extLst>
                </a:gridCol>
                <a:gridCol w="664029">
                  <a:extLst>
                    <a:ext uri="{9D8B030D-6E8A-4147-A177-3AD203B41FA5}">
                      <a16:colId xmlns:a16="http://schemas.microsoft.com/office/drawing/2014/main" val="3507071015"/>
                    </a:ext>
                  </a:extLst>
                </a:gridCol>
                <a:gridCol w="664029">
                  <a:extLst>
                    <a:ext uri="{9D8B030D-6E8A-4147-A177-3AD203B41FA5}">
                      <a16:colId xmlns:a16="http://schemas.microsoft.com/office/drawing/2014/main" val="111109849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880337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6C9A50D2-902B-2176-94B3-D7481E2B3F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0762815"/>
              </p:ext>
            </p:extLst>
          </p:nvPr>
        </p:nvGraphicFramePr>
        <p:xfrm>
          <a:off x="3124200" y="2789237"/>
          <a:ext cx="40386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1544605981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1123550368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740300563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802947992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3146959003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4005747803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3543553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3C025A65-1F60-B03C-A51B-3767B02053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0809"/>
              </p:ext>
            </p:extLst>
          </p:nvPr>
        </p:nvGraphicFramePr>
        <p:xfrm>
          <a:off x="3155830" y="5055758"/>
          <a:ext cx="4648203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4029">
                  <a:extLst>
                    <a:ext uri="{9D8B030D-6E8A-4147-A177-3AD203B41FA5}">
                      <a16:colId xmlns:a16="http://schemas.microsoft.com/office/drawing/2014/main" val="230121204"/>
                    </a:ext>
                  </a:extLst>
                </a:gridCol>
                <a:gridCol w="664029">
                  <a:extLst>
                    <a:ext uri="{9D8B030D-6E8A-4147-A177-3AD203B41FA5}">
                      <a16:colId xmlns:a16="http://schemas.microsoft.com/office/drawing/2014/main" val="3483373329"/>
                    </a:ext>
                  </a:extLst>
                </a:gridCol>
                <a:gridCol w="664029">
                  <a:extLst>
                    <a:ext uri="{9D8B030D-6E8A-4147-A177-3AD203B41FA5}">
                      <a16:colId xmlns:a16="http://schemas.microsoft.com/office/drawing/2014/main" val="4257941926"/>
                    </a:ext>
                  </a:extLst>
                </a:gridCol>
                <a:gridCol w="664029">
                  <a:extLst>
                    <a:ext uri="{9D8B030D-6E8A-4147-A177-3AD203B41FA5}">
                      <a16:colId xmlns:a16="http://schemas.microsoft.com/office/drawing/2014/main" val="2844113168"/>
                    </a:ext>
                  </a:extLst>
                </a:gridCol>
                <a:gridCol w="664029">
                  <a:extLst>
                    <a:ext uri="{9D8B030D-6E8A-4147-A177-3AD203B41FA5}">
                      <a16:colId xmlns:a16="http://schemas.microsoft.com/office/drawing/2014/main" val="3703500012"/>
                    </a:ext>
                  </a:extLst>
                </a:gridCol>
                <a:gridCol w="664029">
                  <a:extLst>
                    <a:ext uri="{9D8B030D-6E8A-4147-A177-3AD203B41FA5}">
                      <a16:colId xmlns:a16="http://schemas.microsoft.com/office/drawing/2014/main" val="3507071015"/>
                    </a:ext>
                  </a:extLst>
                </a:gridCol>
                <a:gridCol w="664029">
                  <a:extLst>
                    <a:ext uri="{9D8B030D-6E8A-4147-A177-3AD203B41FA5}">
                      <a16:colId xmlns:a16="http://schemas.microsoft.com/office/drawing/2014/main" val="111109849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880337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91F96B7C-D1C3-3131-487C-2088EA5225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197651"/>
              </p:ext>
            </p:extLst>
          </p:nvPr>
        </p:nvGraphicFramePr>
        <p:xfrm>
          <a:off x="3168770" y="5628051"/>
          <a:ext cx="5321064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133">
                  <a:extLst>
                    <a:ext uri="{9D8B030D-6E8A-4147-A177-3AD203B41FA5}">
                      <a16:colId xmlns:a16="http://schemas.microsoft.com/office/drawing/2014/main" val="230121204"/>
                    </a:ext>
                  </a:extLst>
                </a:gridCol>
                <a:gridCol w="665133">
                  <a:extLst>
                    <a:ext uri="{9D8B030D-6E8A-4147-A177-3AD203B41FA5}">
                      <a16:colId xmlns:a16="http://schemas.microsoft.com/office/drawing/2014/main" val="3483373329"/>
                    </a:ext>
                  </a:extLst>
                </a:gridCol>
                <a:gridCol w="665133">
                  <a:extLst>
                    <a:ext uri="{9D8B030D-6E8A-4147-A177-3AD203B41FA5}">
                      <a16:colId xmlns:a16="http://schemas.microsoft.com/office/drawing/2014/main" val="4257941926"/>
                    </a:ext>
                  </a:extLst>
                </a:gridCol>
                <a:gridCol w="665133">
                  <a:extLst>
                    <a:ext uri="{9D8B030D-6E8A-4147-A177-3AD203B41FA5}">
                      <a16:colId xmlns:a16="http://schemas.microsoft.com/office/drawing/2014/main" val="3850052123"/>
                    </a:ext>
                  </a:extLst>
                </a:gridCol>
                <a:gridCol w="665133">
                  <a:extLst>
                    <a:ext uri="{9D8B030D-6E8A-4147-A177-3AD203B41FA5}">
                      <a16:colId xmlns:a16="http://schemas.microsoft.com/office/drawing/2014/main" val="2844113168"/>
                    </a:ext>
                  </a:extLst>
                </a:gridCol>
                <a:gridCol w="665133">
                  <a:extLst>
                    <a:ext uri="{9D8B030D-6E8A-4147-A177-3AD203B41FA5}">
                      <a16:colId xmlns:a16="http://schemas.microsoft.com/office/drawing/2014/main" val="3703500012"/>
                    </a:ext>
                  </a:extLst>
                </a:gridCol>
                <a:gridCol w="665133">
                  <a:extLst>
                    <a:ext uri="{9D8B030D-6E8A-4147-A177-3AD203B41FA5}">
                      <a16:colId xmlns:a16="http://schemas.microsoft.com/office/drawing/2014/main" val="3507071015"/>
                    </a:ext>
                  </a:extLst>
                </a:gridCol>
                <a:gridCol w="665133">
                  <a:extLst>
                    <a:ext uri="{9D8B030D-6E8A-4147-A177-3AD203B41FA5}">
                      <a16:colId xmlns:a16="http://schemas.microsoft.com/office/drawing/2014/main" val="111109849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880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39871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193C0-76E0-1DF3-895F-C48ADB1FB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2912F-039D-BB26-C0C9-6D67FA829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C000"/>
                </a:solidFill>
              </a:rPr>
              <a:t>Topic: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8E947-308F-2C2A-9540-952F11E4D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Font typeface="Arial" pitchFamily="34" charset="0"/>
              <a:buAutoNum type="alphaLcParenR"/>
            </a:pPr>
            <a:r>
              <a:rPr lang="en-US" b="1" dirty="0">
                <a:solidFill>
                  <a:srgbClr val="BBF96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Best Time to Buy and Sell Stock</a:t>
            </a:r>
            <a:endParaRPr lang="en-IN" b="1" dirty="0">
              <a:solidFill>
                <a:srgbClr val="BBF96F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US" b="1" dirty="0">
                <a:solidFill>
                  <a:srgbClr val="92D05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Best Time to Buy and Sell Stock II</a:t>
            </a:r>
            <a:endParaRPr lang="en-US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b="1" dirty="0">
              <a:solidFill>
                <a:srgbClr val="92D050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US" b="1" dirty="0">
                <a:solidFill>
                  <a:srgbClr val="92D05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Best Time to Buy and Sell Stock with Transaction Fee</a:t>
            </a:r>
            <a:endParaRPr lang="en-US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b="1" dirty="0">
              <a:solidFill>
                <a:srgbClr val="92D050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US" b="1" dirty="0">
                <a:solidFill>
                  <a:srgbClr val="92D05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Best Time to Buy and Sell Stock III</a:t>
            </a:r>
            <a:endParaRPr lang="en-IN" b="1" dirty="0">
              <a:solidFill>
                <a:srgbClr val="92D050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US" b="1" dirty="0">
                <a:solidFill>
                  <a:srgbClr val="92D05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Best Time to Buy and Sell Stock IV</a:t>
            </a:r>
            <a:endParaRPr lang="en-IN" b="1" dirty="0">
              <a:solidFill>
                <a:srgbClr val="92D050"/>
              </a:solidFill>
              <a:latin typeface="Public Sans"/>
            </a:endParaRPr>
          </a:p>
          <a:p>
            <a:pPr marL="0" indent="0">
              <a:buNone/>
            </a:pPr>
            <a:endParaRPr lang="en-IN" b="1" dirty="0">
              <a:solidFill>
                <a:srgbClr val="DCFEA4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b="1" dirty="0">
              <a:solidFill>
                <a:srgbClr val="DCFEA4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b="1" dirty="0">
              <a:solidFill>
                <a:srgbClr val="DCFEA4"/>
              </a:solidFill>
            </a:endParaRPr>
          </a:p>
          <a:p>
            <a:pPr marL="742950" indent="-742950">
              <a:buAutoNum type="alphaLcParenR"/>
            </a:pPr>
            <a:endParaRPr lang="en-US" b="1" dirty="0">
              <a:solidFill>
                <a:srgbClr val="DCFEA4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B0B0B9-A6DE-046C-13AB-43BAE9345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AAD9AE-4A38-B224-FB7F-B591635E5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1D5AA-F297-F18E-2F2F-13948D3F6139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0F5DEA-069A-A72D-2C9E-28B20A21BD0B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E851DF-951B-4762-63C2-FB2719FA2D80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18B4D3-E4FC-0DDC-966A-3B741683221B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E095DDAF-AFF8-C0DD-7353-9FBEB07A3866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20611942-49BA-3BC8-0D6C-F9757BAC53B2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BE812A78-19FF-3C8C-6773-09813DF00EA9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1A52F2F5-AD8B-FD32-8C7A-F728DE24E530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F3F14233-C454-E4CD-B730-1763DC013C69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CD4232B3-880D-52DD-711A-6F305BA06E84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CF49DEBB-84CE-1E3D-084B-5F1E28626D8E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99DF8C36-60F2-BCD0-FD9E-8F081B021E9E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9D7716B4-19DC-539A-8B62-D0126E97DEC4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A791422C-1C27-B4AB-579A-5C4B955F0F7E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D8192F57-A921-CC9E-C837-408DCAD63D2A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BDB1B513-7D5C-C3AC-8AC4-6112CFB54034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677E2FF-F254-1B78-89D9-8D6EE60CCE04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7A7A94F-C8B2-3147-25C2-EED7824E510F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A64B59-F770-B6A4-0070-5257C71076DF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3A64D65-390D-CB81-A3A1-B81329E8AC59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0461669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CEE64-99FA-12E5-A067-020FEA31B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12D16-26A0-3318-604E-B4194135C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C000"/>
                </a:solidFill>
              </a:rPr>
              <a:t>Topic: Array, Prefix Sum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CF2FB-8439-F8C8-6E8D-B5C070E7D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Font typeface="Arial" pitchFamily="34" charset="0"/>
              <a:buAutoNum type="alphaLcParenR"/>
            </a:pPr>
            <a:r>
              <a:rPr lang="en-US" sz="2800" b="1" dirty="0">
                <a:solidFill>
                  <a:srgbClr val="99FF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Running Sum of 1d Array</a:t>
            </a:r>
            <a:endParaRPr lang="en-US" sz="2800" b="1" dirty="0">
              <a:solidFill>
                <a:srgbClr val="99FF99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b="1" dirty="0">
              <a:solidFill>
                <a:srgbClr val="99FF99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US" sz="2400" b="1" dirty="0">
                <a:solidFill>
                  <a:srgbClr val="DCFEA4"/>
                </a:solidFill>
              </a:rPr>
              <a:t>WAP for below requirements: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DCFEA4"/>
                </a:solidFill>
              </a:rPr>
              <a:t>	Sum except itself:</a:t>
            </a:r>
          </a:p>
          <a:p>
            <a:pPr marL="0" lvl="0" indent="0">
              <a:buNone/>
              <a:defRPr/>
            </a:pPr>
            <a:r>
              <a:rPr lang="en-US" sz="2400" b="1" dirty="0">
                <a:solidFill>
                  <a:srgbClr val="DCFEA4"/>
                </a:solidFill>
              </a:rPr>
              <a:t>	</a:t>
            </a:r>
            <a:r>
              <a:rPr lang="en-US" sz="2400" b="1" dirty="0">
                <a:solidFill>
                  <a:srgbClr val="00FF00"/>
                </a:solidFill>
              </a:rPr>
              <a:t>Original array:</a:t>
            </a:r>
          </a:p>
          <a:p>
            <a:pPr marL="0" lvl="0" indent="0">
              <a:buNone/>
              <a:defRPr/>
            </a:pPr>
            <a:r>
              <a:rPr lang="en-US" sz="2400" b="1" dirty="0">
                <a:solidFill>
                  <a:srgbClr val="00FF00"/>
                </a:solidFill>
              </a:rPr>
              <a:t>	Resultant array:</a:t>
            </a:r>
          </a:p>
          <a:p>
            <a:pPr marL="0" indent="0">
              <a:buNone/>
            </a:pPr>
            <a:endParaRPr lang="en-US" b="1" dirty="0">
              <a:solidFill>
                <a:srgbClr val="DCFEA4"/>
              </a:solidFill>
            </a:endParaRPr>
          </a:p>
          <a:p>
            <a:pPr marL="742950" indent="-742950">
              <a:buFont typeface="+mj-lt"/>
              <a:buAutoNum type="alphaLcParenR" startAt="3"/>
            </a:pPr>
            <a:r>
              <a:rPr lang="en-US" sz="2800" b="1" dirty="0">
                <a:solidFill>
                  <a:srgbClr val="E2FDC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Product of Array Except Self</a:t>
            </a:r>
            <a:endParaRPr lang="en-US" sz="2800" b="1" dirty="0">
              <a:solidFill>
                <a:srgbClr val="E2FDC7"/>
              </a:solidFill>
            </a:endParaRPr>
          </a:p>
          <a:p>
            <a:pPr marL="742950" indent="-742950">
              <a:buFont typeface="+mj-lt"/>
              <a:buAutoNum type="alphaLcParenR" startAt="3"/>
            </a:pPr>
            <a:endParaRPr lang="en-US" sz="2800" b="1" dirty="0">
              <a:solidFill>
                <a:srgbClr val="E2FDC7"/>
              </a:solidFill>
            </a:endParaRPr>
          </a:p>
          <a:p>
            <a:pPr marL="742950" indent="-742950">
              <a:buFont typeface="+mj-lt"/>
              <a:buAutoNum type="alphaLcParenR" startAt="3"/>
            </a:pPr>
            <a:r>
              <a:rPr lang="en-IN" sz="2800" b="1" dirty="0">
                <a:solidFill>
                  <a:srgbClr val="BBF96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Find Pivot Index</a:t>
            </a:r>
            <a:endParaRPr lang="en-IN" sz="2800" b="1" dirty="0">
              <a:solidFill>
                <a:srgbClr val="BBF96F"/>
              </a:solidFill>
              <a:latin typeface="Public Sans"/>
            </a:endParaRPr>
          </a:p>
          <a:p>
            <a:pPr marL="742950" indent="-742950">
              <a:buFont typeface="+mj-lt"/>
              <a:buAutoNum type="alphaLcParenR" startAt="3"/>
            </a:pPr>
            <a:endParaRPr lang="en-US" b="1" dirty="0">
              <a:solidFill>
                <a:srgbClr val="E2FDC7"/>
              </a:solidFill>
            </a:endParaRPr>
          </a:p>
          <a:p>
            <a:pPr marL="742950" indent="-742950">
              <a:buAutoNum type="alphaLcParenR" startAt="3"/>
            </a:pPr>
            <a:endParaRPr lang="en-US" b="1" dirty="0">
              <a:solidFill>
                <a:srgbClr val="DCFEA4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4E7766-70F0-D37F-FB89-25915806B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F24C2C-FA52-B37D-A0D5-B846BDE2E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B6870-E147-4292-1948-17D56BAB3A27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3FF10E-AC22-83BB-66ED-81EF234A136C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48BD0E-4A84-EC1B-79C8-6A1035F8EB70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88A987-A461-C082-39A1-6AAEF55A39BC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75CA2E5E-6C0E-7368-8A51-E5D73BEEB803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1741DEE0-77ED-030D-5059-6193C81A5FC6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3672F519-EF1F-2401-061E-95327E44804D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6180F1F9-216C-3B3C-07BC-83859B773E68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213E8A88-3718-2795-DB21-0C8051050CB9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C6EADDD8-4E45-22E0-0AB4-DB36BBAC2F57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F16A71B9-F408-3E1A-5B36-9F4915B77449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24AE4936-39C9-E6B7-F4DD-C2CDCACD75BC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7A6B64BD-9999-77E3-EA50-34CFE0887CFF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790C3A1D-19B1-B52D-DC84-CDFC39673635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95901AB9-0A8C-0358-559F-02A50DCE18A5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338150D3-9F7C-2E29-5DC1-3810F0F50336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86CCE1C-3582-F50C-20CF-42449C2FAE5A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552CAB-FD7F-9CEE-7835-6500FCB90F2B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22ADB3E-A8FB-5578-261A-343E54C7621F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696C5EC-B6E7-A6CA-F61C-57EC84E3F7B2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PySpiders, NOIDA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B5482FF-84CF-5204-1700-35A2C3B2DC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747343"/>
              </p:ext>
            </p:extLst>
          </p:nvPr>
        </p:nvGraphicFramePr>
        <p:xfrm>
          <a:off x="3505200" y="3098362"/>
          <a:ext cx="3623815" cy="4045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4763">
                  <a:extLst>
                    <a:ext uri="{9D8B030D-6E8A-4147-A177-3AD203B41FA5}">
                      <a16:colId xmlns:a16="http://schemas.microsoft.com/office/drawing/2014/main" val="1613152338"/>
                    </a:ext>
                  </a:extLst>
                </a:gridCol>
                <a:gridCol w="724763">
                  <a:extLst>
                    <a:ext uri="{9D8B030D-6E8A-4147-A177-3AD203B41FA5}">
                      <a16:colId xmlns:a16="http://schemas.microsoft.com/office/drawing/2014/main" val="1911671126"/>
                    </a:ext>
                  </a:extLst>
                </a:gridCol>
                <a:gridCol w="724763">
                  <a:extLst>
                    <a:ext uri="{9D8B030D-6E8A-4147-A177-3AD203B41FA5}">
                      <a16:colId xmlns:a16="http://schemas.microsoft.com/office/drawing/2014/main" val="3475611257"/>
                    </a:ext>
                  </a:extLst>
                </a:gridCol>
                <a:gridCol w="724763">
                  <a:extLst>
                    <a:ext uri="{9D8B030D-6E8A-4147-A177-3AD203B41FA5}">
                      <a16:colId xmlns:a16="http://schemas.microsoft.com/office/drawing/2014/main" val="3731080441"/>
                    </a:ext>
                  </a:extLst>
                </a:gridCol>
                <a:gridCol w="724763">
                  <a:extLst>
                    <a:ext uri="{9D8B030D-6E8A-4147-A177-3AD203B41FA5}">
                      <a16:colId xmlns:a16="http://schemas.microsoft.com/office/drawing/2014/main" val="3494142167"/>
                    </a:ext>
                  </a:extLst>
                </a:gridCol>
              </a:tblGrid>
              <a:tr h="404503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634308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A23D538-D266-EAFE-AD45-024FB577FC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06516"/>
              </p:ext>
            </p:extLst>
          </p:nvPr>
        </p:nvGraphicFramePr>
        <p:xfrm>
          <a:off x="3505200" y="3570952"/>
          <a:ext cx="36238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4763">
                  <a:extLst>
                    <a:ext uri="{9D8B030D-6E8A-4147-A177-3AD203B41FA5}">
                      <a16:colId xmlns:a16="http://schemas.microsoft.com/office/drawing/2014/main" val="1613152338"/>
                    </a:ext>
                  </a:extLst>
                </a:gridCol>
                <a:gridCol w="724763">
                  <a:extLst>
                    <a:ext uri="{9D8B030D-6E8A-4147-A177-3AD203B41FA5}">
                      <a16:colId xmlns:a16="http://schemas.microsoft.com/office/drawing/2014/main" val="1911671126"/>
                    </a:ext>
                  </a:extLst>
                </a:gridCol>
                <a:gridCol w="724763">
                  <a:extLst>
                    <a:ext uri="{9D8B030D-6E8A-4147-A177-3AD203B41FA5}">
                      <a16:colId xmlns:a16="http://schemas.microsoft.com/office/drawing/2014/main" val="3475611257"/>
                    </a:ext>
                  </a:extLst>
                </a:gridCol>
                <a:gridCol w="724763">
                  <a:extLst>
                    <a:ext uri="{9D8B030D-6E8A-4147-A177-3AD203B41FA5}">
                      <a16:colId xmlns:a16="http://schemas.microsoft.com/office/drawing/2014/main" val="3731080441"/>
                    </a:ext>
                  </a:extLst>
                </a:gridCol>
                <a:gridCol w="724763">
                  <a:extLst>
                    <a:ext uri="{9D8B030D-6E8A-4147-A177-3AD203B41FA5}">
                      <a16:colId xmlns:a16="http://schemas.microsoft.com/office/drawing/2014/main" val="3494142167"/>
                    </a:ext>
                  </a:extLst>
                </a:gridCol>
              </a:tblGrid>
              <a:tr h="302419">
                <a:tc>
                  <a:txBody>
                    <a:bodyPr/>
                    <a:lstStyle/>
                    <a:p>
                      <a:r>
                        <a:rPr lang="en-IN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634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01117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EF0AB-7B3F-F59E-B2D4-6683436B5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B769D-379C-DE4A-4C08-9AFB390EF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C000"/>
                </a:solidFill>
              </a:rPr>
              <a:t>Topic: Array, Prefix Sum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23BCB-DD63-F217-47E8-EC886DA95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US" sz="3000" b="1" dirty="0">
                <a:solidFill>
                  <a:srgbClr val="DCFEA4"/>
                </a:solidFill>
              </a:rPr>
              <a:t>WAP to generate n terms of Fibonacci series.</a:t>
            </a:r>
          </a:p>
          <a:p>
            <a:pPr marL="742950" indent="-742950">
              <a:buAutoNum type="alphaLcParenR"/>
            </a:pPr>
            <a:endParaRPr lang="en-US" sz="3000" b="1" dirty="0">
              <a:solidFill>
                <a:srgbClr val="DCFEA4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IN" sz="3000" b="1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Fibonacci Number</a:t>
            </a:r>
            <a:endParaRPr lang="en-IN" sz="3000" b="1" dirty="0">
              <a:solidFill>
                <a:srgbClr val="FFFF00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sz="3000" b="1" dirty="0">
              <a:solidFill>
                <a:srgbClr val="DCFEA4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US" sz="3000" b="1" dirty="0">
                <a:solidFill>
                  <a:srgbClr val="DCFEA4"/>
                </a:solidFill>
              </a:rPr>
              <a:t>WAP to generate n terms of Tribonacci series.</a:t>
            </a:r>
          </a:p>
          <a:p>
            <a:pPr marL="742950" indent="-742950">
              <a:buAutoNum type="alphaLcParenR"/>
            </a:pPr>
            <a:endParaRPr lang="en-US" sz="3000" b="1" dirty="0">
              <a:solidFill>
                <a:srgbClr val="DCFEA4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IN" sz="3000" b="1" dirty="0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1137. N-</a:t>
            </a:r>
            <a:r>
              <a:rPr lang="en-IN" sz="3000" b="1" dirty="0" err="1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</a:t>
            </a:r>
            <a:r>
              <a:rPr lang="en-IN" sz="3000" b="1" dirty="0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Tribonacci Number</a:t>
            </a:r>
            <a:endParaRPr lang="en-IN" sz="3000" b="1" dirty="0">
              <a:solidFill>
                <a:srgbClr val="FFFF00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sz="3000" b="1" dirty="0">
              <a:solidFill>
                <a:srgbClr val="FFFF00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IN" b="1" dirty="0">
                <a:solidFill>
                  <a:srgbClr val="FFFF99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209. Minimum Size Subarray Sum</a:t>
            </a:r>
            <a:endParaRPr lang="en-IN" sz="3000" b="1" dirty="0">
              <a:solidFill>
                <a:srgbClr val="FFFF00"/>
              </a:solidFill>
              <a:latin typeface="Public Sans"/>
            </a:endParaRPr>
          </a:p>
          <a:p>
            <a:pPr marL="0" indent="0">
              <a:buNone/>
            </a:pPr>
            <a:endParaRPr lang="en-US" b="1" dirty="0">
              <a:solidFill>
                <a:srgbClr val="DCFEA4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B7F6D6-58EA-F299-6DF9-35901623E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650E76-32D3-8491-D62F-655F372B5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BDA22-E175-803A-73F3-54EE3BF045C5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D8D883-D5DC-B50F-6D00-559CB8101788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7E8FE3-A33B-8A95-D330-8E48C1DC032A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15E50A-1893-BB72-99D8-115BB98C44A9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99764C0A-B2B9-E840-3AD0-E3FD4315B87B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2D4F6482-7219-4BCA-F39B-EAF6B0C80828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5841FDE1-ACC8-4DB8-6985-E0621F37F8E5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5013821B-6AA0-49E4-DA36-22CD2F188CCF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71B2498F-AC42-B940-0BC1-9A1DA32EF5B8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789E8F86-F79A-DEE1-B10B-344D47E2C36C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16E0A309-FEC4-4D99-4F29-24593561D40D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0F1D912A-14CC-AAA5-77CD-906B16676C13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32C99E8C-8572-7F4C-2BF2-54E800BC1F0A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C13C37D3-8E75-9B8B-0458-AF152BD253E6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173B0362-1011-9403-C5B7-14C32A3ECB17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5B09839C-DB3B-4225-548D-9A5D14A275ED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BFE4C51-BC2B-0A67-2D4F-6EB936F1EACF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859720-F4E0-536E-A267-3FB50413E93E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287FF54-3A5D-BFDF-9A62-5383E3FFB0FF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715A77F-C082-F48E-FE84-6A0123468758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5106362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EE71D-807F-BE32-DF58-BA8658842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41B78-274B-6FB3-D9A1-E6C0D70B4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C000"/>
                </a:solidFill>
              </a:rPr>
              <a:t>Topic: Array, </a:t>
            </a:r>
            <a:r>
              <a:rPr lang="en-US" sz="2400" b="1" u="sng" dirty="0">
                <a:solidFill>
                  <a:srgbClr val="FFC000"/>
                </a:solidFill>
              </a:rPr>
              <a:t>Two Pointers</a:t>
            </a:r>
            <a:endParaRPr lang="en-US" sz="3200" b="1" u="sng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6A9C7-D944-87A9-1F6A-CE06C71FB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Font typeface="Arial" pitchFamily="34" charset="0"/>
              <a:buAutoNum type="alphaLcParenR"/>
            </a:pPr>
            <a:r>
              <a:rPr lang="en-US" sz="2800" b="1" dirty="0">
                <a:solidFill>
                  <a:srgbClr val="FFFF99"/>
                </a:solidFill>
              </a:rPr>
              <a:t>WAJP to reverse each element of the array.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FF99"/>
                </a:solidFill>
              </a:rPr>
              <a:t>	Original array: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FF99"/>
                </a:solidFill>
              </a:rPr>
              <a:t>	Reversed array:</a:t>
            </a:r>
            <a:endParaRPr lang="en-IN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AutoNum type="alphaLcParenR"/>
            </a:pPr>
            <a:endParaRPr lang="en-US" b="1" dirty="0">
              <a:solidFill>
                <a:srgbClr val="DCFEA4"/>
              </a:solidFill>
            </a:endParaRPr>
          </a:p>
          <a:p>
            <a:pPr marL="742950" indent="-742950">
              <a:buFont typeface="+mj-lt"/>
              <a:buAutoNum type="alphaLcParenR" startAt="2"/>
            </a:pPr>
            <a:r>
              <a:rPr lang="en-IN" b="1" dirty="0">
                <a:solidFill>
                  <a:srgbClr val="BBF96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Reverse String</a:t>
            </a:r>
            <a:endParaRPr lang="en-IN" b="1" dirty="0">
              <a:solidFill>
                <a:srgbClr val="BBF96F"/>
              </a:solidFill>
            </a:endParaRPr>
          </a:p>
          <a:p>
            <a:pPr marL="742950" indent="-742950">
              <a:buFont typeface="+mj-lt"/>
              <a:buAutoNum type="alphaLcParenR" startAt="2"/>
            </a:pPr>
            <a:endParaRPr lang="en-IN" b="1" dirty="0">
              <a:solidFill>
                <a:srgbClr val="BBF96F"/>
              </a:solidFill>
            </a:endParaRPr>
          </a:p>
          <a:p>
            <a:pPr marL="742950" indent="-742950">
              <a:buFont typeface="+mj-lt"/>
              <a:buAutoNum type="alphaLcParenR" startAt="2"/>
            </a:pPr>
            <a:r>
              <a:rPr lang="en-US" sz="2400" b="1" dirty="0">
                <a:solidFill>
                  <a:srgbClr val="00FF00"/>
                </a:solidFill>
              </a:rPr>
              <a:t>WAJP to reverse 1</a:t>
            </a:r>
            <a:r>
              <a:rPr lang="en-US" sz="2400" b="1" baseline="30000" dirty="0">
                <a:solidFill>
                  <a:srgbClr val="00FF00"/>
                </a:solidFill>
              </a:rPr>
              <a:t>st</a:t>
            </a:r>
            <a:r>
              <a:rPr lang="en-US" sz="2400" b="1" dirty="0">
                <a:solidFill>
                  <a:srgbClr val="00FF00"/>
                </a:solidFill>
              </a:rPr>
              <a:t> half and 2</a:t>
            </a:r>
            <a:r>
              <a:rPr lang="en-US" sz="2400" b="1" baseline="30000" dirty="0">
                <a:solidFill>
                  <a:srgbClr val="00FF00"/>
                </a:solidFill>
              </a:rPr>
              <a:t>nd</a:t>
            </a:r>
            <a:r>
              <a:rPr lang="en-US" sz="2400" b="1" dirty="0">
                <a:solidFill>
                  <a:srgbClr val="00FF00"/>
                </a:solidFill>
              </a:rPr>
              <a:t> half elements of array.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	Original array: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	Reversed array:</a:t>
            </a:r>
          </a:p>
          <a:p>
            <a:pPr marL="0" indent="0">
              <a:buNone/>
            </a:pPr>
            <a:endParaRPr lang="en-IN" b="1" dirty="0">
              <a:solidFill>
                <a:srgbClr val="BBF96F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156159-7D0E-743F-F7DC-879D8EF62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010D55-6625-C53D-33F3-18E55F237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BA6FA-0C09-6666-29BE-52FA22AAE197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98BDE6-F7CD-0112-67F3-A74BC71E89EC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B505F1-A039-3F86-05F0-FB2F303B94C1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34A502-1A94-41B4-6FC6-7B1A0A701073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239F2AA2-4669-2BB0-BEC5-2BB869F577C5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7301D995-FE04-4383-AC4F-0E4D5C01559D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A5800095-F505-4B89-C1E6-35C99663EF28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DCC48562-6D0B-5E91-8E61-E4ECEE576335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ECDB79D4-5361-1DF6-B9EA-78204D7DD631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B0809AAD-A943-71D2-68FB-4D006678EC83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23F8103A-ED46-9169-3519-DC82E47836BC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FDB0441C-86BC-FF2D-9687-A25383E6BC23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BFC866B4-DB55-FD38-8F05-091315365778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ED01150A-BEFF-45A9-4E9B-5105F3B97A19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4FDFC50C-6F34-6373-E385-F60D4A6A7867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5878D5A8-9BA3-4A05-5952-E528389F2B92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9627760-3610-DAA4-60AA-AF48FCE59647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CF72E1-3A53-6F34-FA4B-28F225F6B41C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5ED0A6-7DDF-02F9-77E3-B4F2258F6146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26B8C51-B5BA-0CD7-CD85-F0CC0FE42D73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PySpiders, NOIDA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E674BEA-6F84-8371-196D-CC41040324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124630"/>
              </p:ext>
            </p:extLst>
          </p:nvPr>
        </p:nvGraphicFramePr>
        <p:xfrm>
          <a:off x="3810000" y="1577537"/>
          <a:ext cx="39172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081">
                  <a:extLst>
                    <a:ext uri="{9D8B030D-6E8A-4147-A177-3AD203B41FA5}">
                      <a16:colId xmlns:a16="http://schemas.microsoft.com/office/drawing/2014/main" val="230121204"/>
                    </a:ext>
                  </a:extLst>
                </a:gridCol>
                <a:gridCol w="562081">
                  <a:extLst>
                    <a:ext uri="{9D8B030D-6E8A-4147-A177-3AD203B41FA5}">
                      <a16:colId xmlns:a16="http://schemas.microsoft.com/office/drawing/2014/main" val="3483373329"/>
                    </a:ext>
                  </a:extLst>
                </a:gridCol>
                <a:gridCol w="544714">
                  <a:extLst>
                    <a:ext uri="{9D8B030D-6E8A-4147-A177-3AD203B41FA5}">
                      <a16:colId xmlns:a16="http://schemas.microsoft.com/office/drawing/2014/main" val="4257941926"/>
                    </a:ext>
                  </a:extLst>
                </a:gridCol>
                <a:gridCol w="562081">
                  <a:extLst>
                    <a:ext uri="{9D8B030D-6E8A-4147-A177-3AD203B41FA5}">
                      <a16:colId xmlns:a16="http://schemas.microsoft.com/office/drawing/2014/main" val="2844113168"/>
                    </a:ext>
                  </a:extLst>
                </a:gridCol>
                <a:gridCol w="562081">
                  <a:extLst>
                    <a:ext uri="{9D8B030D-6E8A-4147-A177-3AD203B41FA5}">
                      <a16:colId xmlns:a16="http://schemas.microsoft.com/office/drawing/2014/main" val="3703500012"/>
                    </a:ext>
                  </a:extLst>
                </a:gridCol>
                <a:gridCol w="562081">
                  <a:extLst>
                    <a:ext uri="{9D8B030D-6E8A-4147-A177-3AD203B41FA5}">
                      <a16:colId xmlns:a16="http://schemas.microsoft.com/office/drawing/2014/main" val="3507071015"/>
                    </a:ext>
                  </a:extLst>
                </a:gridCol>
                <a:gridCol w="562081">
                  <a:extLst>
                    <a:ext uri="{9D8B030D-6E8A-4147-A177-3AD203B41FA5}">
                      <a16:colId xmlns:a16="http://schemas.microsoft.com/office/drawing/2014/main" val="1111098493"/>
                    </a:ext>
                  </a:extLst>
                </a:gridCol>
              </a:tblGrid>
              <a:tr h="304605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880337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33868A1-685D-4651-A1B2-4CC7E14D8E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694922"/>
              </p:ext>
            </p:extLst>
          </p:nvPr>
        </p:nvGraphicFramePr>
        <p:xfrm>
          <a:off x="3821502" y="2164294"/>
          <a:ext cx="3905699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957">
                  <a:extLst>
                    <a:ext uri="{9D8B030D-6E8A-4147-A177-3AD203B41FA5}">
                      <a16:colId xmlns:a16="http://schemas.microsoft.com/office/drawing/2014/main" val="230121204"/>
                    </a:ext>
                  </a:extLst>
                </a:gridCol>
                <a:gridCol w="557957">
                  <a:extLst>
                    <a:ext uri="{9D8B030D-6E8A-4147-A177-3AD203B41FA5}">
                      <a16:colId xmlns:a16="http://schemas.microsoft.com/office/drawing/2014/main" val="3483373329"/>
                    </a:ext>
                  </a:extLst>
                </a:gridCol>
                <a:gridCol w="557957">
                  <a:extLst>
                    <a:ext uri="{9D8B030D-6E8A-4147-A177-3AD203B41FA5}">
                      <a16:colId xmlns:a16="http://schemas.microsoft.com/office/drawing/2014/main" val="4257941926"/>
                    </a:ext>
                  </a:extLst>
                </a:gridCol>
                <a:gridCol w="557957">
                  <a:extLst>
                    <a:ext uri="{9D8B030D-6E8A-4147-A177-3AD203B41FA5}">
                      <a16:colId xmlns:a16="http://schemas.microsoft.com/office/drawing/2014/main" val="2844113168"/>
                    </a:ext>
                  </a:extLst>
                </a:gridCol>
                <a:gridCol w="557957">
                  <a:extLst>
                    <a:ext uri="{9D8B030D-6E8A-4147-A177-3AD203B41FA5}">
                      <a16:colId xmlns:a16="http://schemas.microsoft.com/office/drawing/2014/main" val="3703500012"/>
                    </a:ext>
                  </a:extLst>
                </a:gridCol>
                <a:gridCol w="557957">
                  <a:extLst>
                    <a:ext uri="{9D8B030D-6E8A-4147-A177-3AD203B41FA5}">
                      <a16:colId xmlns:a16="http://schemas.microsoft.com/office/drawing/2014/main" val="3507071015"/>
                    </a:ext>
                  </a:extLst>
                </a:gridCol>
                <a:gridCol w="557957">
                  <a:extLst>
                    <a:ext uri="{9D8B030D-6E8A-4147-A177-3AD203B41FA5}">
                      <a16:colId xmlns:a16="http://schemas.microsoft.com/office/drawing/2014/main" val="111109849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880337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5FE19E37-0B46-C424-1770-AC7FF94856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801450"/>
              </p:ext>
            </p:extLst>
          </p:nvPr>
        </p:nvGraphicFramePr>
        <p:xfrm>
          <a:off x="4100301" y="4895317"/>
          <a:ext cx="4648203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4029">
                  <a:extLst>
                    <a:ext uri="{9D8B030D-6E8A-4147-A177-3AD203B41FA5}">
                      <a16:colId xmlns:a16="http://schemas.microsoft.com/office/drawing/2014/main" val="230121204"/>
                    </a:ext>
                  </a:extLst>
                </a:gridCol>
                <a:gridCol w="664029">
                  <a:extLst>
                    <a:ext uri="{9D8B030D-6E8A-4147-A177-3AD203B41FA5}">
                      <a16:colId xmlns:a16="http://schemas.microsoft.com/office/drawing/2014/main" val="3483373329"/>
                    </a:ext>
                  </a:extLst>
                </a:gridCol>
                <a:gridCol w="664029">
                  <a:extLst>
                    <a:ext uri="{9D8B030D-6E8A-4147-A177-3AD203B41FA5}">
                      <a16:colId xmlns:a16="http://schemas.microsoft.com/office/drawing/2014/main" val="4257941926"/>
                    </a:ext>
                  </a:extLst>
                </a:gridCol>
                <a:gridCol w="664029">
                  <a:extLst>
                    <a:ext uri="{9D8B030D-6E8A-4147-A177-3AD203B41FA5}">
                      <a16:colId xmlns:a16="http://schemas.microsoft.com/office/drawing/2014/main" val="2844113168"/>
                    </a:ext>
                  </a:extLst>
                </a:gridCol>
                <a:gridCol w="664029">
                  <a:extLst>
                    <a:ext uri="{9D8B030D-6E8A-4147-A177-3AD203B41FA5}">
                      <a16:colId xmlns:a16="http://schemas.microsoft.com/office/drawing/2014/main" val="3703500012"/>
                    </a:ext>
                  </a:extLst>
                </a:gridCol>
                <a:gridCol w="664029">
                  <a:extLst>
                    <a:ext uri="{9D8B030D-6E8A-4147-A177-3AD203B41FA5}">
                      <a16:colId xmlns:a16="http://schemas.microsoft.com/office/drawing/2014/main" val="3507071015"/>
                    </a:ext>
                  </a:extLst>
                </a:gridCol>
                <a:gridCol w="664029">
                  <a:extLst>
                    <a:ext uri="{9D8B030D-6E8A-4147-A177-3AD203B41FA5}">
                      <a16:colId xmlns:a16="http://schemas.microsoft.com/office/drawing/2014/main" val="111109849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880337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5A6FCF5C-29EA-8B0A-176B-81FC809083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475905"/>
              </p:ext>
            </p:extLst>
          </p:nvPr>
        </p:nvGraphicFramePr>
        <p:xfrm>
          <a:off x="4113241" y="5467610"/>
          <a:ext cx="4648203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4029">
                  <a:extLst>
                    <a:ext uri="{9D8B030D-6E8A-4147-A177-3AD203B41FA5}">
                      <a16:colId xmlns:a16="http://schemas.microsoft.com/office/drawing/2014/main" val="230121204"/>
                    </a:ext>
                  </a:extLst>
                </a:gridCol>
                <a:gridCol w="664029">
                  <a:extLst>
                    <a:ext uri="{9D8B030D-6E8A-4147-A177-3AD203B41FA5}">
                      <a16:colId xmlns:a16="http://schemas.microsoft.com/office/drawing/2014/main" val="3483373329"/>
                    </a:ext>
                  </a:extLst>
                </a:gridCol>
                <a:gridCol w="664029">
                  <a:extLst>
                    <a:ext uri="{9D8B030D-6E8A-4147-A177-3AD203B41FA5}">
                      <a16:colId xmlns:a16="http://schemas.microsoft.com/office/drawing/2014/main" val="4257941926"/>
                    </a:ext>
                  </a:extLst>
                </a:gridCol>
                <a:gridCol w="664029">
                  <a:extLst>
                    <a:ext uri="{9D8B030D-6E8A-4147-A177-3AD203B41FA5}">
                      <a16:colId xmlns:a16="http://schemas.microsoft.com/office/drawing/2014/main" val="2844113168"/>
                    </a:ext>
                  </a:extLst>
                </a:gridCol>
                <a:gridCol w="664029">
                  <a:extLst>
                    <a:ext uri="{9D8B030D-6E8A-4147-A177-3AD203B41FA5}">
                      <a16:colId xmlns:a16="http://schemas.microsoft.com/office/drawing/2014/main" val="3703500012"/>
                    </a:ext>
                  </a:extLst>
                </a:gridCol>
                <a:gridCol w="664029">
                  <a:extLst>
                    <a:ext uri="{9D8B030D-6E8A-4147-A177-3AD203B41FA5}">
                      <a16:colId xmlns:a16="http://schemas.microsoft.com/office/drawing/2014/main" val="3507071015"/>
                    </a:ext>
                  </a:extLst>
                </a:gridCol>
                <a:gridCol w="664029">
                  <a:extLst>
                    <a:ext uri="{9D8B030D-6E8A-4147-A177-3AD203B41FA5}">
                      <a16:colId xmlns:a16="http://schemas.microsoft.com/office/drawing/2014/main" val="111109849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FF00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chemeClr val="bg1"/>
                          </a:solidFill>
                        </a:rP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880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6839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9C4BE-65D1-A3C5-FAD3-E84C8C5A8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A9191-03AC-CDD7-5AA0-27146268B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C000"/>
                </a:solidFill>
              </a:rPr>
              <a:t>Topic: Array, </a:t>
            </a:r>
            <a:r>
              <a:rPr lang="en-US" sz="2400" b="1" u="sng" dirty="0">
                <a:solidFill>
                  <a:srgbClr val="FFC000"/>
                </a:solidFill>
              </a:rPr>
              <a:t>Two Pointers</a:t>
            </a:r>
            <a:endParaRPr lang="en-US" sz="3200" b="1" u="sng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471E1-98AE-C43F-17AD-BC5C508CC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Font typeface="Arial" pitchFamily="34" charset="0"/>
              <a:buAutoNum type="alphaLcParenR"/>
            </a:pPr>
            <a:r>
              <a:rPr lang="en-IN" b="1" dirty="0">
                <a:solidFill>
                  <a:srgbClr val="FFFF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Rotate Array</a:t>
            </a:r>
            <a:endParaRPr lang="en-US" b="1" dirty="0">
              <a:solidFill>
                <a:srgbClr val="FFFF99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b="1" dirty="0">
              <a:solidFill>
                <a:srgbClr val="FFFF99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US" sz="2800" b="1" dirty="0">
                <a:solidFill>
                  <a:srgbClr val="00FF00"/>
                </a:solidFill>
              </a:rPr>
              <a:t>WAJP to rotate all the elements of array k position to its left.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FF00"/>
                </a:solidFill>
              </a:rPr>
              <a:t> 	array[] = {</a:t>
            </a:r>
            <a:r>
              <a:rPr lang="en-US" sz="2800" b="1" dirty="0">
                <a:solidFill>
                  <a:srgbClr val="FFFF00"/>
                </a:solidFill>
              </a:rPr>
              <a:t>1, 2</a:t>
            </a:r>
            <a:r>
              <a:rPr lang="en-US" sz="2800" b="1" dirty="0">
                <a:solidFill>
                  <a:srgbClr val="00FF00"/>
                </a:solidFill>
              </a:rPr>
              <a:t>, 3, 4, 5, 6, 7} 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FF00"/>
                </a:solidFill>
              </a:rPr>
              <a:t>	k = 2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FF00"/>
                </a:solidFill>
              </a:rPr>
              <a:t>	Output: {3, 4, 5, 6, 7, </a:t>
            </a:r>
            <a:r>
              <a:rPr lang="en-US" sz="2800" b="1" dirty="0">
                <a:solidFill>
                  <a:srgbClr val="FFFF00"/>
                </a:solidFill>
              </a:rPr>
              <a:t>1, 2</a:t>
            </a:r>
            <a:r>
              <a:rPr lang="en-US" sz="2800" b="1" dirty="0">
                <a:solidFill>
                  <a:srgbClr val="00FF00"/>
                </a:solidFill>
              </a:rPr>
              <a:t>}</a:t>
            </a:r>
            <a:endParaRPr lang="en-IN" sz="2800" b="1" dirty="0">
              <a:solidFill>
                <a:srgbClr val="BBF96F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433BE0-771B-0B76-27D2-3AC1F1100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6A387D-3D58-95A3-A4F5-9C8BC9805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9A7E4-D424-2302-A1E9-382BD0205746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F44C85-F5B0-60AE-8524-E8BB87C3C1D2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E9B135-A7EB-12F1-D22A-0273CDD95479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0607C0-8326-7AAC-7A40-B312CC9F4796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3E0FAAE8-0750-3F75-000E-7002739C5DFA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87B93DDC-DD26-4CBD-3131-91D243A628C8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DC6DEF47-94D3-9CAA-9518-4BBB130DFE2B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0FB50F32-EF8F-8226-639A-9D60EA42540C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A9C026D4-3A83-8426-9713-AC6DF2601822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625BECEE-DECA-2DA5-E5DF-E938F7CBB9A4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B09A6C22-3DD2-796E-76B3-93845BD11081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03D4D109-852B-2153-1C4E-D6274FF2D0F4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C1A43FD3-84C6-15A0-0C4D-6C925AFD2875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C32CA389-4FCD-B368-E301-0C531A211F1A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A5AC835C-22C6-3073-F36D-2276DFB94C43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3940009D-1567-7545-B47D-4AD712AA2DF7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A269408-7838-D6F1-05F9-80B5595FD231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4BB5EC-5177-D35C-F83B-BFC077DAA94E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0859376-085C-2BEF-B363-D811BEDE1136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354E2B6-82D0-3CE5-112F-160BEBBD563E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9996842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5223E-BD9C-0A23-F1FD-C23CCE4C6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2AD21-F21F-1732-74B4-D28A14C2C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C000"/>
                </a:solidFill>
              </a:rPr>
              <a:t>Topic: Array, </a:t>
            </a:r>
            <a:r>
              <a:rPr lang="en-US" sz="2400" b="1" u="sng" dirty="0">
                <a:solidFill>
                  <a:srgbClr val="FFC000"/>
                </a:solidFill>
              </a:rPr>
              <a:t>Two Pointers</a:t>
            </a:r>
            <a:endParaRPr lang="en-US" sz="3200" b="1" u="sng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C17E8-3557-347E-CC30-4B9AD7240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Font typeface="Arial" pitchFamily="34" charset="0"/>
              <a:buAutoNum type="alphaLcParenR"/>
            </a:pPr>
            <a:r>
              <a:rPr lang="en-IN" b="1" dirty="0">
                <a:solidFill>
                  <a:srgbClr val="FFFF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Move Zeroes</a:t>
            </a:r>
            <a:endParaRPr lang="en-US" b="1" dirty="0">
              <a:solidFill>
                <a:srgbClr val="FFFF99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US" sz="2800" b="1" dirty="0">
                <a:solidFill>
                  <a:srgbClr val="00FF00"/>
                </a:solidFill>
              </a:rPr>
              <a:t>WAJP to shift all 0’s to left and all 1’s to the right(Without Sorting).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FF00"/>
                </a:solidFill>
              </a:rPr>
              <a:t>	</a:t>
            </a:r>
            <a:r>
              <a:rPr lang="en-US" sz="2800" b="1" dirty="0" err="1">
                <a:solidFill>
                  <a:srgbClr val="00FF00"/>
                </a:solidFill>
              </a:rPr>
              <a:t>i</a:t>
            </a:r>
            <a:r>
              <a:rPr lang="en-US" sz="2800" b="1" dirty="0">
                <a:solidFill>
                  <a:srgbClr val="00FF00"/>
                </a:solidFill>
              </a:rPr>
              <a:t>/p: 	[0, 1, 1, 0, 0, 1, 0, 0]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FF00"/>
                </a:solidFill>
              </a:rPr>
              <a:t>	o/p: 	[0, 0, 0, 0, 0, 1, 1, 1]</a:t>
            </a:r>
          </a:p>
          <a:p>
            <a:pPr marL="0" indent="0">
              <a:buNone/>
            </a:pPr>
            <a:endParaRPr lang="en-US" sz="2800" b="1" dirty="0">
              <a:solidFill>
                <a:srgbClr val="00FF00"/>
              </a:solidFill>
            </a:endParaRPr>
          </a:p>
          <a:p>
            <a:pPr marL="514350" indent="-514350">
              <a:buFont typeface="+mj-lt"/>
              <a:buAutoNum type="alphaLcParenR" startAt="3"/>
            </a:pPr>
            <a:r>
              <a:rPr lang="en-IN" b="1" dirty="0">
                <a:solidFill>
                  <a:srgbClr val="FFFF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Sort Colors</a:t>
            </a:r>
            <a:r>
              <a:rPr lang="en-IN" b="1" dirty="0">
                <a:solidFill>
                  <a:srgbClr val="FFFF99"/>
                </a:solidFill>
              </a:rPr>
              <a:t>  [</a:t>
            </a:r>
            <a:r>
              <a:rPr lang="en-IN" sz="2400" b="1" dirty="0">
                <a:solidFill>
                  <a:srgbClr val="FFFF99"/>
                </a:solidFill>
              </a:rPr>
              <a:t>implement Dutch National Flag Algorithm]</a:t>
            </a:r>
            <a:endParaRPr lang="en-US" b="1" dirty="0">
              <a:solidFill>
                <a:srgbClr val="FFFF99"/>
              </a:solidFill>
            </a:endParaRPr>
          </a:p>
          <a:p>
            <a:pPr marL="0" indent="0">
              <a:buNone/>
            </a:pPr>
            <a:endParaRPr lang="en-US" sz="2800" b="1" dirty="0">
              <a:solidFill>
                <a:srgbClr val="00FF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108844-3142-B27B-CEEE-8A0DD20A8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309986-95D6-7383-CD52-E5BB2DA77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5307C-53FA-70D8-8517-DDED30262C38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8B73B0-0B16-E637-E0D7-779CC4A9CD7B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A1A875-78AE-9A73-FA73-7829ABDC16E7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1ABF91-1704-E0FD-CBBB-6EE42ACDE6DC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E537572B-8A2A-BBFF-9CB6-9E7D1BC763A4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4AA51FD6-A8D5-60B5-287B-D35E1BDC44BB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F802066B-470C-C082-ED49-4B99AE4DE7A7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9C389CAF-543C-0386-54F4-730C4E32FE2D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87FFFD65-D446-144A-F9A7-3D8128F1D553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55A5D7BB-682F-BA69-F117-587F7DF6FD67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B87410AD-1194-EB2B-ABC5-49E4F33E4107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14C29E7B-DEB8-E63B-7567-AE4AA9EA86B6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552E53A6-9489-CE23-7E22-F78250E19738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F54101B1-5A16-4FFE-908F-1C4A6E411437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D78A1CC1-5C2E-DED2-75F0-97F96039CA9E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90F4D0F7-3E68-CD2A-ADB9-976DADC47A05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B2FEF9A-1105-962E-1DB4-0703F1D61861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8570BA-E0A1-32AD-5EC5-2FAB8CB7BA60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EEE028-D375-91D3-B320-2742F855CB1A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3AE0869-DE63-A3CF-41F6-3EF3B466135E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678473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82544-C167-A82F-4F02-C28775244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AFC18-6C56-76B8-46D7-283A351DC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C000"/>
                </a:solidFill>
              </a:rPr>
              <a:t>Topic: Array, </a:t>
            </a:r>
            <a:r>
              <a:rPr lang="en-US" sz="2400" b="1" u="sng" dirty="0">
                <a:solidFill>
                  <a:srgbClr val="FFC000"/>
                </a:solidFill>
              </a:rPr>
              <a:t>Two Pointers</a:t>
            </a:r>
            <a:endParaRPr lang="en-US" sz="3200" b="1" u="sng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244A8-D480-3D55-F750-34CB77DD0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Font typeface="Arial" pitchFamily="34" charset="0"/>
              <a:buAutoNum type="alphaLcParenR"/>
            </a:pPr>
            <a:r>
              <a:rPr lang="en-US" b="1" dirty="0">
                <a:solidFill>
                  <a:srgbClr val="FFFF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Two Sum II - Input Array Is Sorted</a:t>
            </a:r>
            <a:endParaRPr lang="en-IN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00FF00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US" sz="2800" b="1" dirty="0">
                <a:solidFill>
                  <a:srgbClr val="BBF96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Remove Duplicates from Sorted Array</a:t>
            </a:r>
            <a:endParaRPr lang="en-US" sz="2800" b="1" dirty="0">
              <a:solidFill>
                <a:srgbClr val="BBF96F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00FF00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IN" sz="2800" b="1" dirty="0">
                <a:solidFill>
                  <a:srgbClr val="BBF96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Remove Element</a:t>
            </a:r>
            <a:endParaRPr lang="en-US" sz="2800" b="1" dirty="0">
              <a:solidFill>
                <a:srgbClr val="BBF96F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00FF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6A385E-1080-F4AD-B171-222148B4C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7ABDE5-1DC3-A61E-7930-207EC9C8B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B84A3-4A05-24B9-D36C-6231402CF096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D45570-B729-E1AD-4C54-F944640D4738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5595F0-76E6-618E-8021-4DAB849083B6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C18490-78C6-CC70-F1C6-F9065B029E2A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FB6AD34E-0318-5BB4-4E6C-0F6349140CF7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DC930CC0-A0C3-B45A-2F90-9E0FB89C72EF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6B23D14B-D7A4-A506-2893-DE1F998DD655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F408C14C-B0F4-36D4-9B45-8560E5BB0B54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8F88BFDD-2173-FBC4-F01D-09C899F21427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C548CADB-B8F9-3579-279F-5C6A4638A8DA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7FB3E15A-1EEA-FD32-C1A4-2259543561B1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08B31B42-695A-3E90-EA53-C9BBBBE8C6D9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90A93BB3-A46B-2133-2ECB-41A2BF37278B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D99E1074-BD91-53FB-1105-8752775F32C2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0ED953A9-3777-8377-6612-5C270F92201D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56197AD9-D20E-2FBC-4135-398FE5E8668A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80709D3-5090-CD0D-03FB-608D2B5DA801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686BA9-ACC4-E95D-FB25-DE2807AEDD43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48D354F-5E57-9343-CE07-059EC1EC6C64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D3145C3-41CA-B2EC-29C1-935711A6ACFA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8065616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DA716-13D8-FD29-93FF-CC9961843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68A63-AD56-F3C3-3FBF-F924D8B85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C000"/>
                </a:solidFill>
              </a:rPr>
              <a:t>Topic: Array, </a:t>
            </a:r>
            <a:r>
              <a:rPr lang="en-US" sz="2400" b="1" u="sng" dirty="0">
                <a:solidFill>
                  <a:srgbClr val="FFC000"/>
                </a:solidFill>
              </a:rPr>
              <a:t>Two Pointers</a:t>
            </a:r>
            <a:endParaRPr lang="en-US" sz="3200" b="1" u="sng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E722D-A474-01A3-F2D0-92EBB09A1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Font typeface="Arial" pitchFamily="34" charset="0"/>
              <a:buAutoNum type="alphaLcParenR"/>
            </a:pPr>
            <a:r>
              <a:rPr lang="en-US" b="1" dirty="0">
                <a:solidFill>
                  <a:srgbClr val="FFFF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Container With Most Water</a:t>
            </a:r>
            <a:endParaRPr lang="en-US" b="1" dirty="0">
              <a:solidFill>
                <a:srgbClr val="FFFF99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b="1" dirty="0">
              <a:solidFill>
                <a:srgbClr val="FFFF99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US" b="1" dirty="0">
                <a:solidFill>
                  <a:srgbClr val="99FF99"/>
                </a:solidFill>
              </a:rPr>
              <a:t> </a:t>
            </a:r>
            <a:r>
              <a:rPr lang="en-IN" b="1" dirty="0">
                <a:solidFill>
                  <a:srgbClr val="FFFF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Trapping Rain Water</a:t>
            </a:r>
            <a:endParaRPr lang="en-IN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00FF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CC509E-DCE4-A9E3-0787-0E625FB52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C09C25-223C-7A1B-AC7B-22F18B36B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18E8D-3D35-BF95-AA10-AD3DADDA469B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09CF8D-2BB4-6436-2950-A5A66A00441C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FA529B-6054-CD29-ED1C-4C7D0E03FE5C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882F806-3580-76F2-3BCC-408F7F076A19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A7CDA024-94A4-CC7D-253B-1F1F1F067592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9DBF81C9-47DC-96DB-77B4-1C7815524A86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75E0334A-CDFF-FF33-E578-0E7A120AD1BE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F9B8358F-B58F-173F-D61D-9C293D98D4EE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9DCD709D-4082-9CF6-2CF6-3A5F8A35BAB7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0FF040B7-838F-E55D-9FE5-EA9266068B3A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18F9BB61-0F53-36F2-DBB9-6188A4EDECD4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6658BF6F-CD76-2113-225C-B14209EE3554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D1DA577D-697D-244F-15E9-411B070C3829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C998D371-B70B-2B29-A65E-10BF515C85B8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227F7622-5A78-2CBB-8206-468F4FCF76A9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18D7CF46-4D98-CACA-0EF9-DCFA4A5FD638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DC8B700-91DC-D0EB-DCAF-944F7AFB91C2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CC85B9-E408-9E19-C348-086669F4A882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49CB931-D3D5-5A41-0C39-945CD4E59448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F68306F-A450-CD0A-C10E-0C8522846C7B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8918805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3BB7C-D1BE-69AE-9AAF-9764E1CD8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B164C-1512-AE71-23B5-64BFB0D96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C000"/>
                </a:solidFill>
              </a:rPr>
              <a:t>Topic: Array, </a:t>
            </a:r>
            <a:r>
              <a:rPr lang="en-US" sz="2400" b="1" u="sng" dirty="0">
                <a:solidFill>
                  <a:srgbClr val="FFC000"/>
                </a:solidFill>
              </a:rPr>
              <a:t>Hashing</a:t>
            </a:r>
            <a:endParaRPr lang="en-US" sz="3200" b="1" u="sng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D3046-9DEC-AD71-3F61-4259E2132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Font typeface="Arial" pitchFamily="34" charset="0"/>
              <a:buAutoNum type="alphaLcParenR"/>
            </a:pPr>
            <a:r>
              <a:rPr lang="en-US" sz="2800" b="1" dirty="0">
                <a:solidFill>
                  <a:srgbClr val="00FF00"/>
                </a:solidFill>
              </a:rPr>
              <a:t>WAP to print the frequency of each element of the array.</a:t>
            </a:r>
          </a:p>
          <a:p>
            <a:pPr marL="0" indent="0">
              <a:buNone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0" indent="0">
              <a:buNone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+mj-lt"/>
              <a:buAutoNum type="alphaLcParenR" startAt="2"/>
            </a:pPr>
            <a:r>
              <a:rPr lang="en-US" sz="2800" b="1" dirty="0">
                <a:solidFill>
                  <a:srgbClr val="00FF00"/>
                </a:solidFill>
              </a:rPr>
              <a:t>WAP to remove all duplicates from array.</a:t>
            </a:r>
          </a:p>
          <a:p>
            <a:pPr marL="742950" indent="-742950">
              <a:buFont typeface="+mj-lt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+mj-lt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+mj-lt"/>
              <a:buAutoNum type="alphaLcParenR" startAt="2"/>
            </a:pPr>
            <a:r>
              <a:rPr lang="en-US" sz="2800" b="1" dirty="0">
                <a:solidFill>
                  <a:srgbClr val="FFFF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Sum of Unique Elements</a:t>
            </a:r>
            <a:endParaRPr lang="en-US" sz="2800" b="1" dirty="0">
              <a:solidFill>
                <a:srgbClr val="FFFF99"/>
              </a:solidFill>
            </a:endParaRPr>
          </a:p>
          <a:p>
            <a:pPr marL="742950" indent="-742950">
              <a:buFont typeface="+mj-lt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0" indent="0">
              <a:buNone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0" indent="0">
              <a:buNone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00FF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979A8F-EAA0-1D80-7009-EE8E2808B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9DA3AF-6185-7944-B2EB-1E8473118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A757B-E9A9-0F2F-1E73-06FE35A9F670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5417E5-893D-AABF-5E2F-05EA19EE13B5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0DA46D-1CFD-E114-3338-5C7AC8F3950E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D929CF-AE35-9E19-3AE4-745FA93B5F08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D0539396-DBBC-3CAA-390C-04DB23C85807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EBAD2A43-96A7-3291-F8D9-597BAA4E71EC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2FE51279-A6F6-3871-9A68-A9F26493CEBE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48C7FB91-BD8F-E62F-7AC9-F4A0F12454B9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04FDBD51-6182-6962-84A6-8250D30F4DA5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3A1DA6D5-6055-924D-DA42-2981BC43B511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8DE03A15-77B9-B4C9-CAF4-BC97771A7E7F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FE35E0E2-C774-FD0C-03D5-38A7150C1FA3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8CC315B8-CBF8-4E85-3459-9C40C8AA9E34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3B371394-5FD2-C56E-72F0-58A009EBFC5A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6AFDA272-1D0D-733E-8332-C3082B061686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79BDAF7B-6344-3986-B143-3AD0FF6D51C9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0B1A73E-7F4D-60E5-FBD5-83F71072CD15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A0AAB4-884C-C730-6AFF-7CB4561EE761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9DE83F2-BC7E-AF1F-224F-73E6A26F93CE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736D01D-2AAE-0A84-F982-610DD49EDA0A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7468923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392F6-6DA5-082D-E317-15BEF1C2E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3F33F-5842-E8DE-9254-F0E1C9D53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C000"/>
                </a:solidFill>
              </a:rPr>
              <a:t>Topic: Array, </a:t>
            </a:r>
            <a:r>
              <a:rPr lang="en-US" sz="2400" b="1" u="sng" dirty="0">
                <a:solidFill>
                  <a:srgbClr val="FFC000"/>
                </a:solidFill>
              </a:rPr>
              <a:t>Hashing</a:t>
            </a:r>
            <a:endParaRPr lang="en-US" sz="3200" b="1" u="sng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21BDE-4B22-F931-DDE6-68499EF89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Font typeface="Arial" pitchFamily="34" charset="0"/>
              <a:buAutoNum type="alphaLcParenR"/>
            </a:pPr>
            <a:r>
              <a:rPr lang="en-US" sz="2800" b="1" dirty="0">
                <a:solidFill>
                  <a:srgbClr val="00FF00"/>
                </a:solidFill>
              </a:rPr>
              <a:t>WAP to print the element and its frequency which has appeared for the maximum time in the array.</a:t>
            </a: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US" sz="2800" b="1" dirty="0">
                <a:solidFill>
                  <a:srgbClr val="99FF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Find The Least Frequent Digit</a:t>
            </a:r>
            <a:endParaRPr lang="en-US" sz="2800" b="1" dirty="0">
              <a:solidFill>
                <a:srgbClr val="99FF99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US" sz="2800" b="1" dirty="0">
                <a:solidFill>
                  <a:srgbClr val="92D05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Most Frequent Even Element</a:t>
            </a: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0" indent="0">
              <a:buNone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00FF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D2FC3D-0EFB-C84A-0FD1-C0FBE36BB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F5A1EF-36A1-9010-F72F-646A3A328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920C4-939D-7DB9-43AE-C66EE8AE916C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92E5FB-2554-939F-818A-CF3A0682C5C8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8BAFCE-69C7-A3E9-3A38-80EBBDA2207D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861947-9311-B65F-6036-27A8114B2C33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B01FB2AB-615E-9B85-9559-D66076422874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044F3CE8-9157-03B6-5A1C-1DDE9A5B12DD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EAE74692-8E10-04C1-DC61-867B99249C2F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CB0C6CBA-0329-C6CE-5FB9-BF818FAB8F59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0A18AA9A-5A56-A3B9-1A0D-15F43FDE0D67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D9DCC7D2-9B9E-EC6F-EE09-7AB05D5FF29B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D314C98B-1C65-BBC1-65E3-36962C050AEB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B2AB4CDF-7BF5-3F6A-4DD9-B4E0BE52695D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BF9AA971-A30C-7205-79F9-A0F405FEF292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783A1361-5B5B-13BF-A72A-C3D4E6907609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5C98894B-BF66-C520-A443-BB8AAACF4070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967C6489-33B4-9A2D-5814-8BF3BB8640A4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8B48A7E-13F1-A16A-E087-3389D06422B0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7BC1F0-4470-7015-3AA0-CBB2A312B8C7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35D29B-0710-4937-BDB8-0AA2A1240B4F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663291D-725C-CD1C-D971-C86AEF2F3994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0254792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3D44E-BE0A-B9F4-CD7A-F22021146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54E90-B4AB-F502-454F-99EFA2834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C000"/>
                </a:solidFill>
              </a:rPr>
              <a:t>Topic: Array, </a:t>
            </a:r>
            <a:r>
              <a:rPr lang="en-US" sz="2400" b="1" u="sng" dirty="0">
                <a:solidFill>
                  <a:srgbClr val="FFC000"/>
                </a:solidFill>
              </a:rPr>
              <a:t>Hashing</a:t>
            </a:r>
            <a:endParaRPr lang="en-US" sz="3200" b="1" u="sng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81614-9551-1C4E-C0C9-CF8D14124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Font typeface="Arial" pitchFamily="34" charset="0"/>
              <a:buAutoNum type="alphaLcParenR"/>
            </a:pPr>
            <a:r>
              <a:rPr lang="en-US" sz="2800" b="1" dirty="0">
                <a:solidFill>
                  <a:srgbClr val="00FF00"/>
                </a:solidFill>
              </a:rPr>
              <a:t>Design a method to return the index of the first non-repeating element in an array otherwise return -1 if no such element is found.</a:t>
            </a: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US" sz="2800" b="1" dirty="0">
                <a:solidFill>
                  <a:srgbClr val="DCFEA4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Kth Largest Element in an Array</a:t>
            </a:r>
            <a:endParaRPr lang="en-US" sz="2800" b="1" dirty="0">
              <a:solidFill>
                <a:srgbClr val="DCFEA4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IN" sz="2800" b="1" dirty="0">
                <a:solidFill>
                  <a:srgbClr val="BBF96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Two Sum</a:t>
            </a:r>
            <a:endParaRPr lang="en-US" sz="2800" b="1" dirty="0">
              <a:solidFill>
                <a:srgbClr val="99FF99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0" indent="0">
              <a:buNone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00FF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7692DC-EF9A-2EC7-1E5E-7482C45A3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1D9E3A-4E39-96C5-6FA6-F6D8928AC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EEF86-7E39-59C9-3E21-1ECA6897A2AD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7D2DEA-A684-741C-8BFC-5D3139C62A33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3B171B-B5C0-D5DB-BE0B-B09B9CFECB8B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2DA2A0D-2869-EC5B-EC3C-0F15A51E7CE4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E4DCD750-6046-9006-6DFB-878D09EA0BDB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9CA8B74C-BEB4-2875-6AB0-F96B61AF1641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00DBA16C-3A08-AA2B-035A-AF1BFE52E140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86450C68-6392-EDB7-334B-DD7AFF3D3648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E33A47DD-0132-76B4-4B20-A38BF8ACBB55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EBFEFF59-AC0E-9EEA-9AA5-D18F12272A56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12164FB9-F213-3C31-54FF-16F1CBB26511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8971858E-D35E-2DD5-0CBE-8625D313CEE8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EB210365-820F-C2BC-5519-6661A6DCC805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D099DA8F-F323-EC11-EBD3-D98F4120566C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C99171B2-AEC7-8E73-F88C-FFBFBD454139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2721DF0B-E8F4-4C01-B8DF-A60B2C932A69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A5FF42D-90D4-3C9C-8E84-D791B9357BA5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16CEE9-AA07-C556-9B32-78800AB95447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D44E55A-A9EE-A6B1-9D90-B0FBDB27D637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E3D8121-CBB2-715C-1767-A3122DDD05C3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6230307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94FEE-4818-AE5C-6C5E-6FA4BCDB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E43C8-B509-335E-BA0E-4296DA033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C000"/>
                </a:solidFill>
              </a:rPr>
              <a:t>Topic: Array, </a:t>
            </a:r>
            <a:r>
              <a:rPr lang="en-US" sz="2400" b="1" u="sng" dirty="0">
                <a:solidFill>
                  <a:srgbClr val="FFC000"/>
                </a:solidFill>
              </a:rPr>
              <a:t>Hashing</a:t>
            </a:r>
            <a:endParaRPr lang="en-US" sz="3200" b="1" u="sng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FCF0F-948A-BFFD-BEB0-DB1F180A1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Font typeface="Arial" pitchFamily="34" charset="0"/>
              <a:buAutoNum type="alphaLcParenR"/>
            </a:pPr>
            <a:r>
              <a:rPr lang="en-IN" sz="2800" b="1" dirty="0">
                <a:solidFill>
                  <a:srgbClr val="99FF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First Missing Positive</a:t>
            </a:r>
            <a:endParaRPr lang="en-US" sz="2800" b="1" dirty="0">
              <a:solidFill>
                <a:srgbClr val="99FF99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IN" sz="2800" b="1" dirty="0">
                <a:solidFill>
                  <a:srgbClr val="FFFF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Count Primes</a:t>
            </a:r>
            <a:endParaRPr lang="en-US" sz="2800" b="1" dirty="0">
              <a:solidFill>
                <a:srgbClr val="FFFF99"/>
              </a:solidFill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US" sz="2800" b="1" dirty="0">
                <a:solidFill>
                  <a:srgbClr val="92D05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Check if The Number is Fascinating</a:t>
            </a:r>
            <a:endParaRPr lang="en-US" sz="2800" b="1" dirty="0">
              <a:solidFill>
                <a:srgbClr val="92D050"/>
              </a:solidFill>
              <a:hlinkClick r:id="rId6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0" indent="0">
              <a:buNone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00FF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1A12A3-778A-FD2E-59CA-C925584D2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73A211-A412-AB6D-629C-591126E25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AC2BB-4148-7977-35B0-FB94F3C1C21A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A60D7D-B3DC-6B49-DBCA-A1B101F7CE48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8FCF26-8CBF-2003-1D52-7765B31A7AB6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ED1BDD-3356-B6FC-2CC4-A07320BB9E15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AD5C0D96-4D1D-6AA9-1147-B0994D1EA34B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71500E2F-DD02-9641-2C70-95B9AEE9E9AE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FFC10319-796C-0141-191C-C3678A8224E8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1DC2D887-3BFD-07AD-EC31-A9ADAB9CF509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CB6A223E-0FE6-F13F-B3F7-09226FE293C7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A85EB203-38ED-47CB-166C-C10CDE6FB067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781FE454-9F4C-AAFD-DF93-1806A81A369B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040A3ED3-B135-1F7E-D992-221DBF05FEAB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67C909C0-D2C5-239E-0E44-8C3632A99569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69EDFCFA-FD63-06EA-16B7-25ACEA0ED5C1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51BEE169-72AC-24B3-8158-82EA847A42D5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F38F8C04-C1E7-99DF-F0B0-9E14139C5767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2F3609C-B64C-B9B5-0EFA-08F3E49D02E0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274F56-7170-4F44-92A5-9C972CF4D434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7DE350A-7CD5-5C94-0FF1-5ADE5BFFF335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FF303C9-9A9C-F462-F434-DA9AB07352BC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00609910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6D0E6-5058-B4FF-96E5-AF2187763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0670D-BABA-3D3C-A31A-BB8A89AFA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C000"/>
                </a:solidFill>
              </a:rPr>
              <a:t>Topic: Array, </a:t>
            </a:r>
            <a:r>
              <a:rPr lang="en-US" sz="2400" b="1" u="sng" dirty="0">
                <a:solidFill>
                  <a:srgbClr val="FFC000"/>
                </a:solidFill>
              </a:rPr>
              <a:t>Hashing</a:t>
            </a:r>
            <a:endParaRPr lang="en-US" sz="3200" b="1" u="sng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84C99-BFE9-3AFF-9D68-4E51FC36C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Font typeface="Arial" pitchFamily="34" charset="0"/>
              <a:buAutoNum type="alphaLcParenR"/>
            </a:pPr>
            <a:r>
              <a:rPr lang="en-IN" sz="2800" b="1" dirty="0">
                <a:solidFill>
                  <a:srgbClr val="92D05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Majority Element</a:t>
            </a:r>
            <a:endParaRPr lang="en-IN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IN" sz="2800" b="1" dirty="0">
                <a:solidFill>
                  <a:srgbClr val="92D05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Majority Element II</a:t>
            </a: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0" indent="0">
              <a:buNone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00FF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9DAD4E-3065-8ADC-57E9-ABB08C4F4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17A53E-96AE-2F73-7333-08F82047E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33ECF2-B3BC-40B0-4DFA-6B0AB8136B93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180141-67E2-3457-08FF-72459D327191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6C54FE-AECA-383D-C4EC-7C8C80905984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CBE2BF-6BB0-2FF8-9A9A-62E40712F6F0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DC17E0CA-CA3C-4F10-F4AC-1C29CC00ECA0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BFBC29CA-3F71-6F72-B5C0-3B101A0B2C5E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4262D8C1-C0EB-381C-19A4-E3E581836A55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447EFDAE-554E-BD3E-0760-5B0D37E98688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104C4CE8-7D8B-EB7D-E506-0FD20735F513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6085FAA6-6016-EF75-6DD1-F2DE99AAFADC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C2D2814D-5BBE-D6FC-83FB-59F272DF0AAA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94832DFB-0F40-D497-5D48-FAD030DA1FA1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A8A0AC1C-4ECC-AA95-B8F8-F70A2B0E38D9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0EDBC67F-8F69-A293-9024-8D3D770F114E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477E240E-1EDD-51CF-167B-62457952B49A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84A50E49-5C19-DC62-99D3-3263FF7FEC2B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A849D71-24E7-3078-3FB6-D8C4F67EDF5E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B5CC8A-C3CD-BB69-5E13-A11F190283C5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4D49D7-19A1-444B-6C67-14EEEE05821E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6657DDC-5EF4-1A2E-27B6-B7CD12E01CBD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8010338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517D4-ACC4-A288-BE56-C909B169F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71650-0032-3FF7-1CAF-A95146BF4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C000"/>
                </a:solidFill>
              </a:rPr>
              <a:t>Topic: Array, </a:t>
            </a:r>
            <a:r>
              <a:rPr lang="en-US" sz="2400" b="1" u="sng" dirty="0">
                <a:solidFill>
                  <a:srgbClr val="FFC000"/>
                </a:solidFill>
              </a:rPr>
              <a:t>Kaden’s</a:t>
            </a:r>
            <a:endParaRPr lang="en-US" sz="3200" b="1" u="sng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62239-9F78-F4CB-D3FF-CE8668FD5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Font typeface="Arial" pitchFamily="34" charset="0"/>
              <a:buAutoNum type="alphaLcParenR"/>
            </a:pPr>
            <a:r>
              <a:rPr lang="en-IN" sz="2800" b="1" dirty="0">
                <a:solidFill>
                  <a:srgbClr val="FFFF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Maximum Subarray</a:t>
            </a:r>
            <a:endParaRPr lang="en-US" sz="2800" b="1" dirty="0">
              <a:solidFill>
                <a:srgbClr val="FFFF99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IN" sz="2800" b="1" dirty="0">
                <a:solidFill>
                  <a:srgbClr val="FFFF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Maximum Product Subarray</a:t>
            </a:r>
            <a:endParaRPr lang="en-US" sz="2800" b="1" dirty="0">
              <a:solidFill>
                <a:srgbClr val="FFFF99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0" indent="0">
              <a:buNone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00FF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B88DB9-E85E-69A8-87B0-0BB489C17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9D92FC-4A61-53BF-B077-9085317DD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323F3-D8CB-08BD-113F-1AC8DBDB6392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585F37-83E3-197F-AEFB-CA784FACA067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6F3479-65E5-CCA8-D575-2530AB7C4B5B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B285A4-DE67-65B0-E172-DBA5407FAAE2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04337693-D44B-71CF-6DF7-9D7DB5AE8AC8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C4C5B245-9C2E-55CF-F6B5-808AE56441AC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5596025E-E55E-E2A8-097D-EC239DA2463C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FC5A4D86-27C3-DABE-8402-1E8906765BA7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EF5BDE15-66D8-801F-A4E7-AB730AD471CE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47E442E4-B409-AAE0-2938-9BAECA28D234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C4B702E7-91C8-8707-9E71-9B58975A20BD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7A260764-78F9-8260-84E2-001D3248FFC3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097547F4-E043-18EA-BBB4-A560BD957381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96B3B0E3-8D4D-8AA6-8C49-3DB1F07627C6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7914879A-6959-8933-3789-5C072E98A614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7F8EAA5B-D3A4-DF7D-423E-445EA1169F2B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947C5B9-13B7-8232-9CCC-DE2E510A220D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F18F4F-CF81-FC5A-841B-0729A806116D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8599C9-6DF7-109F-549E-D34DB42DB351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BB414B2-6FC0-3589-D54E-B5D66A4C5B7F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9140877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852F0-7064-80BD-6742-D82D4A34B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B5C06-F0E2-705E-9B70-F6F5DCF2A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C000"/>
                </a:solidFill>
              </a:rPr>
              <a:t>Topic: Array, </a:t>
            </a:r>
            <a:r>
              <a:rPr lang="en-US" sz="2400" b="1" u="sng" dirty="0">
                <a:solidFill>
                  <a:srgbClr val="FFC000"/>
                </a:solidFill>
              </a:rPr>
              <a:t>Sorting</a:t>
            </a:r>
            <a:endParaRPr lang="en-US" sz="3200" b="1" u="sng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3F2BB-6E45-77D0-D743-FF602405A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Font typeface="Arial" pitchFamily="34" charset="0"/>
              <a:buAutoNum type="alphaLcParenR"/>
            </a:pPr>
            <a:r>
              <a:rPr lang="en-US" sz="2800" b="1" dirty="0">
                <a:solidFill>
                  <a:srgbClr val="FFFF99"/>
                </a:solidFill>
              </a:rPr>
              <a:t>WAP to sort the array elements in ascending order by implementing </a:t>
            </a:r>
            <a:r>
              <a:rPr lang="en-US" sz="3600" b="1" dirty="0">
                <a:solidFill>
                  <a:srgbClr val="53E810"/>
                </a:solidFill>
              </a:rPr>
              <a:t>Bubble sort </a:t>
            </a:r>
            <a:r>
              <a:rPr lang="en-US" sz="2800" b="1" dirty="0">
                <a:solidFill>
                  <a:srgbClr val="FFFF99"/>
                </a:solidFill>
              </a:rPr>
              <a:t>algorithm.</a:t>
            </a: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0" indent="0">
              <a:buNone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00FF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4DD0CD-868A-F16B-EDB4-D5B88CE20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59C774-2AEB-86F7-90B5-7BA4C079E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246B7-6CF2-ED63-586E-1344E413CB20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366AE5-B74C-A66B-95C9-8FDFFD6488B7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6404B9-4EF8-F3BA-6908-260A1535BAE7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182672-5DE2-38FD-B145-32D9EB7C1D1C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BFDE3BD5-01D9-923E-7125-A5DA2B67AE33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DDDF87E8-2E92-1BA9-0A16-82A952CCB5AB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68217854-5691-7672-B9AF-C131637082B6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391F9A98-53A5-CCAA-E9B8-1B27CF5B5866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4D979570-8477-07C7-AEC5-7D8F2C7D9F90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6768A697-05B2-FABC-B3A0-B460CF146393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4FD13EB3-8545-A04C-8485-8DFDEA4B95E7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03D75818-4C5C-4E72-5121-36923E3BBBC4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0707AF67-6ECD-D44D-6CD7-B4FB7B60C490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64958710-EB78-C6A1-5209-4FDDE5B7DA1A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704EB0BD-6572-5C8A-E989-A26A13659ECC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51FB6583-CD43-1975-0967-29F447EBC2E8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CF9600A-519C-8A2A-A460-04D85AAB1BE6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0C6BF4-7E48-3428-7171-6F365777855B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0DD92B-0CD5-C497-E43C-697A79EB9DD3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AA978F2-9407-BD78-609B-32B01C4E1ADD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71028804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E4F90-BE4F-7B23-3E8F-7710D2E78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56716-A8F8-763B-0BAF-36FBD523A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C000"/>
                </a:solidFill>
              </a:rPr>
              <a:t>Topic: Array, </a:t>
            </a:r>
            <a:r>
              <a:rPr lang="en-US" sz="2400" b="1" u="sng" dirty="0">
                <a:solidFill>
                  <a:srgbClr val="FFC000"/>
                </a:solidFill>
              </a:rPr>
              <a:t>Sorting</a:t>
            </a:r>
            <a:endParaRPr lang="en-US" sz="3200" b="1" u="sng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DB470-461D-5FEE-6F70-E5C100632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Font typeface="Arial" pitchFamily="34" charset="0"/>
              <a:buAutoNum type="alphaLcParenR"/>
            </a:pPr>
            <a:r>
              <a:rPr lang="en-US" sz="2800" b="1" dirty="0">
                <a:solidFill>
                  <a:srgbClr val="00FF00"/>
                </a:solidFill>
              </a:rPr>
              <a:t>WAP to sort the array elements in ascending order by implementing </a:t>
            </a:r>
            <a:r>
              <a:rPr lang="en-US" sz="3600" b="1" u="sng" dirty="0">
                <a:solidFill>
                  <a:srgbClr val="FFFF99"/>
                </a:solidFill>
              </a:rPr>
              <a:t>Selection sort </a:t>
            </a:r>
            <a:r>
              <a:rPr lang="en-US" sz="2800" b="1" dirty="0">
                <a:solidFill>
                  <a:srgbClr val="00FF00"/>
                </a:solidFill>
              </a:rPr>
              <a:t>algorithm.</a:t>
            </a: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0" indent="0">
              <a:buNone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00FF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79C7EA-7B37-C5AF-0436-243F0731D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DF5228-972E-0A30-1FE8-B97554D6F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D7B7A-1F3D-F9FE-3C35-00304620A2A7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8FFABB-6265-9124-4CDF-10D06B818FE8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500BA1-FF8B-DB77-C8A5-E436BF1A8DB3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FAF168-3EEB-78FA-7B22-4B8D9B5DC243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5D5ACD2B-3CC2-A446-FC7E-DD3CA983A210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AE53334A-0228-3C3D-0FAB-C75D80C851DF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D7888272-DA9C-1F90-3167-C4759AB43207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065FD347-0B9C-2E51-6B10-19BA7D5B6BAE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DF2E059C-3D9B-1AE2-205C-7B6850673748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B5258837-6995-9CDB-C22A-16FC7191CA14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ED68C300-4E13-B304-06C8-C421A91DB2BA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636D28E5-2A3E-6FAE-DD04-6EFB7138E601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441E6F62-6FC7-A786-66AF-960BB0DB59DA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E538B9E1-D407-23C8-63E5-1ABCA9BCE0BB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ED1D60DD-3A75-81C6-EB9B-B0E19E8C5AD6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41894AA6-556B-19B1-8F95-59D78EA8D6B8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9E06110-E6BC-E3B1-9B82-1921F422AAD8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D10565-9FD3-762D-5232-195E9D030953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A1DB1BA-C0F3-C3B1-A331-AEC88EECF379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980F53E-E83C-AB6C-C1A6-78B31ACA7E70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7133272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95E30-611F-04E8-3541-E4BBDFFAB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A2BFF-F1C9-3E6C-2A3A-D7B10FC65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C000"/>
                </a:solidFill>
              </a:rPr>
              <a:t>Topic: Array, </a:t>
            </a:r>
            <a:r>
              <a:rPr lang="en-US" sz="2400" b="1" u="sng" dirty="0">
                <a:solidFill>
                  <a:srgbClr val="FFC000"/>
                </a:solidFill>
              </a:rPr>
              <a:t>Sorting</a:t>
            </a:r>
            <a:endParaRPr lang="en-US" sz="3200" b="1" u="sng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2956A-A328-2758-EEBD-B0EE29B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Font typeface="Arial" pitchFamily="34" charset="0"/>
              <a:buAutoNum type="alphaLcParenR"/>
            </a:pPr>
            <a:r>
              <a:rPr lang="en-US" sz="2800" b="1" dirty="0">
                <a:solidFill>
                  <a:srgbClr val="00FF00"/>
                </a:solidFill>
              </a:rPr>
              <a:t>WAP to sort the array elements in ascending order by implementing </a:t>
            </a:r>
            <a:r>
              <a:rPr lang="en-US" sz="3600" b="1" u="sng" dirty="0">
                <a:solidFill>
                  <a:srgbClr val="FFFF99"/>
                </a:solidFill>
              </a:rPr>
              <a:t>Insertion sort </a:t>
            </a:r>
            <a:r>
              <a:rPr lang="en-US" sz="2800" b="1" dirty="0">
                <a:solidFill>
                  <a:srgbClr val="00FF00"/>
                </a:solidFill>
              </a:rPr>
              <a:t>algorithm.</a:t>
            </a: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0" indent="0">
              <a:buNone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00FF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ACC6A2-9614-ED2A-498D-E8A4A1453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0E2C8B-9B89-E6A6-CFB8-44E9490CC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DF987-CF2D-E854-0746-9A19D890872D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988561-8B1C-F1DD-E18E-033C367D7160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5E39EE-2AA8-C467-A8BB-AC0CCD6032EA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451C9F-A457-B85C-4BA1-A01CAFF5D08B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7EAC1B46-8017-2FED-FAC8-754CBB6B8C25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5C69F6CD-C29F-26F6-1CE4-F9A5124F18B3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59A88234-2E6B-1656-1811-82328586E9A5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EA4D10C3-663F-9253-91E4-2AC9D3E8BF0E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19AE9E82-938D-C8E5-99DD-7BFFF9E7ECA2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C451740A-7C5D-51A0-6AA1-CBE0A28D3134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A7EED97F-1C95-96B4-D47C-2F5555E273B6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D993628E-AD72-A822-4AA9-42725A8CE008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A8322DF4-2990-128B-6680-2246C47FA3D8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16DBC391-A633-710C-1D5F-069F41314659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EF4BA70E-58D0-F673-4ED0-64FAA09A67BD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26EBF7AD-4F32-67A5-6255-40735EDCC9A8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48AA9C9-1DAD-43FB-1CCA-9DB06744A023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68A85C-DFB3-1232-A138-25DF610967DB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F272F94-A435-4073-AAA3-B1B88B38004A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E4F32FA-B275-8992-B849-82F812E110E1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6295266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22BE8-7DBB-B328-5322-C440D3EBD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C64DE-F68B-2D60-1394-AC1CEF10E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C000"/>
                </a:solidFill>
              </a:rPr>
              <a:t>Topic: Array, </a:t>
            </a:r>
            <a:r>
              <a:rPr lang="en-US" sz="2400" b="1" u="sng" dirty="0">
                <a:solidFill>
                  <a:srgbClr val="FFC000"/>
                </a:solidFill>
              </a:rPr>
              <a:t>Sorting</a:t>
            </a:r>
            <a:endParaRPr lang="en-US" sz="3200" b="1" u="sng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08980-ECDA-B754-CB76-E73D645FE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Font typeface="Arial" pitchFamily="34" charset="0"/>
              <a:buAutoNum type="alphaLcParenR"/>
            </a:pPr>
            <a:r>
              <a:rPr lang="en-US" sz="2800" b="1" dirty="0">
                <a:solidFill>
                  <a:srgbClr val="00FF00"/>
                </a:solidFill>
              </a:rPr>
              <a:t>WAP to sort the array elements in ascending order by implementing </a:t>
            </a:r>
            <a:r>
              <a:rPr lang="en-US" sz="3600" b="1" u="sng" dirty="0">
                <a:solidFill>
                  <a:srgbClr val="FFFF99"/>
                </a:solidFill>
              </a:rPr>
              <a:t>Count Sort </a:t>
            </a:r>
            <a:r>
              <a:rPr lang="en-US" sz="2800" b="1" dirty="0">
                <a:solidFill>
                  <a:srgbClr val="00FF00"/>
                </a:solidFill>
              </a:rPr>
              <a:t>algorithm.</a:t>
            </a: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0" indent="0">
              <a:buNone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00FF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476EEC-36DE-E0DC-F5D0-40612CCCA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729AD4-03FB-C45F-7F5F-C68CF2283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71603-E458-BBA6-10FF-AD1708E1E197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61D1F5-FE6C-5672-2159-863ABE34A42E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103CD6-8043-4F4C-B9EB-E1655C90E728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1DBE44-BC0A-90BE-F454-13EFEE476B3E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6B1FC021-E60D-47CC-8EEB-5262428CFF2C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E0F001EA-75CE-BB08-B6E4-370F0D31E050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EF57FB67-B2FF-AAFF-ADAD-EC54E25331F7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AE4B614A-3FD8-67E8-0FC1-29D09894569A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328C5C13-C337-4B85-B747-A8B014A935B1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8054FE43-A619-5EDC-DADC-EB3116B9BD8A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876B480E-7546-0584-B150-2C71DD5779D8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CA2C34E6-CE47-2C76-51C9-3FA65EDB3AD7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F7244FF2-8E90-E3D7-9E2E-0F9A43CAE312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A4AD580B-EE5B-9C11-348C-96AA84C8BD07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D5E86CB5-C57E-A50E-FEA1-2B746B9B6A31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3203A066-DA95-8DBE-C93D-D7725D2E0FB0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69D1654-5167-CB35-7D08-0B1354B72095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12A89F-2B58-531B-6F84-50A82327C178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8E20B33-7808-2A43-1319-4B3E69F4D4F2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35D6474-C2E5-2419-8044-2935B54F89E8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05727768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4C468-181A-BF1A-BD77-FA1C350CE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F380D-7E16-1082-F792-5516FB7EC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C000"/>
                </a:solidFill>
              </a:rPr>
              <a:t>Topic: Array, </a:t>
            </a:r>
            <a:r>
              <a:rPr lang="en-US" sz="2400" b="1" u="sng" dirty="0">
                <a:solidFill>
                  <a:srgbClr val="FFC000"/>
                </a:solidFill>
              </a:rPr>
              <a:t>Sorting</a:t>
            </a:r>
            <a:endParaRPr lang="en-US" sz="3200" b="1" u="sng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D234A-0D25-22C3-7580-CF3146A25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Font typeface="Arial" pitchFamily="34" charset="0"/>
              <a:buAutoNum type="alphaLcParenR"/>
            </a:pPr>
            <a:r>
              <a:rPr lang="en-US" b="1" dirty="0">
                <a:solidFill>
                  <a:srgbClr val="00FF00"/>
                </a:solidFill>
              </a:rPr>
              <a:t>Merge two sorted array in sorted manner.</a:t>
            </a:r>
            <a:endParaRPr lang="en-US" sz="2800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	</a:t>
            </a:r>
            <a:r>
              <a:rPr lang="en-US" sz="2800" b="1" dirty="0" err="1">
                <a:solidFill>
                  <a:srgbClr val="00FF00"/>
                </a:solidFill>
              </a:rPr>
              <a:t>i</a:t>
            </a:r>
            <a:r>
              <a:rPr lang="en-US" sz="2800" b="1" dirty="0">
                <a:solidFill>
                  <a:srgbClr val="00FF00"/>
                </a:solidFill>
              </a:rPr>
              <a:t>/p: 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FF00"/>
                </a:solidFill>
              </a:rPr>
              <a:t>		arr1 = {20, 30, 50, 60}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FF00"/>
                </a:solidFill>
              </a:rPr>
              <a:t>		arr2 = {2, 28, 32, 35, 42}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FF00"/>
                </a:solidFill>
              </a:rPr>
              <a:t>	merged: {2, 20, 28, 30, 32, 35, 42, 50, 60}</a:t>
            </a:r>
          </a:p>
          <a:p>
            <a:pPr marL="0" indent="0">
              <a:buNone/>
            </a:pPr>
            <a:endParaRPr lang="en-US" b="1" dirty="0">
              <a:solidFill>
                <a:srgbClr val="00FF00"/>
              </a:solidFill>
            </a:endParaRPr>
          </a:p>
          <a:p>
            <a:pPr marL="514350" indent="-514350">
              <a:buFont typeface="+mj-lt"/>
              <a:buAutoNum type="alphaLcParenR" startAt="2"/>
            </a:pPr>
            <a:r>
              <a:rPr lang="en-IN" b="1" dirty="0">
                <a:solidFill>
                  <a:srgbClr val="DCFEA4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Merge Sorted Array</a:t>
            </a:r>
            <a:endParaRPr lang="en-US" b="1" dirty="0">
              <a:solidFill>
                <a:srgbClr val="DCFEA4"/>
              </a:solidFill>
            </a:endParaRPr>
          </a:p>
          <a:p>
            <a:pPr marL="514350" indent="-514350">
              <a:buFont typeface="+mj-lt"/>
              <a:buAutoNum type="alphaLcParenR" startAt="2"/>
            </a:pPr>
            <a:endParaRPr lang="en-US" b="1" dirty="0">
              <a:solidFill>
                <a:srgbClr val="00FF0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0" indent="0">
              <a:buNone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00FF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5C907F-1355-C31E-A719-CCF25D911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28A08A-5AE9-8DFA-72DF-5EB7FD0C3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FC704-8A17-8D36-FE88-7490C8F78B9F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4CF2CB-75CD-4780-0BDB-97A8AA28334C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3D5990-94CD-C5A4-AFFB-07523F7A4E95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E26CCB-0401-640A-48FC-69B59B778120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CCBDFC64-6547-2693-81C2-896CD04423CB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6539CF1E-BD1E-6A56-63F0-0CEE98F92281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41A2018E-1213-E54C-7E78-FC96FD5E6389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47A8C7F0-46D4-67AD-77F5-74E137260D7B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03500AE7-7832-DF21-8336-5759125BE56B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1184FD3C-335A-EC62-680B-6CA81FB1A015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3DF628A1-89FE-E030-AA03-9399EF6FB270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982AD530-7374-63D3-2A48-D3A1168E9A9C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606CDB56-B375-7AC1-1448-975B2A7BBC2D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775F644B-2F3E-54F4-22EE-0053DD3B6D8A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43B2802A-3B88-C197-ED6C-566DFBEBC08A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C5AEC502-FDB6-E25D-41EC-63F13C781DFC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80FB0E9-C7C7-EB21-AE0C-404BBB5E0CF5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A4D159-1D16-5CFB-9DA1-1A8984E42B85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E1790EF-E1E3-88E7-70F0-BA5012301F00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6459BD3-CE56-3B49-3CF1-00D64DC5008E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33570914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E4342-FBC2-F394-0445-AC3E97994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BB608-62CA-0E03-A2E5-6F24D968D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C000"/>
                </a:solidFill>
              </a:rPr>
              <a:t>Topic: Array, </a:t>
            </a:r>
            <a:r>
              <a:rPr lang="en-US" sz="2400" b="1" u="sng" dirty="0">
                <a:solidFill>
                  <a:srgbClr val="FFC000"/>
                </a:solidFill>
              </a:rPr>
              <a:t>Sorting</a:t>
            </a:r>
            <a:endParaRPr lang="en-US" sz="3200" b="1" u="sng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1E11A-0BA0-151C-8954-D2689C49C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Font typeface="Arial" pitchFamily="34" charset="0"/>
              <a:buAutoNum type="alphaLcParenR"/>
            </a:pPr>
            <a:r>
              <a:rPr lang="en-US" b="1" dirty="0">
                <a:solidFill>
                  <a:srgbClr val="00FF00"/>
                </a:solidFill>
              </a:rPr>
              <a:t>WAP to sort the array elements in ascending order by implementing </a:t>
            </a:r>
            <a:r>
              <a:rPr lang="en-US" sz="4000" b="1" dirty="0">
                <a:solidFill>
                  <a:srgbClr val="FFFF99"/>
                </a:solidFill>
              </a:rPr>
              <a:t>Merge sort </a:t>
            </a:r>
            <a:r>
              <a:rPr lang="en-US" b="1" dirty="0">
                <a:solidFill>
                  <a:srgbClr val="00FF00"/>
                </a:solidFill>
              </a:rPr>
              <a:t>algorithm.</a:t>
            </a:r>
          </a:p>
          <a:p>
            <a:pPr marL="514350" indent="-514350">
              <a:buFont typeface="+mj-lt"/>
              <a:buAutoNum type="alphaLcParenR" startAt="2"/>
            </a:pPr>
            <a:endParaRPr lang="en-US" b="1" dirty="0">
              <a:solidFill>
                <a:srgbClr val="00FF00"/>
              </a:solidFill>
            </a:endParaRPr>
          </a:p>
          <a:p>
            <a:pPr marL="514350" indent="-514350">
              <a:buFont typeface="+mj-lt"/>
              <a:buAutoNum type="alphaLcParenR" startAt="2"/>
            </a:pPr>
            <a:endParaRPr lang="en-US" b="1" dirty="0">
              <a:solidFill>
                <a:srgbClr val="00FF0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0" indent="0">
              <a:buNone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00FF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B693E7-77FF-F9E3-98FD-239414028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95BDF4-EFEC-E819-CABF-B2062E595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6F80B-5ED1-9BE2-D833-16663DC5D9E1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AC81C3-B1E2-8C27-29A9-A3672C5F1B6A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B06091-1AB1-DA69-7754-442FD19200FC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43C5C6-BB5E-6D8A-550B-D99F7F990508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854B5412-9A64-0556-0809-80C7CD01F769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54B305A7-F6EE-CB52-40D5-C0AF2413395F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6CAE5F13-03F8-E1C1-F8B3-C63201D58108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2294A757-3094-5384-F4F1-DEB6D9E3F6BE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8405AB71-61A2-8E6A-A241-065DD320EA2F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696736A9-4CF2-3C4E-0360-A810054B122D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B5B5C015-BAD5-63D0-9B88-C89E516537A9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2ADED7D9-5D57-74A3-0B56-2B84D5EBAE80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A6C9C8BB-D5EC-6460-7287-90761AC3A715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FC9D507C-0D96-43DB-2B20-DFAD1A680B13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1163B571-0411-9C1A-6C46-F282BC905C33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A97E857F-5563-C5B6-DFF4-0DC3E150BC81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C48612B-CA4D-722A-12B2-ECBE4E1D5095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F90464-D1CD-E2EA-DA86-8CC9C3F2E9AD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3FBE34-AA92-EAB9-5FF8-B4A3B11C7393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CF3E9C8-41DD-2206-5A2D-A28014B4F6FB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74853758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B8716-6F31-BA00-1131-45E212C10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DC999-2E22-1FEC-3CC9-A58D648E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C000"/>
                </a:solidFill>
              </a:rPr>
              <a:t>Topic: Array, </a:t>
            </a:r>
            <a:r>
              <a:rPr lang="en-US" sz="2400" b="1" u="sng" dirty="0">
                <a:solidFill>
                  <a:srgbClr val="FFC000"/>
                </a:solidFill>
              </a:rPr>
              <a:t>Sorting</a:t>
            </a:r>
            <a:endParaRPr lang="en-US" sz="3200" b="1" u="sng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11BBA-9D0D-D729-3A5F-5839231A6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Font typeface="Arial" pitchFamily="34" charset="0"/>
              <a:buAutoNum type="alphaLcParenR"/>
            </a:pPr>
            <a:r>
              <a:rPr lang="en-US" b="1" dirty="0">
                <a:solidFill>
                  <a:srgbClr val="00FF00"/>
                </a:solidFill>
              </a:rPr>
              <a:t>WAP to sort the array elements in ascending order by implementing </a:t>
            </a:r>
            <a:r>
              <a:rPr lang="en-US" sz="4000" b="1" dirty="0">
                <a:solidFill>
                  <a:srgbClr val="FFFF99"/>
                </a:solidFill>
              </a:rPr>
              <a:t>Quick sort </a:t>
            </a:r>
            <a:r>
              <a:rPr lang="en-US" b="1" dirty="0">
                <a:solidFill>
                  <a:srgbClr val="00FF00"/>
                </a:solidFill>
              </a:rPr>
              <a:t>algorithm.</a:t>
            </a:r>
          </a:p>
          <a:p>
            <a:pPr marL="514350" indent="-514350">
              <a:buFont typeface="+mj-lt"/>
              <a:buAutoNum type="alphaLcParenR" startAt="2"/>
            </a:pPr>
            <a:endParaRPr lang="en-US" b="1" dirty="0">
              <a:solidFill>
                <a:srgbClr val="00FF0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0" indent="0">
              <a:buNone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00FF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00E972-64A1-5B12-BCCF-B6C1E6AF1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8383AC-3503-DE67-CA4C-D6A53C41D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E68DF-E864-5420-D3B4-13858926245F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DD8895-5E4B-1577-D4B2-3BA72EC44A9E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D94702-B75C-B947-E2D7-6E7E39FAE764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19D590-4B46-91ED-FF2F-C0B0B294CAA7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61ED5C1D-ECFD-733E-BC8E-1CE7DACCF72A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62004836-4772-7A58-3484-839E820F33A4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5D42CBB9-D8DE-872A-2C30-9CC09BE9009F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92203CC8-1A73-F50F-41C8-D01E4DF98788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C600F366-DF8D-05B6-98CE-834E46D75C70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2DE64F23-819B-79D0-A71E-A4EF7EFD36E3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B81CE498-FD27-57A4-DF33-9B1D7745CBAA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F8BA7688-C024-F86E-ABF4-D3E1D2AAC302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C2E2013F-63AF-1255-1DFA-D8416FDEBCB7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13F51086-7A75-56A6-4D76-FCE570CED2BD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50757A06-04B1-647A-15AF-4EB9021BDA0F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F6265EDF-ECDF-81A7-F8B8-87D70ED9DA1F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B1E06A6-1D72-9398-12B1-9FAC9C4FAD91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99CBDB-4234-7986-34E5-A091B3FA815F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3095DB2-BBFD-E1C8-06FE-D4B29C878BC6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37CD3BD-D8CF-C375-284A-5092B82DF18A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83941699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5D59D-CF3A-E2F3-9EBE-F3D582442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69CDE-6D8A-03FD-24A3-556B1D769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C000"/>
                </a:solidFill>
              </a:rPr>
              <a:t>Topic: Array, </a:t>
            </a:r>
            <a:r>
              <a:rPr lang="en-US" sz="2400" b="1" u="sng" dirty="0">
                <a:solidFill>
                  <a:srgbClr val="FFC000"/>
                </a:solidFill>
              </a:rPr>
              <a:t>Sorting</a:t>
            </a:r>
            <a:endParaRPr lang="en-US" sz="3200" b="1" u="sng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24A34-C138-6143-582B-0CAB973E4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Font typeface="Arial" pitchFamily="34" charset="0"/>
              <a:buAutoNum type="alphaLcParenR"/>
            </a:pPr>
            <a:r>
              <a:rPr lang="en-US" b="1" dirty="0">
                <a:solidFill>
                  <a:srgbClr val="00FF00"/>
                </a:solidFill>
              </a:rPr>
              <a:t>WAP to sort the array elements in ascending order by implementing </a:t>
            </a:r>
            <a:r>
              <a:rPr lang="en-US" sz="4000" b="1" dirty="0">
                <a:solidFill>
                  <a:srgbClr val="FFFF99"/>
                </a:solidFill>
              </a:rPr>
              <a:t>Heap sort </a:t>
            </a:r>
            <a:r>
              <a:rPr lang="en-US" b="1" dirty="0">
                <a:solidFill>
                  <a:srgbClr val="00FF00"/>
                </a:solidFill>
              </a:rPr>
              <a:t>algorithm.</a:t>
            </a:r>
          </a:p>
          <a:p>
            <a:pPr marL="742950" indent="-742950">
              <a:buFont typeface="Arial" pitchFamily="34" charset="0"/>
              <a:buAutoNum type="alphaLcParenR"/>
            </a:pPr>
            <a:endParaRPr lang="en-US" b="1" dirty="0">
              <a:solidFill>
                <a:srgbClr val="00FF00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r>
              <a:rPr lang="en-IN" b="1" dirty="0">
                <a:solidFill>
                  <a:srgbClr val="FFFF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Sort an Array</a:t>
            </a:r>
            <a:endParaRPr lang="en-US" b="1" u="sng" dirty="0">
              <a:solidFill>
                <a:srgbClr val="FFFF99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b="1" dirty="0">
              <a:solidFill>
                <a:srgbClr val="00FF00"/>
              </a:solidFill>
            </a:endParaRPr>
          </a:p>
          <a:p>
            <a:pPr marL="514350" indent="-514350">
              <a:buFont typeface="+mj-lt"/>
              <a:buAutoNum type="alphaLcParenR" startAt="2"/>
            </a:pPr>
            <a:endParaRPr lang="en-US" b="1" dirty="0">
              <a:solidFill>
                <a:srgbClr val="00FF00"/>
              </a:solidFill>
            </a:endParaRPr>
          </a:p>
          <a:p>
            <a:pPr marL="514350" indent="-514350">
              <a:buFont typeface="+mj-lt"/>
              <a:buAutoNum type="alphaLcParenR" startAt="2"/>
            </a:pPr>
            <a:endParaRPr lang="en-US" b="1" dirty="0">
              <a:solidFill>
                <a:srgbClr val="00FF0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0" indent="0">
              <a:buNone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00FF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A5DC03-D65E-0822-6AF4-1C893E3F6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0675CB-A20E-5777-FF87-17ED2389F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E9453-6B91-762B-7F49-9C1BC9035D96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E2F4E7-3C23-60AB-53B1-791DB93C9A19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0F1D6A-7610-03C5-D792-B739CD72BD7E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FE82C1-A2AD-D27B-6237-C875FDB07A72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71815B60-992B-79C2-6EC1-EE91F4CEC826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ADA614D9-8A00-794C-2933-9873B09E1019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CB34CD2E-436B-9330-37E1-D275BBA4291E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30D59576-96FC-32E3-DE02-0A254D14CCA7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7D9034A2-D33B-894F-FC79-AAFC9374474E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0F8335AF-9DD5-B4DA-C517-A209DD8E7C51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523C4E3E-4C67-A832-77DB-3E2D2F6E4DB1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4AABEBF4-B922-B866-90B6-A6B619306780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82FD6ED2-2425-5F0C-886C-D2EB46A24F08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7A87C952-4718-872E-C227-DC591A699261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5F9DE97B-F0EA-6DA5-8491-9AF3CEBC6FB4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D6C56317-00F5-ED23-C13F-6EF82CF5F026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0E88D54-6B12-D85C-48FB-A5339A9B3564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AF12364-EBB0-59B8-E315-5AB0E561B3B4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F89A77-2025-4FF3-2A4C-5B1E22AAFBCA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C9A4022-3E2F-69D1-0DD3-DB75391AF504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5304329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05F99-0EE3-B9E5-A5BD-448EDB85D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BFE6E-F1EF-4222-F120-13BA78B0A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C000"/>
                </a:solidFill>
              </a:rPr>
              <a:t>Topic: Array, </a:t>
            </a:r>
            <a:r>
              <a:rPr lang="en-US" sz="2400" b="1" u="sng" dirty="0">
                <a:solidFill>
                  <a:srgbClr val="FFC000"/>
                </a:solidFill>
              </a:rPr>
              <a:t>Searching</a:t>
            </a:r>
            <a:endParaRPr lang="en-US" sz="3200" b="1" u="sng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D3E94-B2B8-02F0-82B9-7FDF49F54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US" b="1" dirty="0">
                <a:solidFill>
                  <a:srgbClr val="00FF00"/>
                </a:solidFill>
              </a:rPr>
              <a:t>Implement </a:t>
            </a:r>
            <a:r>
              <a:rPr lang="en-US" sz="3600" b="1" dirty="0">
                <a:solidFill>
                  <a:srgbClr val="FFFF99"/>
                </a:solidFill>
              </a:rPr>
              <a:t>binary search </a:t>
            </a:r>
            <a:r>
              <a:rPr lang="en-US" b="1" dirty="0">
                <a:solidFill>
                  <a:srgbClr val="00FF00"/>
                </a:solidFill>
              </a:rPr>
              <a:t>algorithm.</a:t>
            </a:r>
          </a:p>
          <a:p>
            <a:pPr marL="0" indent="0">
              <a:buNone/>
            </a:pPr>
            <a:r>
              <a:rPr lang="en-IN" sz="4400" b="1" dirty="0">
                <a:solidFill>
                  <a:srgbClr val="FFFF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Binary Search</a:t>
            </a:r>
            <a:endParaRPr lang="en-IN" sz="4400" b="1" dirty="0">
              <a:solidFill>
                <a:srgbClr val="FFFF99"/>
              </a:solidFill>
            </a:endParaRPr>
          </a:p>
          <a:p>
            <a:pPr marL="0" indent="0">
              <a:buNone/>
            </a:pPr>
            <a:endParaRPr lang="en-IN" sz="4400" b="1" dirty="0">
              <a:solidFill>
                <a:srgbClr val="FFFF99"/>
              </a:solidFill>
            </a:endParaRPr>
          </a:p>
          <a:p>
            <a:pPr marL="742950" indent="-742950">
              <a:buFont typeface="+mj-lt"/>
              <a:buAutoNum type="alphaLcParenR" startAt="2"/>
            </a:pPr>
            <a:r>
              <a:rPr lang="en-IN" sz="4400" b="1" dirty="0">
                <a:solidFill>
                  <a:srgbClr val="FFFF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Search Insert Position</a:t>
            </a:r>
            <a:endParaRPr lang="en-US" sz="4400" b="1" dirty="0">
              <a:solidFill>
                <a:srgbClr val="FFFF99"/>
              </a:solidFill>
            </a:endParaRPr>
          </a:p>
          <a:p>
            <a:pPr marL="742950" indent="-742950">
              <a:buFont typeface="+mj-lt"/>
              <a:buAutoNum type="alphaLcParenR" startAt="2"/>
            </a:pPr>
            <a:endParaRPr lang="en-US" sz="4400" b="1" dirty="0">
              <a:solidFill>
                <a:srgbClr val="FFFF99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b="1" dirty="0">
              <a:solidFill>
                <a:srgbClr val="00FF00"/>
              </a:solidFill>
            </a:endParaRPr>
          </a:p>
          <a:p>
            <a:pPr marL="514350" indent="-514350">
              <a:buFont typeface="+mj-lt"/>
              <a:buAutoNum type="alphaLcParenR" startAt="2"/>
            </a:pPr>
            <a:endParaRPr lang="en-US" b="1" dirty="0">
              <a:solidFill>
                <a:srgbClr val="00FF00"/>
              </a:solidFill>
            </a:endParaRPr>
          </a:p>
          <a:p>
            <a:pPr marL="514350" indent="-514350">
              <a:buFont typeface="+mj-lt"/>
              <a:buAutoNum type="alphaLcParenR" startAt="2"/>
            </a:pPr>
            <a:endParaRPr lang="en-US" b="1" dirty="0">
              <a:solidFill>
                <a:srgbClr val="00FF0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0" indent="0">
              <a:buNone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00FF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C82E77-81FB-935C-3235-5C10ADF8D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33EE59-908C-56DB-F7CD-B67388074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99A06-D893-9702-E793-12A4D16E98A2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19B057-237D-260C-4CBC-8DBF05868A9E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27E21A-4DF5-3567-8A4A-C3FBE8E0531C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71C212-569D-832B-F5A1-9E585C090372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460FD629-9170-2DF2-E2CC-B763E3A33869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5BE410E1-0377-6504-8112-1D58139E1EE9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A02A6DB9-7849-E84B-88E0-98E3F1D6FA70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4E25AF59-8024-1FF9-ABC6-3F82F687316D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308F56FA-6BBB-EC3D-81A6-96F2D7B3E91A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F81B98C5-FFF4-395E-4D29-4A6FBB8A2883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EDE7E80B-787A-3BA9-59CC-D53D9FF896B0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4F1DED4E-7F73-E5BF-B330-BDA7B8BBA328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13C468D7-BB73-FBE1-D1D5-3AB487E2BB23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20B70F0C-B54A-0EE8-200A-DAA6F04CFEEE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B060B29F-BE3D-FDC6-C8CE-8EF82D1566B3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62C48540-780C-89A5-668C-2127629D4A3E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00AA765-45B4-B20F-84A1-874AF9B0E168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D384E4-E030-C157-F9BB-E0DA051CDC69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055E83-CB83-A2A0-1BF4-D543EC4EB2F0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4E308CF-4BAB-ABE5-DCE7-24FE1E539C1C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419671382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D4173-FD7E-BB32-07A9-65F140A3B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99A21-6E78-D1C0-6288-864BD2648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C000"/>
                </a:solidFill>
              </a:rPr>
              <a:t>Topic: Array, </a:t>
            </a:r>
            <a:r>
              <a:rPr lang="en-US" sz="2400" b="1" u="sng" dirty="0">
                <a:solidFill>
                  <a:srgbClr val="FFC000"/>
                </a:solidFill>
              </a:rPr>
              <a:t>Searching</a:t>
            </a:r>
            <a:endParaRPr lang="en-US" sz="3200" b="1" u="sng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51D66-BFEB-553E-543E-B921ADE88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en-IN" sz="4400" b="1" dirty="0">
                <a:solidFill>
                  <a:srgbClr val="FFFF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Sqrt(x)</a:t>
            </a:r>
            <a:endParaRPr lang="en-IN" sz="4400" b="1" dirty="0">
              <a:solidFill>
                <a:srgbClr val="FFFF99"/>
              </a:solidFill>
            </a:endParaRPr>
          </a:p>
          <a:p>
            <a:pPr marL="514350" indent="-514350">
              <a:buFont typeface="+mj-lt"/>
              <a:buAutoNum type="alphaLcParenR"/>
            </a:pPr>
            <a:endParaRPr lang="en-IN" sz="4400" b="1" dirty="0">
              <a:solidFill>
                <a:srgbClr val="FFFF99"/>
              </a:solidFill>
            </a:endParaRPr>
          </a:p>
          <a:p>
            <a:pPr marL="514350" indent="-514350">
              <a:buFont typeface="+mj-lt"/>
              <a:buAutoNum type="alphaLcParenR"/>
            </a:pPr>
            <a:r>
              <a:rPr lang="en-IN" sz="4400" b="1" dirty="0">
                <a:solidFill>
                  <a:srgbClr val="FFFF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Valid Perfect Square</a:t>
            </a:r>
            <a:endParaRPr lang="en-US" sz="4400" b="1" dirty="0">
              <a:solidFill>
                <a:srgbClr val="FFFF99"/>
              </a:solidFill>
            </a:endParaRPr>
          </a:p>
          <a:p>
            <a:pPr marL="514350" indent="-514350">
              <a:buFont typeface="+mj-lt"/>
              <a:buAutoNum type="alphaLcParenR"/>
            </a:pPr>
            <a:endParaRPr lang="en-IN" sz="4400" b="1" dirty="0">
              <a:solidFill>
                <a:srgbClr val="FFFF99"/>
              </a:solidFill>
            </a:endParaRPr>
          </a:p>
          <a:p>
            <a:pPr marL="514350" indent="-514350">
              <a:buFont typeface="+mj-lt"/>
              <a:buAutoNum type="alphaLcParenR"/>
            </a:pPr>
            <a:endParaRPr lang="en-IN" sz="4400" b="1" dirty="0">
              <a:solidFill>
                <a:srgbClr val="FFFF99"/>
              </a:solidFill>
            </a:endParaRPr>
          </a:p>
          <a:p>
            <a:pPr marL="514350" indent="-514350">
              <a:buFont typeface="+mj-lt"/>
              <a:buAutoNum type="alphaLcParenR"/>
            </a:pPr>
            <a:endParaRPr lang="en-IN" sz="4400" b="1" dirty="0">
              <a:solidFill>
                <a:srgbClr val="FFFF99"/>
              </a:solidFill>
            </a:endParaRPr>
          </a:p>
          <a:p>
            <a:pPr marL="514350" indent="-514350">
              <a:buFont typeface="+mj-lt"/>
              <a:buAutoNum type="alphaLcParenR"/>
            </a:pPr>
            <a:endParaRPr lang="en-IN" sz="4400" b="1" dirty="0">
              <a:solidFill>
                <a:srgbClr val="FFFF99"/>
              </a:solidFill>
            </a:endParaRPr>
          </a:p>
          <a:p>
            <a:pPr marL="514350" indent="-514350">
              <a:buFont typeface="+mj-lt"/>
              <a:buAutoNum type="alphaLcParenR"/>
            </a:pPr>
            <a:endParaRPr lang="en-US" sz="4400" b="1" dirty="0">
              <a:solidFill>
                <a:srgbClr val="FFFF99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b="1" dirty="0">
              <a:solidFill>
                <a:srgbClr val="00FF00"/>
              </a:solidFill>
            </a:endParaRPr>
          </a:p>
          <a:p>
            <a:pPr marL="514350" indent="-514350">
              <a:buFont typeface="+mj-lt"/>
              <a:buAutoNum type="alphaLcParenR" startAt="2"/>
            </a:pPr>
            <a:endParaRPr lang="en-US" b="1" dirty="0">
              <a:solidFill>
                <a:srgbClr val="00FF00"/>
              </a:solidFill>
            </a:endParaRPr>
          </a:p>
          <a:p>
            <a:pPr marL="514350" indent="-514350">
              <a:buFont typeface="+mj-lt"/>
              <a:buAutoNum type="alphaLcParenR" startAt="2"/>
            </a:pPr>
            <a:endParaRPr lang="en-US" b="1" dirty="0">
              <a:solidFill>
                <a:srgbClr val="00FF0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0" indent="0">
              <a:buNone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00FF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77D03E-B6B2-D9FE-D6EB-DAFD681CA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277A6B-AE54-C96A-87EF-F22F1C596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3C223-71F5-D4F6-1D6C-DB7EE8DE1227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AC356E-FF08-F61A-0FCA-98B66F855CAA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60B200-C9D1-0BA2-E893-AFC9D6C3E68C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4CA6F8-3236-BB65-F445-D131EA5119DF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E38BCEDE-5422-5131-EF91-36117FD65359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1D9AC39C-A05E-CCD1-5576-C02E5AD6949B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8C307D20-FBDE-BABB-DD08-5CDC1B88AC4C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DC91A783-3F87-9749-DE4B-EFB3F01B9439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2993EE64-5EF9-0E22-A7AF-A8D6C004A3DC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0DF5918A-524D-1F77-AF64-334EBAC2890B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789E60AE-B761-63AD-BD5B-DCE7D435BD20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82E0A118-A38B-01C3-00FD-B621610F7DF8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C6DF17A9-6975-09B9-129A-C3125B1C710F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E21C8D61-34AB-476A-17A1-B56D199EBDA2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A224DFAC-3D5A-9F52-0CF2-737C42F62D7C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3D5E2617-B9F7-3A25-50D4-002F8546C7EA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39C6DC9-DF89-5EF4-A278-00461D735AA4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A041E5-238A-76E2-C8A3-EFB77D8578C5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18E1D8-E385-07D5-F9C3-872401C3D8BD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785782E-F22B-5573-F5A7-224853009465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794140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DEED5-3D9F-B4A6-EF13-E25E2A0E1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4AFA5-C9B9-0FDA-8572-34FE03615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C000"/>
                </a:solidFill>
              </a:rPr>
              <a:t>Topic: Array, </a:t>
            </a:r>
            <a:r>
              <a:rPr lang="en-US" sz="2400" b="1" u="sng" dirty="0">
                <a:solidFill>
                  <a:srgbClr val="FFC000"/>
                </a:solidFill>
              </a:rPr>
              <a:t>Searching</a:t>
            </a:r>
            <a:endParaRPr lang="en-US" sz="3200" b="1" u="sng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F86C1-3AC0-9F79-C889-523875B71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Font typeface="+mj-lt"/>
              <a:buAutoNum type="alphaLcParenR"/>
            </a:pPr>
            <a:r>
              <a:rPr lang="en-US" b="1" dirty="0">
                <a:solidFill>
                  <a:srgbClr val="FFFF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Find Minimum in Rotated Sorted Array</a:t>
            </a:r>
            <a:endParaRPr lang="en-US" b="1" dirty="0">
              <a:solidFill>
                <a:srgbClr val="FFFF99"/>
              </a:solidFill>
            </a:endParaRPr>
          </a:p>
          <a:p>
            <a:pPr marL="742950" indent="-742950">
              <a:buFont typeface="+mj-lt"/>
              <a:buAutoNum type="alphaLcParenR"/>
            </a:pPr>
            <a:endParaRPr lang="en-US" sz="4000" b="1" dirty="0">
              <a:solidFill>
                <a:srgbClr val="FFFF99"/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742950" indent="-742950">
              <a:buFont typeface="+mj-lt"/>
              <a:buAutoNum type="alphaLcParenR"/>
            </a:pPr>
            <a:r>
              <a:rPr lang="en-US" b="1" dirty="0">
                <a:solidFill>
                  <a:srgbClr val="FFFF99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Find Minimum in Rotated Sorted Array II</a:t>
            </a:r>
            <a:endParaRPr lang="en-US" b="1" dirty="0">
              <a:solidFill>
                <a:srgbClr val="FFFF99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742950" indent="-742950">
              <a:buFont typeface="+mj-lt"/>
              <a:buAutoNum type="alphaLcParenR"/>
            </a:pPr>
            <a:endParaRPr lang="en-IN" sz="4400" b="1" dirty="0">
              <a:solidFill>
                <a:srgbClr val="FFFF99"/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514350" indent="-514350">
              <a:buFont typeface="+mj-lt"/>
              <a:buAutoNum type="alphaLcParenR"/>
            </a:pPr>
            <a:r>
              <a:rPr lang="en-IN" sz="2800" b="1" dirty="0">
                <a:solidFill>
                  <a:srgbClr val="FFFF99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Find Peak Element</a:t>
            </a:r>
            <a:endParaRPr lang="en-IN" sz="2800" b="1" dirty="0">
              <a:solidFill>
                <a:srgbClr val="FFFF99"/>
              </a:solidFill>
            </a:endParaRPr>
          </a:p>
          <a:p>
            <a:pPr marL="514350" indent="-514350">
              <a:buFont typeface="+mj-lt"/>
              <a:buAutoNum type="alphaLcParenR"/>
            </a:pPr>
            <a:endParaRPr lang="en-IN" sz="2800" b="1" dirty="0">
              <a:solidFill>
                <a:srgbClr val="FFFF99"/>
              </a:solidFill>
            </a:endParaRPr>
          </a:p>
          <a:p>
            <a:pPr marL="514350" indent="-514350">
              <a:buFont typeface="+mj-lt"/>
              <a:buAutoNum type="alphaLcParenR"/>
            </a:pPr>
            <a:endParaRPr lang="en-US" sz="2800" b="1" dirty="0">
              <a:solidFill>
                <a:srgbClr val="FFFF99"/>
              </a:solidFill>
            </a:endParaRPr>
          </a:p>
          <a:p>
            <a:pPr marL="514350" indent="-514350">
              <a:buFont typeface="+mj-lt"/>
              <a:buAutoNum type="alphaLcParenR"/>
            </a:pPr>
            <a:r>
              <a:rPr lang="en-US" sz="2800" b="1" dirty="0">
                <a:solidFill>
                  <a:srgbClr val="FFFF99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Search in Rotated Sorted Array</a:t>
            </a:r>
            <a:endParaRPr lang="en-US" sz="2800" b="1" dirty="0">
              <a:solidFill>
                <a:srgbClr val="FFFF99"/>
              </a:solidFill>
            </a:endParaRPr>
          </a:p>
          <a:p>
            <a:pPr marL="514350" indent="-514350">
              <a:buFont typeface="+mj-lt"/>
              <a:buAutoNum type="alphaLcParenR"/>
            </a:pPr>
            <a:endParaRPr lang="en-IN" sz="4400" b="1" dirty="0">
              <a:solidFill>
                <a:srgbClr val="FFFF99"/>
              </a:solidFill>
            </a:endParaRPr>
          </a:p>
          <a:p>
            <a:pPr marL="514350" indent="-514350">
              <a:buFont typeface="+mj-lt"/>
              <a:buAutoNum type="alphaLcParenR"/>
            </a:pPr>
            <a:endParaRPr lang="en-IN" sz="4400" b="1" dirty="0">
              <a:solidFill>
                <a:srgbClr val="FFFF99"/>
              </a:solidFill>
            </a:endParaRPr>
          </a:p>
          <a:p>
            <a:pPr marL="514350" indent="-514350">
              <a:buFont typeface="+mj-lt"/>
              <a:buAutoNum type="alphaLcParenR"/>
            </a:pPr>
            <a:endParaRPr lang="en-IN" sz="4400" b="1" dirty="0">
              <a:solidFill>
                <a:srgbClr val="FFFF99"/>
              </a:solidFill>
            </a:endParaRPr>
          </a:p>
          <a:p>
            <a:pPr marL="514350" indent="-514350">
              <a:buFont typeface="+mj-lt"/>
              <a:buAutoNum type="alphaLcParenR"/>
            </a:pPr>
            <a:endParaRPr lang="en-IN" sz="4400" b="1" dirty="0">
              <a:solidFill>
                <a:srgbClr val="FFFF99"/>
              </a:solidFill>
            </a:endParaRPr>
          </a:p>
          <a:p>
            <a:pPr marL="514350" indent="-514350">
              <a:buFont typeface="+mj-lt"/>
              <a:buAutoNum type="alphaLcParenR"/>
            </a:pPr>
            <a:endParaRPr lang="en-US" sz="4400" b="1" dirty="0">
              <a:solidFill>
                <a:srgbClr val="FFFF99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b="1" dirty="0">
              <a:solidFill>
                <a:srgbClr val="00FF00"/>
              </a:solidFill>
            </a:endParaRPr>
          </a:p>
          <a:p>
            <a:pPr marL="514350" indent="-514350">
              <a:buFont typeface="+mj-lt"/>
              <a:buAutoNum type="alphaLcParenR" startAt="2"/>
            </a:pPr>
            <a:endParaRPr lang="en-US" b="1" dirty="0">
              <a:solidFill>
                <a:srgbClr val="00FF00"/>
              </a:solidFill>
            </a:endParaRPr>
          </a:p>
          <a:p>
            <a:pPr marL="514350" indent="-514350">
              <a:buFont typeface="+mj-lt"/>
              <a:buAutoNum type="alphaLcParenR" startAt="2"/>
            </a:pPr>
            <a:endParaRPr lang="en-US" b="1" dirty="0">
              <a:solidFill>
                <a:srgbClr val="00FF0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0" indent="0">
              <a:buNone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00FF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3C6639-A333-D560-E12B-6C71D390C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5FD55E-54E0-278E-26FD-2850A81D1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C10D7-4787-7A09-F1CA-9DD53EFDDC73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6B2087-7151-4C2C-57CD-AAEF92B3FB24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E2EB4A-519C-9B63-4917-1DE2DFED2B17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59F10C-46EA-66F7-2C9E-11DA8BACE920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70F47C00-D00C-BA38-75B9-0AF16574BA61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69B26FCF-A7EA-375E-6E73-2D29578BF2F0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621DAD12-ED7C-0057-94F1-C1D3161C6D16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95C91CD2-AFF3-D604-A261-DD0E399A9F9F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8129E69C-2BCE-D516-11C8-89012C0AC445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AA256C02-9FD7-F4FF-4818-4CF9B6402453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D5757B45-255A-EC8A-B8E6-A8D0CAC8DF9A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91D3D486-077A-9760-E326-B769D3B8F286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6EEA270C-5B95-59B4-DB97-7906DA9A9764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3E94D774-2143-2276-35AE-9CA018FE4929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4F68B583-A9B1-18F8-C5CE-9E684066DD1D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DB3CBEC1-75C4-7F5C-C806-7C98DF1F4FF1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2DC4120-3F2F-F7E8-6BAA-E2FFAC3013D1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AB8B622-DF73-0806-DCC1-19225AA794BB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A8EFAA9-78FB-484B-F89E-11233BDEFBB7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36A305-440B-C9AC-6A3B-9F8776B7497B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57224717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33B38-A83D-2A75-3290-AB8FB6BED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A3368-AA88-2F30-053E-5126A6C0E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C000"/>
                </a:solidFill>
              </a:rPr>
              <a:t>Topic: Array, </a:t>
            </a:r>
            <a:r>
              <a:rPr lang="en-US" sz="2400" b="1" u="sng" dirty="0">
                <a:solidFill>
                  <a:srgbClr val="FFC000"/>
                </a:solidFill>
              </a:rPr>
              <a:t>Searching</a:t>
            </a:r>
            <a:endParaRPr lang="en-US" sz="3200" b="1" u="sng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3188F-C5C6-839F-00E2-692C1A35C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Font typeface="+mj-lt"/>
              <a:buAutoNum type="alphaLcParenR"/>
            </a:pPr>
            <a:r>
              <a:rPr lang="en-US" b="1" dirty="0">
                <a:solidFill>
                  <a:srgbClr val="FFFF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Find Minimum in Rotated Sorted Array</a:t>
            </a:r>
            <a:endParaRPr lang="en-US" b="1" dirty="0">
              <a:solidFill>
                <a:srgbClr val="FFFF99"/>
              </a:solidFill>
            </a:endParaRPr>
          </a:p>
          <a:p>
            <a:pPr marL="742950" indent="-742950">
              <a:buFont typeface="+mj-lt"/>
              <a:buAutoNum type="alphaLcParenR"/>
            </a:pPr>
            <a:endParaRPr lang="en-US" sz="4000" b="1" dirty="0">
              <a:solidFill>
                <a:srgbClr val="FFFF99"/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742950" indent="-742950">
              <a:buFont typeface="+mj-lt"/>
              <a:buAutoNum type="alphaLcParenR"/>
            </a:pPr>
            <a:r>
              <a:rPr lang="en-US" b="1" dirty="0">
                <a:solidFill>
                  <a:srgbClr val="FFFF99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Find Minimum in Rotated Sorted Array II</a:t>
            </a:r>
            <a:endParaRPr lang="en-US" b="1" dirty="0">
              <a:solidFill>
                <a:srgbClr val="FFFF99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742950" indent="-742950">
              <a:buFont typeface="+mj-lt"/>
              <a:buAutoNum type="alphaLcParenR"/>
            </a:pPr>
            <a:endParaRPr lang="en-IN" sz="4400" b="1" dirty="0">
              <a:solidFill>
                <a:srgbClr val="FFFF99"/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514350" indent="-514350">
              <a:buFont typeface="+mj-lt"/>
              <a:buAutoNum type="alphaLcParenR"/>
            </a:pPr>
            <a:r>
              <a:rPr lang="en-IN" sz="2800" b="1" dirty="0">
                <a:solidFill>
                  <a:srgbClr val="FFFF99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Find Peak Element</a:t>
            </a:r>
            <a:endParaRPr lang="en-IN" sz="2800" b="1" dirty="0">
              <a:solidFill>
                <a:srgbClr val="FFFF99"/>
              </a:solidFill>
            </a:endParaRPr>
          </a:p>
          <a:p>
            <a:pPr marL="514350" indent="-514350">
              <a:buFont typeface="+mj-lt"/>
              <a:buAutoNum type="alphaLcParenR"/>
            </a:pPr>
            <a:endParaRPr lang="en-IN" sz="2800" b="1" dirty="0">
              <a:solidFill>
                <a:srgbClr val="FFFF99"/>
              </a:solidFill>
            </a:endParaRPr>
          </a:p>
          <a:p>
            <a:pPr marL="514350" indent="-514350">
              <a:buFont typeface="+mj-lt"/>
              <a:buAutoNum type="alphaLcParenR"/>
            </a:pPr>
            <a:endParaRPr lang="en-US" sz="2800" b="1" dirty="0">
              <a:solidFill>
                <a:srgbClr val="FFFF99"/>
              </a:solidFill>
            </a:endParaRPr>
          </a:p>
          <a:p>
            <a:pPr marL="514350" indent="-514350">
              <a:buFont typeface="+mj-lt"/>
              <a:buAutoNum type="alphaLcParenR"/>
            </a:pPr>
            <a:r>
              <a:rPr lang="en-US" sz="2800" b="1" dirty="0">
                <a:solidFill>
                  <a:srgbClr val="FFFF99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Search in Rotated Sorted Array</a:t>
            </a:r>
            <a:endParaRPr lang="en-US" sz="2800" b="1" dirty="0">
              <a:solidFill>
                <a:srgbClr val="FFFF99"/>
              </a:solidFill>
            </a:endParaRPr>
          </a:p>
          <a:p>
            <a:pPr marL="514350" indent="-514350">
              <a:buFont typeface="+mj-lt"/>
              <a:buAutoNum type="alphaLcParenR"/>
            </a:pPr>
            <a:endParaRPr lang="en-IN" sz="4400" b="1" dirty="0">
              <a:solidFill>
                <a:srgbClr val="FFFF99"/>
              </a:solidFill>
            </a:endParaRPr>
          </a:p>
          <a:p>
            <a:pPr marL="514350" indent="-514350">
              <a:buFont typeface="+mj-lt"/>
              <a:buAutoNum type="alphaLcParenR"/>
            </a:pPr>
            <a:endParaRPr lang="en-IN" sz="4400" b="1" dirty="0">
              <a:solidFill>
                <a:srgbClr val="FFFF99"/>
              </a:solidFill>
            </a:endParaRPr>
          </a:p>
          <a:p>
            <a:pPr marL="514350" indent="-514350">
              <a:buFont typeface="+mj-lt"/>
              <a:buAutoNum type="alphaLcParenR"/>
            </a:pPr>
            <a:endParaRPr lang="en-IN" sz="4400" b="1" dirty="0">
              <a:solidFill>
                <a:srgbClr val="FFFF99"/>
              </a:solidFill>
            </a:endParaRPr>
          </a:p>
          <a:p>
            <a:pPr marL="514350" indent="-514350">
              <a:buFont typeface="+mj-lt"/>
              <a:buAutoNum type="alphaLcParenR"/>
            </a:pPr>
            <a:endParaRPr lang="en-IN" sz="4400" b="1" dirty="0">
              <a:solidFill>
                <a:srgbClr val="FFFF99"/>
              </a:solidFill>
            </a:endParaRPr>
          </a:p>
          <a:p>
            <a:pPr marL="514350" indent="-514350">
              <a:buFont typeface="+mj-lt"/>
              <a:buAutoNum type="alphaLcParenR"/>
            </a:pPr>
            <a:endParaRPr lang="en-US" sz="4400" b="1" dirty="0">
              <a:solidFill>
                <a:srgbClr val="FFFF99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b="1" dirty="0">
              <a:solidFill>
                <a:srgbClr val="00FF00"/>
              </a:solidFill>
            </a:endParaRPr>
          </a:p>
          <a:p>
            <a:pPr marL="514350" indent="-514350">
              <a:buFont typeface="+mj-lt"/>
              <a:buAutoNum type="alphaLcParenR" startAt="2"/>
            </a:pPr>
            <a:endParaRPr lang="en-US" b="1" dirty="0">
              <a:solidFill>
                <a:srgbClr val="00FF00"/>
              </a:solidFill>
            </a:endParaRPr>
          </a:p>
          <a:p>
            <a:pPr marL="514350" indent="-514350">
              <a:buFont typeface="+mj-lt"/>
              <a:buAutoNum type="alphaLcParenR" startAt="2"/>
            </a:pPr>
            <a:endParaRPr lang="en-US" b="1" dirty="0">
              <a:solidFill>
                <a:srgbClr val="00FF0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0" indent="0">
              <a:buNone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00FF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BFBE0C-AD3C-B35A-AAEA-D2512113D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7B2448-2812-F69B-6AD2-C27983939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1864A-A728-F350-6BC8-79563AFD253B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0CCCE8-930D-101B-2A39-544B4616B4D8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100CA6-9BF2-0E0D-D3E6-9A3173E24C11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181DE4-7FB3-EEE6-6BE1-8B84F56D2C1E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3D8C74DB-1C4C-92A4-2EA6-FE66B74991E3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C19BB464-0281-6093-D8C4-9F942DA4CCBD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96959E8E-7DFD-1906-4841-57692D9074D6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BAA6C764-B702-7A53-5234-7FAD53AC71D6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EFE9EAA6-158F-D3C8-FF08-D0C0789C2268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E7501042-1990-8D19-9F28-1D8C3EC6FD48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AD2D217F-F05A-10FE-5E50-D7CCB3FE3F35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F230C6DE-C803-1AC5-15EB-A235EC72934B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1AC777C0-6A98-7B10-1E44-CA6234683BF0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08F2D0F6-2A7C-E9D6-CBD4-FD123A6F914C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2F867502-4F87-9858-1C66-7DD4FC551113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8A1DD1E2-D643-F041-FCEF-2EC8B0E6A576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8922B9E-B131-A62F-4404-E3DE5B0A278A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3387C4B-8129-2D4F-CA39-36FEBE5A142E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3986E0-AB0B-FF1B-B1AB-2933377F42BB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738ED74-D860-5E74-E77C-A582D298C3CA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13673245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BA1EF-6E23-1C33-A6B9-06719C617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5B690-5866-69C5-E720-D16183D6C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C000"/>
                </a:solidFill>
              </a:rPr>
              <a:t>Topic: String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BDAA9-0A2A-2836-5E27-8698BDEAA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Font typeface="+mj-lt"/>
              <a:buAutoNum type="alphaLcParenR"/>
            </a:pPr>
            <a:r>
              <a:rPr lang="en-US" sz="2800" b="1" dirty="0">
                <a:solidFill>
                  <a:srgbClr val="FFFF99"/>
                </a:solidFill>
              </a:rPr>
              <a:t>WAP to take a String input and segregate alphabets and numeric digits while maintaining the order of characters.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FF99"/>
                </a:solidFill>
              </a:rPr>
              <a:t>	</a:t>
            </a:r>
            <a:r>
              <a:rPr lang="en-US" sz="2800" b="1" dirty="0" err="1">
                <a:solidFill>
                  <a:srgbClr val="FFFF99"/>
                </a:solidFill>
              </a:rPr>
              <a:t>i</a:t>
            </a:r>
            <a:r>
              <a:rPr lang="en-US" sz="2800" b="1" dirty="0">
                <a:solidFill>
                  <a:srgbClr val="FFFF99"/>
                </a:solidFill>
              </a:rPr>
              <a:t>/p: “a4cdx37d2b”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FF99"/>
                </a:solidFill>
              </a:rPr>
              <a:t>	o/p: “acdxdb4372”</a:t>
            </a:r>
          </a:p>
          <a:p>
            <a:pPr marL="0" indent="0">
              <a:buNone/>
            </a:pPr>
            <a:endParaRPr lang="en-US" sz="2800" b="1" dirty="0">
              <a:solidFill>
                <a:srgbClr val="FFFF99"/>
              </a:solidFill>
            </a:endParaRPr>
          </a:p>
          <a:p>
            <a:pPr marL="514350" indent="-514350">
              <a:buFont typeface="+mj-lt"/>
              <a:buAutoNum type="alphaLcParenR" startAt="2"/>
            </a:pPr>
            <a:r>
              <a:rPr lang="en-US" sz="2800" b="1" dirty="0">
                <a:solidFill>
                  <a:srgbClr val="00FF00"/>
                </a:solidFill>
              </a:rPr>
              <a:t>Reverse of the String.</a:t>
            </a:r>
          </a:p>
          <a:p>
            <a:pPr marL="514350" indent="-514350">
              <a:buFont typeface="+mj-lt"/>
              <a:buAutoNum type="alphaLcParenR" startAt="2"/>
            </a:pPr>
            <a:endParaRPr lang="en-US" sz="2800" b="1" dirty="0">
              <a:solidFill>
                <a:srgbClr val="FFFF99"/>
              </a:solidFill>
            </a:endParaRPr>
          </a:p>
          <a:p>
            <a:pPr marL="742950" indent="-742950">
              <a:buFont typeface="+mj-lt"/>
              <a:buAutoNum type="alphaLcParenR"/>
            </a:pPr>
            <a:endParaRPr lang="en-IN" sz="4400" b="1" dirty="0">
              <a:solidFill>
                <a:srgbClr val="FFFF99"/>
              </a:solidFill>
            </a:endParaRPr>
          </a:p>
          <a:p>
            <a:pPr marL="514350" indent="-514350">
              <a:buFont typeface="+mj-lt"/>
              <a:buAutoNum type="alphaLcParenR"/>
            </a:pPr>
            <a:endParaRPr lang="en-IN" sz="4400" b="1" dirty="0">
              <a:solidFill>
                <a:srgbClr val="FFFF99"/>
              </a:solidFill>
            </a:endParaRPr>
          </a:p>
          <a:p>
            <a:pPr marL="514350" indent="-514350">
              <a:buFont typeface="+mj-lt"/>
              <a:buAutoNum type="alphaLcParenR"/>
            </a:pPr>
            <a:endParaRPr lang="en-IN" sz="4400" b="1" dirty="0">
              <a:solidFill>
                <a:srgbClr val="FFFF99"/>
              </a:solidFill>
            </a:endParaRPr>
          </a:p>
          <a:p>
            <a:pPr marL="514350" indent="-514350">
              <a:buFont typeface="+mj-lt"/>
              <a:buAutoNum type="alphaLcParenR"/>
            </a:pPr>
            <a:endParaRPr lang="en-IN" sz="4400" b="1" dirty="0">
              <a:solidFill>
                <a:srgbClr val="FFFF99"/>
              </a:solidFill>
            </a:endParaRPr>
          </a:p>
          <a:p>
            <a:pPr marL="514350" indent="-514350">
              <a:buFont typeface="+mj-lt"/>
              <a:buAutoNum type="alphaLcParenR"/>
            </a:pPr>
            <a:endParaRPr lang="en-US" sz="4400" b="1" dirty="0">
              <a:solidFill>
                <a:srgbClr val="FFFF99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b="1" dirty="0">
              <a:solidFill>
                <a:srgbClr val="00FF00"/>
              </a:solidFill>
            </a:endParaRPr>
          </a:p>
          <a:p>
            <a:pPr marL="514350" indent="-514350">
              <a:buFont typeface="+mj-lt"/>
              <a:buAutoNum type="alphaLcParenR" startAt="2"/>
            </a:pPr>
            <a:endParaRPr lang="en-US" b="1" dirty="0">
              <a:solidFill>
                <a:srgbClr val="00FF00"/>
              </a:solidFill>
            </a:endParaRPr>
          </a:p>
          <a:p>
            <a:pPr marL="514350" indent="-514350">
              <a:buFont typeface="+mj-lt"/>
              <a:buAutoNum type="alphaLcParenR" startAt="2"/>
            </a:pPr>
            <a:endParaRPr lang="en-US" b="1" dirty="0">
              <a:solidFill>
                <a:srgbClr val="00FF0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0" indent="0">
              <a:buNone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00FF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D1E500-1AA0-9F84-EA67-452AE18E8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D6CB69-8821-0428-94E9-FF8F41828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E7AB6-133E-2ECC-C80B-A598194C70AE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2F72C0-3CB3-81A8-2056-D564F1BB8863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15C946-9A5E-D0BC-C990-315BF055F4D6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014812-39F8-6EFA-AFD3-88013B1CB9DA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B1448773-6043-519B-897B-E47C14577BC0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13175CB1-7F01-D1B7-439B-D6E07B1E666B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19D05D4C-0A69-E07A-EE33-15E14504C28C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3BF1E583-0759-978C-87B9-6D87E974A097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325D3B3E-E51F-1E03-4233-634E64BA758F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37C8E86C-DF35-43E6-E60F-35F11BAED484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D70DCAA5-DA5E-709D-79C6-BD2FFC90282A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956A2757-5111-5E4D-28E5-148568FFA3E7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1EEE7F08-02F2-92E8-1800-A9CF6D1E86EA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79F063F8-7A3B-FC3D-A26F-6F5101A83781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F998B2C9-5B8B-A674-F9C0-63251CA1A9C3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1446BD84-6FD3-F2FE-E61F-AA3A846DAEBD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98EFE73-E220-FF5B-05A6-63F55323F7A2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743861C-1DDC-2CED-BB54-ACB99C35B38B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8C786D-3A30-F5BA-6FB3-A4609859DFAC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F216978-910B-F178-8CCA-45C87B69FEA3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44475319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04F00-366F-3928-2E2D-8D5FFA70F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D0FAE-2285-7B3A-836F-0C2C751F0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C000"/>
                </a:solidFill>
              </a:rPr>
              <a:t>Topic: String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363D0-BB44-6588-D4D7-4A7AD25F5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Font typeface="+mj-lt"/>
              <a:buAutoNum type="alphaLcParenR"/>
            </a:pPr>
            <a:r>
              <a:rPr lang="en-US" sz="2800" b="1" dirty="0">
                <a:solidFill>
                  <a:srgbClr val="FFFF99"/>
                </a:solidFill>
              </a:rPr>
              <a:t>Check a string is a palindrome string or not.</a:t>
            </a:r>
          </a:p>
          <a:p>
            <a:pPr marL="0" indent="0">
              <a:buNone/>
            </a:pPr>
            <a:r>
              <a:rPr lang="en-IN" sz="2800" b="1" dirty="0">
                <a:solidFill>
                  <a:srgbClr val="FFFF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125. Valid Palindrome</a:t>
            </a:r>
            <a:endParaRPr lang="en-IN" sz="2800" b="1" dirty="0">
              <a:solidFill>
                <a:srgbClr val="FFFF99"/>
              </a:solidFill>
            </a:endParaRPr>
          </a:p>
          <a:p>
            <a:pPr marL="0" indent="0">
              <a:buNone/>
            </a:pPr>
            <a:endParaRPr lang="en-IN" sz="2800" b="1" dirty="0">
              <a:solidFill>
                <a:srgbClr val="FFFF99"/>
              </a:solidFill>
            </a:endParaRPr>
          </a:p>
          <a:p>
            <a:pPr marL="514350" indent="-514350">
              <a:buFont typeface="+mj-lt"/>
              <a:buAutoNum type="alphaLcParenR" startAt="2"/>
            </a:pPr>
            <a:r>
              <a:rPr lang="en-IN" sz="2800" b="1" dirty="0">
                <a:solidFill>
                  <a:srgbClr val="FFFF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151. Reverse Words in a String</a:t>
            </a:r>
            <a:endParaRPr lang="en-IN" sz="2800" b="1" dirty="0">
              <a:solidFill>
                <a:srgbClr val="FFFF99"/>
              </a:solidFill>
            </a:endParaRPr>
          </a:p>
          <a:p>
            <a:pPr marL="514350" indent="-514350">
              <a:buFont typeface="+mj-lt"/>
              <a:buAutoNum type="alphaLcParenR" startAt="2"/>
            </a:pPr>
            <a:endParaRPr lang="en-US" sz="2800" b="1" dirty="0">
              <a:solidFill>
                <a:srgbClr val="FFFF99"/>
              </a:solidFill>
            </a:endParaRPr>
          </a:p>
          <a:p>
            <a:pPr marL="514350" indent="-514350">
              <a:buFont typeface="+mj-lt"/>
              <a:buAutoNum type="alphaLcParenR" startAt="2"/>
            </a:pPr>
            <a:r>
              <a:rPr lang="en-IN" sz="2800" b="1" dirty="0">
                <a:solidFill>
                  <a:srgbClr val="FFFF99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557. Reverse Words in a String III</a:t>
            </a:r>
            <a:endParaRPr lang="en-IN" sz="2800" b="1" dirty="0">
              <a:solidFill>
                <a:srgbClr val="FFFF99"/>
              </a:solidFill>
            </a:endParaRPr>
          </a:p>
          <a:p>
            <a:pPr marL="514350" indent="-514350">
              <a:buFont typeface="+mj-lt"/>
              <a:buAutoNum type="alphaLcParenR" startAt="2"/>
            </a:pPr>
            <a:endParaRPr lang="en-US" sz="2800" b="1" dirty="0">
              <a:solidFill>
                <a:srgbClr val="FFFF99"/>
              </a:solidFill>
            </a:endParaRPr>
          </a:p>
          <a:p>
            <a:pPr marL="742950" indent="-742950">
              <a:buFont typeface="+mj-lt"/>
              <a:buAutoNum type="alphaLcParenR"/>
            </a:pPr>
            <a:endParaRPr lang="en-IN" sz="4400" b="1" dirty="0">
              <a:solidFill>
                <a:srgbClr val="FFFF99"/>
              </a:solidFill>
            </a:endParaRPr>
          </a:p>
          <a:p>
            <a:pPr marL="514350" indent="-514350">
              <a:buFont typeface="+mj-lt"/>
              <a:buAutoNum type="alphaLcParenR"/>
            </a:pPr>
            <a:endParaRPr lang="en-IN" sz="4400" b="1" dirty="0">
              <a:solidFill>
                <a:srgbClr val="FFFF99"/>
              </a:solidFill>
            </a:endParaRPr>
          </a:p>
          <a:p>
            <a:pPr marL="514350" indent="-514350">
              <a:buFont typeface="+mj-lt"/>
              <a:buAutoNum type="alphaLcParenR"/>
            </a:pPr>
            <a:endParaRPr lang="en-IN" sz="4400" b="1" dirty="0">
              <a:solidFill>
                <a:srgbClr val="FFFF99"/>
              </a:solidFill>
            </a:endParaRPr>
          </a:p>
          <a:p>
            <a:pPr marL="514350" indent="-514350">
              <a:buFont typeface="+mj-lt"/>
              <a:buAutoNum type="alphaLcParenR"/>
            </a:pPr>
            <a:endParaRPr lang="en-IN" sz="4400" b="1" dirty="0">
              <a:solidFill>
                <a:srgbClr val="FFFF99"/>
              </a:solidFill>
            </a:endParaRPr>
          </a:p>
          <a:p>
            <a:pPr marL="514350" indent="-514350">
              <a:buFont typeface="+mj-lt"/>
              <a:buAutoNum type="alphaLcParenR"/>
            </a:pPr>
            <a:endParaRPr lang="en-US" sz="4400" b="1" dirty="0">
              <a:solidFill>
                <a:srgbClr val="FFFF99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b="1" dirty="0">
              <a:solidFill>
                <a:srgbClr val="00FF00"/>
              </a:solidFill>
            </a:endParaRPr>
          </a:p>
          <a:p>
            <a:pPr marL="514350" indent="-514350">
              <a:buFont typeface="+mj-lt"/>
              <a:buAutoNum type="alphaLcParenR" startAt="2"/>
            </a:pPr>
            <a:endParaRPr lang="en-US" b="1" dirty="0">
              <a:solidFill>
                <a:srgbClr val="00FF00"/>
              </a:solidFill>
            </a:endParaRPr>
          </a:p>
          <a:p>
            <a:pPr marL="514350" indent="-514350">
              <a:buFont typeface="+mj-lt"/>
              <a:buAutoNum type="alphaLcParenR" startAt="2"/>
            </a:pPr>
            <a:endParaRPr lang="en-US" b="1" dirty="0">
              <a:solidFill>
                <a:srgbClr val="00FF0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0" indent="0">
              <a:buNone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00FF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7BF5FF-79C0-0106-045B-EBC234EB8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CD2993-C4A5-75DA-1218-832D91822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D0254-D87E-6A17-71B8-911DB64075B6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9A273E-47CF-96F7-A5AA-84AEDC9DE04A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8B1FB8-B2F9-FA92-EC48-F5F66E42CAE3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EFA56E-A4FA-1E39-A6BB-2E4D3EC4D375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8C5C0B02-EB5C-CD8F-31C4-3BA33E0EB6E8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FF7AAE3F-CD0E-FD55-AC53-1CF3DCABCE53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AFFC1C64-63F7-A33D-FD83-D19CAFD720CA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E974BC28-C4A1-01AE-FE7F-A862121CA013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A21338A3-B473-4E7C-7638-C55A73C51C64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80E74611-4B3D-74CE-AF86-4A168F2B820C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927F9F8E-CF9C-13CC-6EAF-A2A786F8A103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A1B0EC08-EB5C-1799-EE22-011ADE4DA9BF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86BC8A9E-61DD-15F9-335A-C2D4F54E7B35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2C484C72-F0A5-B684-50A6-AA92A915B6B6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EA02F7C9-0120-886D-7508-B3BE1FCBC286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DF8BF0FA-3388-125F-3BB1-C1FCDFB5900D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FD43CB8-361D-C7C1-3505-69E8E70FBE14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85BF46-4264-0508-9912-9DCB06422773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350C30-BF49-B14C-CF97-C0D18E047F8B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8B2852F-B64B-BCA7-3BE4-228E1ACEC73C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53814691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20633-B99D-1700-9CDA-91D4C7B2C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C54E8-6020-34E9-60E4-24FCE4E00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796" y="360812"/>
            <a:ext cx="5334001" cy="683673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FFC000"/>
                </a:solidFill>
              </a:rPr>
              <a:t>Topic: String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ADAF7-6198-6F60-350D-203B1318C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289550"/>
          </a:xfrm>
        </p:spPr>
        <p:txBody>
          <a:bodyPr>
            <a:normAutofit/>
          </a:bodyPr>
          <a:lstStyle/>
          <a:p>
            <a:pPr marL="742950" indent="-742950">
              <a:buFont typeface="+mj-lt"/>
              <a:buAutoNum type="alphaLcParenR"/>
            </a:pPr>
            <a:r>
              <a:rPr lang="en-IN" b="1" dirty="0">
                <a:solidFill>
                  <a:srgbClr val="FFFF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151. Reverse Words in a String</a:t>
            </a:r>
            <a:endParaRPr lang="en-IN" b="1" dirty="0">
              <a:solidFill>
                <a:srgbClr val="FFFF99"/>
              </a:solidFill>
            </a:endParaRPr>
          </a:p>
          <a:p>
            <a:pPr marL="742950" indent="-742950">
              <a:buFont typeface="+mj-lt"/>
              <a:buAutoNum type="alphaLcParenR"/>
            </a:pPr>
            <a:endParaRPr lang="en-IN" b="1" dirty="0">
              <a:solidFill>
                <a:srgbClr val="FFFF99"/>
              </a:solidFill>
            </a:endParaRPr>
          </a:p>
          <a:p>
            <a:pPr marL="742950" indent="-742950">
              <a:buFont typeface="+mj-lt"/>
              <a:buAutoNum type="alphaLcParenR"/>
            </a:pPr>
            <a:endParaRPr lang="en-IN" b="1" dirty="0">
              <a:solidFill>
                <a:srgbClr val="FFFF99"/>
              </a:solidFill>
            </a:endParaRPr>
          </a:p>
          <a:p>
            <a:pPr marL="742950" indent="-742950">
              <a:buFont typeface="+mj-lt"/>
              <a:buAutoNum type="alphaLcParenR"/>
            </a:pPr>
            <a:r>
              <a:rPr lang="en-IN" b="1" dirty="0">
                <a:solidFill>
                  <a:srgbClr val="FFFF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557. Reverse Words in a String III</a:t>
            </a:r>
            <a:endParaRPr lang="en-IN" b="1" dirty="0">
              <a:solidFill>
                <a:srgbClr val="FFFF99"/>
              </a:solidFill>
            </a:endParaRPr>
          </a:p>
          <a:p>
            <a:pPr marL="514350" indent="-514350">
              <a:buFont typeface="+mj-lt"/>
              <a:buAutoNum type="alphaLcParenR"/>
            </a:pPr>
            <a:endParaRPr lang="en-IN" sz="4400" b="1" dirty="0">
              <a:solidFill>
                <a:srgbClr val="FFFF99"/>
              </a:solidFill>
            </a:endParaRPr>
          </a:p>
          <a:p>
            <a:pPr marL="514350" indent="-514350">
              <a:buFont typeface="+mj-lt"/>
              <a:buAutoNum type="alphaLcParenR"/>
            </a:pPr>
            <a:endParaRPr lang="en-IN" sz="4400" b="1" dirty="0">
              <a:solidFill>
                <a:srgbClr val="FFFF99"/>
              </a:solidFill>
            </a:endParaRPr>
          </a:p>
          <a:p>
            <a:pPr marL="514350" indent="-514350">
              <a:buFont typeface="+mj-lt"/>
              <a:buAutoNum type="alphaLcParenR"/>
            </a:pPr>
            <a:endParaRPr lang="en-IN" sz="4400" b="1" dirty="0">
              <a:solidFill>
                <a:srgbClr val="FFFF99"/>
              </a:solidFill>
            </a:endParaRPr>
          </a:p>
          <a:p>
            <a:pPr marL="514350" indent="-514350">
              <a:buFont typeface="+mj-lt"/>
              <a:buAutoNum type="alphaLcParenR"/>
            </a:pPr>
            <a:endParaRPr lang="en-US" sz="4400" b="1" dirty="0">
              <a:solidFill>
                <a:srgbClr val="FFFF99"/>
              </a:solidFill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b="1" dirty="0">
              <a:solidFill>
                <a:srgbClr val="00FF00"/>
              </a:solidFill>
            </a:endParaRPr>
          </a:p>
          <a:p>
            <a:pPr marL="514350" indent="-514350">
              <a:buFont typeface="+mj-lt"/>
              <a:buAutoNum type="alphaLcParenR" startAt="2"/>
            </a:pPr>
            <a:endParaRPr lang="en-US" b="1" dirty="0">
              <a:solidFill>
                <a:srgbClr val="00FF00"/>
              </a:solidFill>
            </a:endParaRPr>
          </a:p>
          <a:p>
            <a:pPr marL="514350" indent="-514350">
              <a:buFont typeface="+mj-lt"/>
              <a:buAutoNum type="alphaLcParenR" startAt="2"/>
            </a:pPr>
            <a:endParaRPr lang="en-US" b="1" dirty="0">
              <a:solidFill>
                <a:srgbClr val="00FF0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92D050"/>
              </a:solidFill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 startAt="2"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0" indent="0">
              <a:buNone/>
            </a:pPr>
            <a:endParaRPr lang="en-US" sz="2800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IN" b="1" dirty="0">
              <a:solidFill>
                <a:srgbClr val="FFFF99"/>
              </a:solidFill>
              <a:latin typeface="Public Sans"/>
            </a:endParaRPr>
          </a:p>
          <a:p>
            <a:pPr marL="742950" indent="-742950">
              <a:buFont typeface="Arial" pitchFamily="34" charset="0"/>
              <a:buAutoNum type="alphaLcParenR"/>
            </a:pPr>
            <a:endParaRPr lang="en-US" sz="2800" b="1" dirty="0">
              <a:solidFill>
                <a:srgbClr val="00FF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1FA2F6-066B-40B6-6FD7-81F9E2FC0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1DE0E0-62E1-F9D2-17C7-BC314F78B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383127"/>
            <a:ext cx="1295400" cy="6937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E4B07-8A33-142D-F3B4-81BD55024F40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18225F-62E5-0683-7814-AC9B0C231FEB}"/>
              </a:ext>
            </a:extLst>
          </p:cNvPr>
          <p:cNvSpPr/>
          <p:nvPr/>
        </p:nvSpPr>
        <p:spPr>
          <a:xfrm>
            <a:off x="152400" y="6366414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07AC27-3A22-F3FB-6073-1B90AA427433}"/>
              </a:ext>
            </a:extLst>
          </p:cNvPr>
          <p:cNvSpPr/>
          <p:nvPr/>
        </p:nvSpPr>
        <p:spPr>
          <a:xfrm>
            <a:off x="6037358" y="6366413"/>
            <a:ext cx="2304415" cy="38036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B50AC4-6166-866E-A2DA-2FA5755A502A}"/>
              </a:ext>
            </a:extLst>
          </p:cNvPr>
          <p:cNvSpPr/>
          <p:nvPr/>
        </p:nvSpPr>
        <p:spPr>
          <a:xfrm>
            <a:off x="6019800" y="548005"/>
            <a:ext cx="2904807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oogle Shape;9534;p142">
            <a:extLst>
              <a:ext uri="{FF2B5EF4-FFF2-40B4-BE49-F238E27FC236}">
                <a16:creationId xmlns:a16="http://schemas.microsoft.com/office/drawing/2014/main" id="{0DB3A12E-FE41-65DB-CC28-7CD1C5128B1E}"/>
              </a:ext>
            </a:extLst>
          </p:cNvPr>
          <p:cNvGrpSpPr/>
          <p:nvPr/>
        </p:nvGrpSpPr>
        <p:grpSpPr>
          <a:xfrm>
            <a:off x="152400" y="6369493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17" name="Google Shape;9535;p142">
              <a:extLst>
                <a:ext uri="{FF2B5EF4-FFF2-40B4-BE49-F238E27FC236}">
                  <a16:creationId xmlns:a16="http://schemas.microsoft.com/office/drawing/2014/main" id="{3AE84F3A-95FD-A224-CE67-9DE35195B439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Google Shape;9536;p142">
              <a:extLst>
                <a:ext uri="{FF2B5EF4-FFF2-40B4-BE49-F238E27FC236}">
                  <a16:creationId xmlns:a16="http://schemas.microsoft.com/office/drawing/2014/main" id="{FF03858E-F60A-82F2-A176-C8570DC08634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Google Shape;9537;p142">
              <a:extLst>
                <a:ext uri="{FF2B5EF4-FFF2-40B4-BE49-F238E27FC236}">
                  <a16:creationId xmlns:a16="http://schemas.microsoft.com/office/drawing/2014/main" id="{0997461F-EC8D-CCA2-9F66-F50DE0DF3886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95888074-C113-028A-A4E0-57AAD189E205}"/>
              </a:ext>
            </a:extLst>
          </p:cNvPr>
          <p:cNvGrpSpPr/>
          <p:nvPr/>
        </p:nvGrpSpPr>
        <p:grpSpPr>
          <a:xfrm>
            <a:off x="6054725" y="63811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9CE4F269-A989-0D4A-0B1B-357C817CE6BB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A75C2F99-AB2B-BAC3-66DF-9EBFA22CBED4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267F15DB-A880-A4D6-2E09-40E7E692B83F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1D58243E-0B70-C907-D833-3C12616E8A7A}"/>
              </a:ext>
            </a:extLst>
          </p:cNvPr>
          <p:cNvGrpSpPr/>
          <p:nvPr/>
        </p:nvGrpSpPr>
        <p:grpSpPr>
          <a:xfrm>
            <a:off x="6037053" y="551897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D3083AFA-63FC-EA6B-EB7F-FAB701D5C402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880347E9-8A33-A8B7-AFEE-AEEE3DAFD261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B9C84CD0-59DA-41D9-527F-EBAA6C4315FA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022A39B-E85E-C0EF-7468-B9CD5A46C48D}"/>
              </a:ext>
            </a:extLst>
          </p:cNvPr>
          <p:cNvSpPr txBox="1"/>
          <p:nvPr/>
        </p:nvSpPr>
        <p:spPr>
          <a:xfrm>
            <a:off x="6441656" y="544529"/>
            <a:ext cx="25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qspiders_jspiders_noida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1F4F8F-04C1-2EC4-9C85-98A00AEB7D39}"/>
              </a:ext>
            </a:extLst>
          </p:cNvPr>
          <p:cNvSpPr txBox="1"/>
          <p:nvPr/>
        </p:nvSpPr>
        <p:spPr>
          <a:xfrm>
            <a:off x="6415770" y="6306103"/>
            <a:ext cx="19523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kumarsam07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E6A37D-39CD-8E0A-A24F-418B730DAA84}"/>
              </a:ext>
            </a:extLst>
          </p:cNvPr>
          <p:cNvSpPr txBox="1"/>
          <p:nvPr/>
        </p:nvSpPr>
        <p:spPr>
          <a:xfrm>
            <a:off x="546951" y="6295178"/>
            <a:ext cx="1791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javac_java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A703A7F-0E94-3214-0226-86E64026558D}"/>
              </a:ext>
            </a:extLst>
          </p:cNvPr>
          <p:cNvSpPr/>
          <p:nvPr/>
        </p:nvSpPr>
        <p:spPr>
          <a:xfrm>
            <a:off x="152400" y="18002"/>
            <a:ext cx="8839200" cy="365125"/>
          </a:xfrm>
          <a:prstGeom prst="roundRect">
            <a:avLst/>
          </a:prstGeom>
          <a:solidFill>
            <a:srgbClr val="BBF9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PySpiders, NOIDA</a:t>
            </a:r>
          </a:p>
        </p:txBody>
      </p:sp>
    </p:spTree>
    <p:extLst>
      <p:ext uri="{BB962C8B-B14F-4D97-AF65-F5344CB8AC3E}">
        <p14:creationId xmlns:p14="http://schemas.microsoft.com/office/powerpoint/2010/main" val="400369605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780C1-8967-6C68-D102-E3D512C8F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34574-C94E-E4BD-F31C-59247A2E1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DF31F-A3A5-D284-E5F6-7BBE6745BCD4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b="1" dirty="0">
                <a:solidFill>
                  <a:srgbClr val="E1CFE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Merge Strings Alternately</a:t>
            </a:r>
            <a:r>
              <a:rPr lang="en-IN" b="1" dirty="0">
                <a:solidFill>
                  <a:srgbClr val="E1CFE3"/>
                </a:solidFill>
              </a:rPr>
              <a:t>:</a:t>
            </a:r>
            <a:endParaRPr lang="en-US" b="1" dirty="0">
              <a:solidFill>
                <a:srgbClr val="E1CFE3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BBF96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https://leetcode.com/problems/merge-strings-alternately/description/</a:t>
            </a:r>
            <a:endParaRPr lang="en-US" b="1" dirty="0">
              <a:solidFill>
                <a:srgbClr val="BBF96F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918F5-2ED5-8E34-A15E-A141BA456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B9C92-1184-4F07-B2F2-A8FF90FA1B33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F14CC-B338-95F6-8CB6-A40D3A408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7FB00-D56E-5BC3-4D83-995891377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69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97DA95DB-423B-5A5C-21D1-7DEB33F757EC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3716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69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F4F87DD-EF7E-AE12-E74F-BFD14EF6327C}"/>
              </a:ext>
            </a:extLst>
          </p:cNvPr>
          <p:cNvSpPr/>
          <p:nvPr/>
        </p:nvSpPr>
        <p:spPr>
          <a:xfrm rot="19756096">
            <a:off x="5502234" y="4697765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126309347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0687C-6D26-B1EF-02AD-1A53E14BF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AD32D-C4EA-E53F-C4DF-8C8F5615A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1875A-AA7B-E6B5-F100-9C2633BED178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800" b="1" i="0" dirty="0">
                <a:solidFill>
                  <a:srgbClr val="E1CFE3"/>
                </a:solidFill>
                <a:effectLst/>
                <a:latin typeface="Public Sans"/>
              </a:rPr>
              <a:t>A password manager wants to create new passwords using two strings given by the user, then combined to create a harder-to- guess combination. Given two strings, interleave the characters of the strings to create a new string. Beginning with an empty string, alternately append a character from string a and from string b. If one of the strings is exhausted before the other, append the remaining letters from the other</a:t>
            </a:r>
            <a:r>
              <a:rPr lang="en-US" sz="1800" b="1" dirty="0">
                <a:solidFill>
                  <a:srgbClr val="E1CFE3"/>
                </a:solidFill>
                <a:latin typeface="Public Sans"/>
              </a:rPr>
              <a:t> </a:t>
            </a:r>
            <a:r>
              <a:rPr lang="en-US" sz="1800" b="1" i="0" dirty="0">
                <a:solidFill>
                  <a:srgbClr val="E1CFE3"/>
                </a:solidFill>
                <a:effectLst/>
                <a:latin typeface="Public Sans"/>
              </a:rPr>
              <a:t>string all at once. The result is the new password.</a:t>
            </a:r>
          </a:p>
          <a:p>
            <a:pPr marL="0" indent="0">
              <a:buNone/>
            </a:pPr>
            <a:endParaRPr lang="en-US" sz="1800" b="1" dirty="0">
              <a:solidFill>
                <a:srgbClr val="E1CFE3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BBF96F"/>
                </a:solidFill>
              </a:rPr>
              <a:t>Example :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BBF96F"/>
                </a:solidFill>
              </a:rPr>
              <a:t>If a = ‘</a:t>
            </a:r>
            <a:r>
              <a:rPr lang="en-US" sz="1800" b="1" dirty="0" err="1">
                <a:solidFill>
                  <a:srgbClr val="BBF96F"/>
                </a:solidFill>
              </a:rPr>
              <a:t>hackerrank</a:t>
            </a:r>
            <a:r>
              <a:rPr lang="en-US" sz="1800" b="1" dirty="0">
                <a:solidFill>
                  <a:srgbClr val="BBF96F"/>
                </a:solidFill>
              </a:rPr>
              <a:t>’ and b = ‘mountain’,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BBF96F"/>
                </a:solidFill>
              </a:rPr>
              <a:t>The result is </a:t>
            </a:r>
            <a:r>
              <a:rPr lang="en-US" sz="2400" b="1" dirty="0" err="1">
                <a:solidFill>
                  <a:srgbClr val="E8E8E8"/>
                </a:solidFill>
              </a:rPr>
              <a:t>hmaocuknetrariannk</a:t>
            </a:r>
            <a:r>
              <a:rPr lang="en-US" sz="1800" b="1" dirty="0">
                <a:solidFill>
                  <a:srgbClr val="BBF96F"/>
                </a:solidFill>
              </a:rPr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1A0A4-0009-8B76-4DF9-C6C80A203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88EAF-0354-4605-AF29-A2F9C01A73D8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72C59-E9F3-6DFE-E986-26CE5A7FE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74989-50BD-00E2-1770-0C179A299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70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36F6279E-F486-B685-81E1-90DF6C0FDBD5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3716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70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DD6A2A9-94EB-234F-7B7C-A879CF095E96}"/>
              </a:ext>
            </a:extLst>
          </p:cNvPr>
          <p:cNvSpPr/>
          <p:nvPr/>
        </p:nvSpPr>
        <p:spPr>
          <a:xfrm rot="19756096">
            <a:off x="5502234" y="4697765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323710296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sz="3600" b="1" dirty="0">
                <a:solidFill>
                  <a:srgbClr val="BBF96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Zigzag Conversion</a:t>
            </a:r>
            <a:endParaRPr lang="en-US" sz="3600" b="1" dirty="0">
              <a:solidFill>
                <a:srgbClr val="BBF96F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078FD-E814-D5C4-9B59-AC9D28945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B0D5-41F3-48FB-97A5-F08B474477C5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87948-2018-25EA-2C4A-830BAB872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43800-59CE-70E2-257B-E26CD8E59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71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26BEC32A-4F92-98F4-5BD2-052109BCC7A8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2954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71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19581DC-3319-66D6-2952-718741C89D57}"/>
              </a:ext>
            </a:extLst>
          </p:cNvPr>
          <p:cNvSpPr/>
          <p:nvPr/>
        </p:nvSpPr>
        <p:spPr>
          <a:xfrm rot="19756096">
            <a:off x="5502234" y="4697765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383966494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3A8EC-9AED-FA75-F989-CAAF9E036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9217C-A4A6-EC6D-6565-80D79E362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6C1C7-8F3F-1D4E-5257-6C5F66DE9475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WAJP to take a String input and print the sum of all the numeric characters in the String.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7497A-FF73-C21D-EEAF-F4EC0A78B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B0D5-41F3-48FB-97A5-F08B474477C5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F0794-354E-BEA8-1B46-2916DA951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AFCB8-2168-DC98-FD4C-370E2C470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72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62AA0B66-E2BA-262F-3AC6-D6EDEA44FEA1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2954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72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707DA38-F677-8E74-6FA8-D56AA52F2C07}"/>
              </a:ext>
            </a:extLst>
          </p:cNvPr>
          <p:cNvSpPr/>
          <p:nvPr/>
        </p:nvSpPr>
        <p:spPr>
          <a:xfrm rot="19756096">
            <a:off x="5502234" y="4697765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6795563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WAJP to take a String input and print sum of all the even numeric characters in the String.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078FD-E814-D5C4-9B59-AC9D28945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BB90E-CF20-4645-B2CF-0EF768E8BD78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87948-2018-25EA-2C4A-830BAB872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43800-59CE-70E2-257B-E26CD8E59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73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D9359A5C-99B4-C972-6B4D-92B15B7F069C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3716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73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209351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WAJP to take a String input and remove all the duplicate characters.</a:t>
            </a:r>
          </a:p>
          <a:p>
            <a:pPr marL="0" indent="0">
              <a:buNone/>
            </a:pPr>
            <a:r>
              <a:rPr lang="en-US" b="1" dirty="0" err="1">
                <a:solidFill>
                  <a:srgbClr val="00FF00"/>
                </a:solidFill>
              </a:rPr>
              <a:t>i</a:t>
            </a:r>
            <a:r>
              <a:rPr lang="en-US" b="1" dirty="0">
                <a:solidFill>
                  <a:srgbClr val="00FF00"/>
                </a:solidFill>
              </a:rPr>
              <a:t>/p: </a:t>
            </a:r>
            <a:r>
              <a:rPr lang="en-US" b="1" dirty="0" err="1">
                <a:solidFill>
                  <a:srgbClr val="00FF00"/>
                </a:solidFill>
              </a:rPr>
              <a:t>abcaxbdacdptx</a:t>
            </a:r>
            <a:endParaRPr lang="en-US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o/p: </a:t>
            </a:r>
            <a:r>
              <a:rPr lang="en-US" b="1" dirty="0" err="1">
                <a:solidFill>
                  <a:srgbClr val="00FF00"/>
                </a:solidFill>
              </a:rPr>
              <a:t>abcxdpt</a:t>
            </a:r>
            <a:endParaRPr lang="en-US" b="1" dirty="0">
              <a:solidFill>
                <a:srgbClr val="00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078FD-E814-D5C4-9B59-AC9D28945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84FBA-5D3B-46CE-AD8D-80F91E38001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87948-2018-25EA-2C4A-830BAB872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43800-59CE-70E2-257B-E26CD8E59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74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1EA13DC9-0595-7044-7072-8C0D1672A6ED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3716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74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03C6602-91A7-7F8F-820C-7A3DE8496415}"/>
              </a:ext>
            </a:extLst>
          </p:cNvPr>
          <p:cNvSpPr/>
          <p:nvPr/>
        </p:nvSpPr>
        <p:spPr>
          <a:xfrm rot="19756096">
            <a:off x="5502234" y="4697765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125293688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WAJP to take a String input and count total number of words in the String(Without using split method)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078FD-E814-D5C4-9B59-AC9D28945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38F0F-671F-4344-94B8-C93DF7A7DE66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87948-2018-25EA-2C4A-830BAB872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43800-59CE-70E2-257B-E26CD8E59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75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0495D67A-74AE-BE92-67F6-8691B9C580F4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3716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75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207AED4-B065-56F8-C01F-2F14A33255D1}"/>
              </a:ext>
            </a:extLst>
          </p:cNvPr>
          <p:cNvSpPr/>
          <p:nvPr/>
        </p:nvSpPr>
        <p:spPr>
          <a:xfrm rot="19756096">
            <a:off x="5502234" y="4697765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317744063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3C4CE-2998-5126-16E2-D6DDC955A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C6EB-9B5A-F993-2D3D-92D73023F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5D1DB-C2E2-3E61-1898-922F63131945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WAJP to take a String input and count total number of words in the String(Using split method)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E95BA-BA90-7ED0-EC6C-BC9FD9BF4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38F0F-671F-4344-94B8-C93DF7A7DE66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B0C81-C289-8CB4-44B5-49C7D7777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0C231-585C-82E5-1872-FA8FED7E6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76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8B429E7A-4413-BAAE-B745-1A822E53B5D9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3716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76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5D4BE61-5C3B-CD87-7164-87AAE678DC2E}"/>
              </a:ext>
            </a:extLst>
          </p:cNvPr>
          <p:cNvSpPr/>
          <p:nvPr/>
        </p:nvSpPr>
        <p:spPr>
          <a:xfrm rot="19756096">
            <a:off x="5502234" y="4697765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37094656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Write a java program to print the biggest numeric character from the given string.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Return -1 if there is no numeric characters.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078FD-E814-D5C4-9B59-AC9D28945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CC8FF-9F84-41D2-971B-EA208913DFE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87948-2018-25EA-2C4A-830BAB872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43800-59CE-70E2-257B-E26CD8E59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77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94CB6FF9-144C-8E15-8854-6BAA93D1D1EC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3716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77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096850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B947B-A9A3-1CAB-DA73-AFEAA7831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78645-20BB-5EBF-4AB1-3A820693B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8BA2F-1CB5-BC44-0AD6-7250D1E36E22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indent="0">
              <a:buNone/>
            </a:pPr>
            <a:r>
              <a:rPr lang="en-US" b="1" u="sng" dirty="0">
                <a:solidFill>
                  <a:srgbClr val="00FF00"/>
                </a:solidFill>
              </a:rPr>
              <a:t>Second largest Number in String: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BBF96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https://leetcode.com/problems/second-largest-digit-in-a-string/description/</a:t>
            </a:r>
            <a:endParaRPr lang="en-US" b="1" dirty="0">
              <a:solidFill>
                <a:srgbClr val="BBF96F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EC271-9E18-B1EE-3CE0-A79AF85DF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345F4-17DA-4ED5-AA90-E4E9E4895CC8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2F90F-421D-5D55-AA36-989C4D861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6150B-0FA7-412D-B6E9-58777C74C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78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AD2AA73B-683F-0BB9-F353-0BA5754A931B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3716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78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353CF17-26AB-0467-83C6-3DE66EE57E52}"/>
              </a:ext>
            </a:extLst>
          </p:cNvPr>
          <p:cNvSpPr/>
          <p:nvPr/>
        </p:nvSpPr>
        <p:spPr>
          <a:xfrm rot="19756096">
            <a:off x="5502234" y="4697765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142457699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F9954-09E6-4B98-8B3C-1059E92FF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2D499-DE66-6C97-1066-55FAB732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4F6C6-38EB-5F00-B9E7-EC027767027A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WAJP to print all the character of the String exactly once(consider only alphabets </a:t>
            </a:r>
            <a:r>
              <a:rPr lang="en-US" b="1">
                <a:solidFill>
                  <a:srgbClr val="00FF00"/>
                </a:solidFill>
              </a:rPr>
              <a:t>in Uppercase</a:t>
            </a:r>
            <a:r>
              <a:rPr lang="en-US" b="1" dirty="0">
                <a:solidFill>
                  <a:srgbClr val="00FF00"/>
                </a:solidFill>
              </a:rPr>
              <a:t>)</a:t>
            </a:r>
            <a:endParaRPr lang="en-US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BF34A-032F-5E6A-9E09-52DBEA5CF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C6A10-683C-42C4-8290-B094B5C695E6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C61BD-6E45-EEEF-C264-9AC9DFABF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F85C9-6E7D-CA94-8CEA-D0209B067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79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C4A271FC-C0F2-527D-4993-E00C64C6DF61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3716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79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6778558-DEC0-7EDF-AA8D-A63050393BD3}"/>
              </a:ext>
            </a:extLst>
          </p:cNvPr>
          <p:cNvSpPr/>
          <p:nvPr/>
        </p:nvSpPr>
        <p:spPr>
          <a:xfrm rot="19756096">
            <a:off x="5502234" y="4697765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419938976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C2B5C-AC2D-90AD-B86C-6C98BDA86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6B1F0-5552-A57E-DAD3-9799F7C39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C4541-BE1C-2741-538C-3D7EEA3FDD1A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WAJP to print all the character of the String exactly once(consider only alphabets </a:t>
            </a:r>
            <a:r>
              <a:rPr lang="en-US" b="1">
                <a:solidFill>
                  <a:srgbClr val="00FF00"/>
                </a:solidFill>
              </a:rPr>
              <a:t>in lowercase)</a:t>
            </a:r>
            <a:endParaRPr lang="en-US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307E9-6C4F-F5F1-850A-8CEC17061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C6A10-683C-42C4-8290-B094B5C695E6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4931C-D5C1-3CFB-316D-CCE524E86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5DD71-22AB-0C56-7685-299D34E23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80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331DDEB8-5832-3407-A931-9B7C5966BFF1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3716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80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F92AC27-2E28-E7CD-E419-5E6727458826}"/>
              </a:ext>
            </a:extLst>
          </p:cNvPr>
          <p:cNvSpPr/>
          <p:nvPr/>
        </p:nvSpPr>
        <p:spPr>
          <a:xfrm rot="19756096">
            <a:off x="5502234" y="4697765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387608291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WAJP to print all the character of the String exactly once.</a:t>
            </a:r>
            <a:endParaRPr lang="en-US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078FD-E814-D5C4-9B59-AC9D28945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C6A10-683C-42C4-8290-B094B5C695E6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87948-2018-25EA-2C4A-830BAB872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43800-59CE-70E2-257B-E26CD8E59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81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BADA34E2-7039-A8A8-E173-92B2699CC877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3716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81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6429225-D8FD-A5E3-0743-93E9C43F0891}"/>
              </a:ext>
            </a:extLst>
          </p:cNvPr>
          <p:cNvSpPr/>
          <p:nvPr/>
        </p:nvSpPr>
        <p:spPr>
          <a:xfrm rot="19756096">
            <a:off x="5502234" y="4697765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288034822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457FB-1641-5E4D-55A5-B0A749451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BBBA5-0F14-B41F-5B07-E5438B8C9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AB182-7A90-9BD2-576B-5B48D3C70026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WAJP to print the frequency of each character of the String.</a:t>
            </a:r>
            <a:endParaRPr lang="en-US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9E4E8-A9B1-D187-8382-D12DFF0F2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9A3F7-219C-4455-AF6F-7E5076A3725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DCE86-02E7-3C11-2C02-A3FB6D418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1EE6D-A727-A2D6-7516-12EC0EE31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82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B64E958A-5659-89F8-7F3C-4EF0A8DE2563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3716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82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9B13621-8F2C-7086-158D-78D64CEA4A59}"/>
              </a:ext>
            </a:extLst>
          </p:cNvPr>
          <p:cNvSpPr/>
          <p:nvPr/>
        </p:nvSpPr>
        <p:spPr>
          <a:xfrm rot="19756096">
            <a:off x="5502234" y="4697765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220545839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1DEA5-8E75-352F-131B-3B5D838C8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60577-F7A9-27CE-CCB1-AEBDA5158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97DA1-3A42-BD42-94FE-E569C42E4171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WAJP to print all the character which has appeared exactly once in the String.</a:t>
            </a:r>
            <a:endParaRPr lang="en-US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47BBA-F5C3-B081-96F1-AEA8AF2FF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1DDDA-9835-4380-B9D0-C38C215EA76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FBDE4-7E69-2B7D-BD37-18CB21B9A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249E9-51CA-4A03-3D0E-B02B5EAC6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83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9F444C26-D0C8-3A68-DE33-6CC2C17EB807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3716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83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F139ECB-13F2-E43A-F718-D3C975B8E3B8}"/>
              </a:ext>
            </a:extLst>
          </p:cNvPr>
          <p:cNvSpPr/>
          <p:nvPr/>
        </p:nvSpPr>
        <p:spPr>
          <a:xfrm rot="19756096">
            <a:off x="5502234" y="4697765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35254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B8002-5956-06C9-CAB8-53C734D21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05CBB-2A0D-4282-6BF7-0B067E1F0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08E59-CC32-2307-1666-713222F0394E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WAJP to print all the character which has appeared more than once in the String.</a:t>
            </a:r>
            <a:endParaRPr lang="en-US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5C1D0-DEC6-B757-DA39-3CE9B49F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050D-58EB-42A8-B251-0E85E58CE550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97EBE-E8FF-55B2-D895-5218D1626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559E8-023A-879D-4518-004A75630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84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D511F134-B7B5-1C7B-E55B-790CDF2657CD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3716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84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987E7F5-B345-FB2C-91F6-8A0A4B2AF5E2}"/>
              </a:ext>
            </a:extLst>
          </p:cNvPr>
          <p:cNvSpPr/>
          <p:nvPr/>
        </p:nvSpPr>
        <p:spPr>
          <a:xfrm rot="19756096">
            <a:off x="5502234" y="4697765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33590508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Design a method which will return the index of first non-repeating character of the String</a:t>
            </a:r>
            <a:r>
              <a:rPr lang="en-US" b="1" i="0" dirty="0">
                <a:solidFill>
                  <a:srgbClr val="00FF00"/>
                </a:solidFill>
                <a:effectLst/>
                <a:latin typeface="OpenSans"/>
              </a:rPr>
              <a:t>. Return -1 if no such character is found</a:t>
            </a:r>
            <a:r>
              <a:rPr lang="en-US" b="1" dirty="0">
                <a:solidFill>
                  <a:srgbClr val="00FF00"/>
                </a:solidFill>
              </a:rPr>
              <a:t>.</a:t>
            </a:r>
          </a:p>
          <a:p>
            <a:pPr marL="0" indent="0">
              <a:buNone/>
            </a:pPr>
            <a:endParaRPr lang="en-US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BBF96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https://leetcode.com/problems/first-unique-character-in-a-string/description/</a:t>
            </a:r>
            <a:endParaRPr lang="en-US" b="1" dirty="0">
              <a:solidFill>
                <a:srgbClr val="BBF96F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078FD-E814-D5C4-9B59-AC9D28945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DEAC7-C6F2-4A17-BFC6-6B51261DA6B2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87948-2018-25EA-2C4A-830BAB872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43800-59CE-70E2-257B-E26CD8E59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85</a:t>
            </a:fld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7A6DF434-C78B-A2D4-9BA4-561E186C6137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3716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85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C6114AD-0A3C-1C82-0F30-553D83A537B1}"/>
              </a:ext>
            </a:extLst>
          </p:cNvPr>
          <p:cNvSpPr/>
          <p:nvPr/>
        </p:nvSpPr>
        <p:spPr>
          <a:xfrm rot="19756096">
            <a:off x="5502234" y="4697765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302926699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74302-E0FD-F8E6-5BFF-08756D2B9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BBAE8-CBFD-0FAF-0CA5-EE41AC041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DF2B5-7AA8-A4F3-A24F-FDA6D54E6438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Given a string of Size N containing digits from 1 to N+1 where any one digit is missing.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Print the missing digit.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String s=“36521”;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Output: 4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DD6AF-7A2A-4EA4-6326-3B372BA41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47C6C-760F-427E-AC45-65A44D4527D3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0F731-0124-E6A9-4956-DDFE70EA2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5A5C0-D6EF-C757-96CD-6DB94E4D5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86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B0935212-270F-AE98-C895-ECA1228AB223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3716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86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9909213-8D2D-3BE0-A451-1F4BFF305076}"/>
              </a:ext>
            </a:extLst>
          </p:cNvPr>
          <p:cNvSpPr/>
          <p:nvPr/>
        </p:nvSpPr>
        <p:spPr>
          <a:xfrm rot="19756096">
            <a:off x="5502234" y="4697765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247776832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WAJP to find weather a string is ANAGRAM or not?</a:t>
            </a:r>
          </a:p>
          <a:p>
            <a:pPr marL="0" indent="0">
              <a:buNone/>
            </a:pPr>
            <a:r>
              <a:rPr lang="en-US" b="1" dirty="0">
                <a:solidFill>
                  <a:srgbClr val="BBF96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https://leetcode.com/problems/valid-anagram/description/</a:t>
            </a:r>
            <a:endParaRPr lang="en-US" b="1" dirty="0">
              <a:solidFill>
                <a:srgbClr val="BBF96F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078FD-E814-D5C4-9B59-AC9D28945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54D0C-2988-4FC7-93FE-580A61C179A0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87948-2018-25EA-2C4A-830BAB872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43800-59CE-70E2-257B-E26CD8E59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87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8DD8572E-5D63-A9F4-D4E5-4DEB28739C11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3716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87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6CD2F3-A343-5BDF-1E18-C9371ACA10EF}"/>
              </a:ext>
            </a:extLst>
          </p:cNvPr>
          <p:cNvSpPr/>
          <p:nvPr/>
        </p:nvSpPr>
        <p:spPr>
          <a:xfrm rot="19756096">
            <a:off x="5502234" y="4697765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148966193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Q16. WAJP to find weather a string is PANAGRAM or not?</a:t>
            </a:r>
          </a:p>
          <a:p>
            <a:pPr marL="0" indent="0">
              <a:buNone/>
            </a:pPr>
            <a:endParaRPr lang="en-US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BBF96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https://leetcode.com/problems/check-if-the-sentence-is-pangram/description/</a:t>
            </a:r>
            <a:endParaRPr lang="en-US" b="1" dirty="0">
              <a:solidFill>
                <a:srgbClr val="BBF96F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078FD-E814-D5C4-9B59-AC9D28945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194FA-5ECF-4301-8FED-EC072F96F8B7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87948-2018-25EA-2C4A-830BAB872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43800-59CE-70E2-257B-E26CD8E59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88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BE06D78D-7AC0-29FE-A8ED-92D8C41AF258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3716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88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8305F1A-215E-459B-9BA0-F44A48A39C72}"/>
              </a:ext>
            </a:extLst>
          </p:cNvPr>
          <p:cNvSpPr/>
          <p:nvPr/>
        </p:nvSpPr>
        <p:spPr>
          <a:xfrm rot="19756096">
            <a:off x="5502234" y="4697765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11928514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6E724-3485-E640-F1EE-63E893FC9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10632-0428-AF73-DB3E-75B062ED7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982C6-5450-B889-5A64-8DA740E4C49B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FF00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FFFF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Largest Number</a:t>
            </a:r>
            <a:r>
              <a:rPr lang="en-IN" b="1" dirty="0">
                <a:solidFill>
                  <a:srgbClr val="FFFF99"/>
                </a:solidFill>
              </a:rPr>
              <a:t>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BBF96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https://leetcode.com/problems/largest-number/description/?envType=problem-list-v2&amp;envId=array</a:t>
            </a:r>
            <a:endParaRPr lang="en-US" b="1" dirty="0">
              <a:solidFill>
                <a:srgbClr val="BBF96F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B0D53-8B96-EE01-734E-DE705E4C6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4948A-EDA8-49E8-828F-AE0DF11AFC0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A3294-313F-1A9B-A5FD-5CD8195C0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D85E5-A117-FE48-F399-80332FBA8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89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76E95966-2B8B-BEED-A774-68C2A1376ECA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3716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89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919826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FC678-EB3D-D908-596F-F52A7547F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3E597-53C5-56B7-B94F-5AEC0F5FB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367AD-026A-4884-FF20-F11B3AEF1A87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FF00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r>
              <a:rPr lang="en-US" b="1" i="0" dirty="0">
                <a:solidFill>
                  <a:srgbClr val="00FF00"/>
                </a:solidFill>
                <a:effectLst/>
                <a:latin typeface="Source Sans 3"/>
              </a:rPr>
              <a:t>WAJP To Check If A String Is Substring Of Another String or NOT.</a:t>
            </a:r>
          </a:p>
          <a:p>
            <a:pPr marL="0" indent="0">
              <a:buNone/>
            </a:pPr>
            <a:endParaRPr lang="en-US" b="1" dirty="0">
              <a:solidFill>
                <a:srgbClr val="00FF00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10323-ED1C-0F1E-0699-44DF7D5A2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4948A-EDA8-49E8-828F-AE0DF11AFC0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438FB-0CCC-B60A-C84E-130B004FA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A08EB-9197-C255-7E4C-9BD4286C6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90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D9E2366C-D9C0-1A01-1522-831EAC931CF2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3716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90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262381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A349F-758D-97CE-C009-1350D7C70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B803A-31EC-DF43-09D6-12C042DF4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9CD48-909B-8A30-1A22-D009D0EB7C8D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FF00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BBF96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Longest Substring Without Repeating Characters</a:t>
            </a:r>
            <a:endParaRPr lang="en-US" b="1" i="0" dirty="0">
              <a:solidFill>
                <a:srgbClr val="BBF96F"/>
              </a:solidFill>
              <a:effectLst/>
              <a:latin typeface="Source Sans 3"/>
            </a:endParaRPr>
          </a:p>
          <a:p>
            <a:pPr marL="0" indent="0">
              <a:buNone/>
            </a:pPr>
            <a:endParaRPr lang="en-US" b="1" dirty="0">
              <a:solidFill>
                <a:srgbClr val="00FF00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A09C5-C0BD-B761-E08F-6FC36EA3A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4948A-EDA8-49E8-828F-AE0DF11AFC0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7EE55-FE71-B9F2-52EF-47740CADB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FE921-708C-59EF-B5FE-6AB8AD062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91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258CC4F4-9C69-43BB-395A-278CFBFD83EF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3716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91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5F8050B-8D9E-F0C2-AA28-71B97A1FDEB7}"/>
              </a:ext>
            </a:extLst>
          </p:cNvPr>
          <p:cNvSpPr/>
          <p:nvPr/>
        </p:nvSpPr>
        <p:spPr>
          <a:xfrm rot="19756096">
            <a:off x="5502234" y="4697765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131800690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86755-CB82-9144-A06F-EFA62BB61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CDED0-5A61-2CA8-451C-414C5B263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90488-6DA4-88EB-5654-C3910ED75F26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FF00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BBF96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Longest Palindromic Substring</a:t>
            </a:r>
            <a:endParaRPr lang="en-US" b="1" dirty="0">
              <a:solidFill>
                <a:srgbClr val="BBF96F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15405-83A0-46DD-CE44-DB2101CB0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4948A-EDA8-49E8-828F-AE0DF11AFC0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55F8D-6937-F231-8A04-2F658968C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A4000-1B91-CA67-275D-927527EED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92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30F1D84C-4E5C-645A-40F9-7743C1A78A1E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3716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92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43706E9-71FA-4248-C77C-BABC174CD89E}"/>
              </a:ext>
            </a:extLst>
          </p:cNvPr>
          <p:cNvSpPr/>
          <p:nvPr/>
        </p:nvSpPr>
        <p:spPr>
          <a:xfrm rot="19756096">
            <a:off x="5502234" y="4697765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147232423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4F8AD-CFA3-8A73-C275-9C8B1E326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111E0-3F55-B4C1-06C4-FA0AA4390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111B8-628A-99DD-C6CC-5A1DD480FD52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FF00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FFFF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Backspace String Compare</a:t>
            </a:r>
            <a:r>
              <a:rPr lang="en-IN" b="1" dirty="0">
                <a:solidFill>
                  <a:srgbClr val="FFFF99"/>
                </a:solidFill>
              </a:rPr>
              <a:t>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BBF96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https://leetcode.com/problems/backspace-string-compare/description/</a:t>
            </a:r>
            <a:endParaRPr lang="en-US" b="1" dirty="0">
              <a:solidFill>
                <a:srgbClr val="BBF96F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99030-1119-74D5-D5D8-BA18DFD6C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4948A-EDA8-49E8-828F-AE0DF11AFC0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FED4F-A9C6-5296-B622-52C9EA278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B78A0-776F-54D7-DEE1-C372ECB45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93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EE3B86AC-0FA5-DB23-860C-ABF85D99C507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3716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93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18468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56531-4D68-5C8A-D0A7-A2234D2AF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5FC9-A446-EFF2-4575-3B9996122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CEF58-064A-F115-FDF2-D909650FB92F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FF00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FF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Adding Spaces to a String</a:t>
            </a:r>
            <a:r>
              <a:rPr lang="en-IN" b="1" dirty="0">
                <a:solidFill>
                  <a:srgbClr val="FFFF99"/>
                </a:solidFill>
              </a:rPr>
              <a:t>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BBF96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https://leetcode.com/problems/adding-spaces-to-a-string/description/</a:t>
            </a:r>
            <a:endParaRPr lang="en-US" b="1" dirty="0">
              <a:solidFill>
                <a:srgbClr val="BBF96F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5BCA8-ABD1-73C4-11C3-3D3D91FAE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4948A-EDA8-49E8-828F-AE0DF11AFC0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F0B0A-3129-AD4A-EDA9-E425DF223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07724-46DE-7D26-673B-2A322BD4D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94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EAE83AE1-4D43-0AB7-604A-9ABF482FD16A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3716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94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433782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B0943-9A2E-32F3-7C5D-A93E20156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3638F-1F03-511A-53CC-22D16A83A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5DFE2-89ED-14A4-22F8-2EE7ECB50E44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FF00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BBF96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Rearrange Spaces Between Words</a:t>
            </a:r>
            <a:r>
              <a:rPr lang="en-IN" b="1" dirty="0">
                <a:solidFill>
                  <a:srgbClr val="BBF96F"/>
                </a:solidFill>
              </a:rPr>
              <a:t>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FF99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https://leetcode.com/problems/rearrange-spaces-between-words/description/</a:t>
            </a:r>
            <a:endParaRPr lang="en-US" b="1" dirty="0">
              <a:solidFill>
                <a:srgbClr val="FFFF99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1C880-4CEC-F2E3-B63F-E6073E186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4948A-EDA8-49E8-828F-AE0DF11AFC0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D240E-A6CD-8823-D4F2-8CA2805A9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F86BB-4FEE-8005-1458-CB6886A79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95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702EE344-EDD1-5830-E3A0-81D308C267D0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3716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95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165980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D4ECB-CB6C-91AA-7B42-D334351B9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BE7E4-16AF-85DB-BA3C-8E33E98D5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709EA-41D2-AB6D-22AA-1F097FF2CACB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FF00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BBF96F"/>
                </a:solidFill>
              </a:rPr>
              <a:t>WAJP for below requirements:</a:t>
            </a:r>
          </a:p>
          <a:p>
            <a:pPr marL="0" indent="0">
              <a:buNone/>
            </a:pPr>
            <a:r>
              <a:rPr lang="en-IN" b="1" dirty="0" err="1">
                <a:solidFill>
                  <a:srgbClr val="BBF96F"/>
                </a:solidFill>
              </a:rPr>
              <a:t>i</a:t>
            </a:r>
            <a:r>
              <a:rPr lang="en-IN" b="1" dirty="0">
                <a:solidFill>
                  <a:srgbClr val="BBF96F"/>
                </a:solidFill>
              </a:rPr>
              <a:t>/p:  “ab </a:t>
            </a:r>
            <a:r>
              <a:rPr lang="en-IN" b="1" dirty="0" err="1">
                <a:solidFill>
                  <a:srgbClr val="BBF96F"/>
                </a:solidFill>
              </a:rPr>
              <a:t>cdef</a:t>
            </a:r>
            <a:r>
              <a:rPr lang="en-IN" b="1" dirty="0">
                <a:solidFill>
                  <a:srgbClr val="BBF96F"/>
                </a:solidFill>
              </a:rPr>
              <a:t> g hi </a:t>
            </a:r>
            <a:r>
              <a:rPr lang="en-IN" b="1" dirty="0" err="1">
                <a:solidFill>
                  <a:srgbClr val="BBF96F"/>
                </a:solidFill>
              </a:rPr>
              <a:t>jklm</a:t>
            </a:r>
            <a:r>
              <a:rPr lang="en-IN" b="1" dirty="0">
                <a:solidFill>
                  <a:srgbClr val="BBF96F"/>
                </a:solidFill>
              </a:rPr>
              <a:t>”</a:t>
            </a:r>
          </a:p>
          <a:p>
            <a:pPr marL="0" indent="0">
              <a:buNone/>
            </a:pPr>
            <a:r>
              <a:rPr lang="en-IN" b="1" dirty="0">
                <a:solidFill>
                  <a:srgbClr val="BBF96F"/>
                </a:solidFill>
              </a:rPr>
              <a:t>o/p: “ml </a:t>
            </a:r>
            <a:r>
              <a:rPr lang="en-IN" b="1" dirty="0" err="1">
                <a:solidFill>
                  <a:srgbClr val="BBF96F"/>
                </a:solidFill>
              </a:rPr>
              <a:t>kjih</a:t>
            </a:r>
            <a:r>
              <a:rPr lang="en-IN" b="1" dirty="0">
                <a:solidFill>
                  <a:srgbClr val="BBF96F"/>
                </a:solidFill>
              </a:rPr>
              <a:t> g </a:t>
            </a:r>
            <a:r>
              <a:rPr lang="en-IN" b="1" dirty="0" err="1">
                <a:solidFill>
                  <a:srgbClr val="BBF96F"/>
                </a:solidFill>
              </a:rPr>
              <a:t>fe</a:t>
            </a:r>
            <a:r>
              <a:rPr lang="en-IN" b="1" dirty="0">
                <a:solidFill>
                  <a:srgbClr val="BBF96F"/>
                </a:solidFill>
              </a:rPr>
              <a:t> </a:t>
            </a:r>
            <a:r>
              <a:rPr lang="en-IN" b="1" dirty="0" err="1">
                <a:solidFill>
                  <a:srgbClr val="BBF96F"/>
                </a:solidFill>
              </a:rPr>
              <a:t>dcba</a:t>
            </a:r>
            <a:r>
              <a:rPr lang="en-IN" b="1" dirty="0">
                <a:solidFill>
                  <a:srgbClr val="BBF96F"/>
                </a:solidFill>
              </a:rPr>
              <a:t>”</a:t>
            </a:r>
            <a:endParaRPr lang="en-US" b="1" dirty="0">
              <a:solidFill>
                <a:srgbClr val="FFFF99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434EA-5BE7-3112-2D48-03DDA8BD3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4948A-EDA8-49E8-828F-AE0DF11AFC0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991CC-4B4A-4D02-7A30-48BA508CE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B8BC9-8DAD-4B8F-38FE-D35BDAE4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96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99DC6BD8-4318-2F92-E93E-84032209C426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3716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96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896833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0BD96-4427-66CF-FE0B-8F64469DA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13330-F1C4-EAC7-22AF-EAF01680D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65A2A-7D07-CD98-4999-649AB84FB4A1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FF00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r>
              <a:rPr lang="en-IN" sz="3600" b="1" dirty="0">
                <a:solidFill>
                  <a:srgbClr val="BBF96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Reverse Only Letters</a:t>
            </a:r>
            <a:endParaRPr lang="en-US" sz="3600" b="1" dirty="0">
              <a:solidFill>
                <a:srgbClr val="BBF96F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15F12-779F-3E65-8E9C-8A7EB9F2D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4948A-EDA8-49E8-828F-AE0DF11AFC0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121E9-F0F8-4B5A-4AEF-906E49104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60C95-743D-2A00-FF36-67245EC13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97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8EE494AD-7119-FAF9-AFD5-C115A4E60881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3716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97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525192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852B0-23ED-B1BB-F631-8E061C65E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F331D-A30D-027B-D6FA-EE6AC5633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8A1F1-0C88-610A-5FE8-6981736A72C0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FF00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FFFF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Word Break</a:t>
            </a:r>
            <a:r>
              <a:rPr lang="en-IN" b="1" dirty="0">
                <a:solidFill>
                  <a:srgbClr val="FFFF99"/>
                </a:solidFill>
              </a:rPr>
              <a:t>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BBF96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https://leetcode.com/problems/word-break/description/</a:t>
            </a:r>
            <a:endParaRPr lang="en-US" b="1" dirty="0">
              <a:solidFill>
                <a:srgbClr val="BBF96F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7CF9D-622E-71D1-5CF1-748DFEB25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4948A-EDA8-49E8-828F-AE0DF11AFC0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F4725-0D4A-7BCA-29C6-F89996C6B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85597-D253-19B1-DFA8-2F724A35E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98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EF241389-C371-EC31-F587-82F9D1743521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3716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98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354227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BF99E-232F-56ED-93F1-21E3D12B2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09D03-0BDB-390D-81EB-09F6EE719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1E38A-1A1A-BD95-4295-AA8DD1CFB916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>
                <a:solidFill>
                  <a:srgbClr val="FFFF99"/>
                </a:solidFill>
              </a:rPr>
              <a:t>Expand Compressed String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57FB57"/>
                </a:solidFill>
              </a:rPr>
              <a:t>Input:</a:t>
            </a:r>
            <a:r>
              <a:rPr lang="en-US" sz="2400" b="1" dirty="0">
                <a:solidFill>
                  <a:srgbClr val="BBF96F"/>
                </a:solidFill>
              </a:rPr>
              <a:t> A string s in the format: alternating characters and numbers (e.g., A4B2C3).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57FB57"/>
                </a:solidFill>
              </a:rPr>
              <a:t>Output: </a:t>
            </a:r>
            <a:r>
              <a:rPr lang="en-US" sz="2400" b="1" dirty="0">
                <a:solidFill>
                  <a:srgbClr val="BBF96F"/>
                </a:solidFill>
              </a:rPr>
              <a:t>A string where each character is repeated the number of times specified.</a:t>
            </a:r>
          </a:p>
          <a:p>
            <a:pPr marL="0" indent="0">
              <a:buNone/>
            </a:pPr>
            <a:r>
              <a:rPr lang="en-US" sz="2400" b="1" dirty="0" err="1">
                <a:solidFill>
                  <a:srgbClr val="BBF96F"/>
                </a:solidFill>
              </a:rPr>
              <a:t>Example:Input</a:t>
            </a:r>
            <a:r>
              <a:rPr lang="en-US" sz="2400" b="1" dirty="0">
                <a:solidFill>
                  <a:srgbClr val="BBF96F"/>
                </a:solidFill>
              </a:rPr>
              <a:t>: "A4B2C3“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BBF96F"/>
                </a:solidFill>
              </a:rPr>
              <a:t>Output: "AAAABBCCC"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BB095-1FE8-A1AC-F056-9E7E817A4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4635-DDDE-4EF9-97EA-86C40DF8FF1F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78B6E-E0DF-5AC0-F04A-207D4F36E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91770-5385-DA9D-C995-57F01BDB1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99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11380EE1-A768-358D-6DB1-CFA8E8E0EFC4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6764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99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017B26B-5AE1-31C9-6AD1-F8CF0C5A6057}"/>
              </a:ext>
            </a:extLst>
          </p:cNvPr>
          <p:cNvSpPr/>
          <p:nvPr/>
        </p:nvSpPr>
        <p:spPr>
          <a:xfrm rot="19756096">
            <a:off x="5502234" y="4697765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163087964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04687-5F84-7CA1-6A8E-18AD3DC59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8B697-D9A3-5291-6510-CBF349DA8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4AC68-EB58-F086-D969-3E8BBCFB2BE5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sz="4000" b="1" dirty="0">
                <a:solidFill>
                  <a:srgbClr val="57FB57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Decode String</a:t>
            </a:r>
            <a:endParaRPr lang="en-US" sz="4000" b="1" dirty="0">
              <a:solidFill>
                <a:srgbClr val="57FB57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6F1FA-8623-C5F6-E9D7-489BAD142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4635-DDDE-4EF9-97EA-86C40DF8FF1F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47382-CCCA-267B-2E17-462644898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4CE89-6C13-84AF-B538-724D337D6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100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49361AB1-E6F7-F709-0D7F-2DE44232F9F7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6764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100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39FE84D-2140-5B42-A360-D4BAB00D1A51}"/>
              </a:ext>
            </a:extLst>
          </p:cNvPr>
          <p:cNvSpPr/>
          <p:nvPr/>
        </p:nvSpPr>
        <p:spPr>
          <a:xfrm rot="19756096">
            <a:off x="5502234" y="4697765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408895960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CE882-708E-9643-E212-B968141D1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5D7A8-445A-C17F-5278-C719E492C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312FB-84BF-95F4-1549-0BF6708C3756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WAJP to get sum of all numbers available in the String: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i</a:t>
            </a: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/p: ab45cde20xyz5pq40dd.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o/p: 110 (45+20+5+40)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246C8-1E5F-4FE0-1CAE-78CEE88AD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BD402-E4EA-492C-9967-8BAD227CBA4F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C37F2-D7DB-869B-61E0-A220F41B7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D8B3E-9900-46DF-57FF-F49AC5AC5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101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55546C42-0C04-5D41-466E-2E8E26E6EB2C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6764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101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4BA9433-5979-4636-30F0-5A00DC8809D6}"/>
              </a:ext>
            </a:extLst>
          </p:cNvPr>
          <p:cNvSpPr/>
          <p:nvPr/>
        </p:nvSpPr>
        <p:spPr>
          <a:xfrm rot="19756096">
            <a:off x="5502234" y="4697765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348354412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WAJP take a String input and print and count all the words which has even number of characters.</a:t>
            </a:r>
            <a:endParaRPr lang="en-US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078FD-E814-D5C4-9B59-AC9D28945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7521F-2D9F-42E7-8977-2E184BC6385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87948-2018-25EA-2C4A-830BAB872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43800-59CE-70E2-257B-E26CD8E59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102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18E1ADC6-125C-F032-EB55-9873700CF5EB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7526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102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5331414-DEBB-D6C2-8A85-AB96C74F33F8}"/>
              </a:ext>
            </a:extLst>
          </p:cNvPr>
          <p:cNvSpPr/>
          <p:nvPr/>
        </p:nvSpPr>
        <p:spPr>
          <a:xfrm rot="19756096">
            <a:off x="5502234" y="4697765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11229530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0F38B-9998-5B94-F434-79200069D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DFC9A-CD9A-3620-13CA-D779D49C4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C61-DCC0-136D-3289-491E6D444A35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WAJP take a String input and print and count all the words which has odd number of characters.</a:t>
            </a:r>
            <a:endParaRPr lang="en-US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38C1E-4DD7-F0B3-CEC9-C1C884130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60C4-C78B-4D23-857F-FA23B7774C80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6FB56-3D41-3BAE-89A5-CA9CFC95A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B869C-5D52-7BE6-7AD7-EC290A0E9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103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76587F74-C3CB-D59A-9299-89B1F01484A1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7526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103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922299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WAJP take a String input and print the largest word in the String.</a:t>
            </a:r>
            <a:endParaRPr lang="en-US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078FD-E814-D5C4-9B59-AC9D28945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0F916-0B16-4515-B40C-7D56AEA07FD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87948-2018-25EA-2C4A-830BAB872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43800-59CE-70E2-257B-E26CD8E59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104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52E03837-B9EC-2AAB-C12E-CA043FEB5947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7526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104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F1A6D19-B096-0EE5-F6FC-15618B109C40}"/>
              </a:ext>
            </a:extLst>
          </p:cNvPr>
          <p:cNvSpPr/>
          <p:nvPr/>
        </p:nvSpPr>
        <p:spPr>
          <a:xfrm rot="19756096">
            <a:off x="5502234" y="4697765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239276250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9892B-0B24-C0BD-87AC-57D423A33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863C3-BA86-3AF5-0840-D19B7C615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AB1E3-07DC-7078-5469-B6E982D2972A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BBF96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Sort Characters By Frequency</a:t>
            </a:r>
            <a:endParaRPr lang="en-US" dirty="0">
              <a:solidFill>
                <a:srgbClr val="BBF96F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BBF96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https://leetcode.com/problems/sort-characters-by-frequency/description/</a:t>
            </a:r>
            <a:endParaRPr lang="en-US" b="1" dirty="0">
              <a:solidFill>
                <a:srgbClr val="BBF96F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BB606-24BA-BDAD-218E-688A2AA3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FE495-7452-44E1-8A63-CE622362B1B2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1249F-408E-0D9B-B2C2-4521AB8CC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274D3-4C35-FF2C-5FB2-0637B77CD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105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DB4CC126-D277-1627-9BB2-F72226EB9DDB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6002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105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471127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6C621-3DAA-D2F1-8612-36D7FCC19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0BE29-2F36-2865-0725-F1031DDE9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9678B-346E-87D6-17CE-0C56943FB251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BBF96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https://leetcode.com/problems/check-if-all-characters-have-equal-number-of-occurrences/description/</a:t>
            </a:r>
            <a:endParaRPr lang="en-US" b="1" dirty="0">
              <a:solidFill>
                <a:srgbClr val="BBF96F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7B9FE-79D4-3240-1AE8-82EF1FEB6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F9AAA-508D-4435-B292-AAC4D9A79A32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6C215-40A1-3753-1680-52E101C85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60067-E7DC-3406-CD52-5121B6559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106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57BDB548-6AF0-8758-E05D-BADA59E28C18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6764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106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690908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WAJP to print the frequency of each words in a string.</a:t>
            </a:r>
            <a:endParaRPr lang="en-US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078FD-E814-D5C4-9B59-AC9D28945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CF9D8-378F-4A01-B233-975CB9986EC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87948-2018-25EA-2C4A-830BAB872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43800-59CE-70E2-257B-E26CD8E59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107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320D62A2-4A85-EBEE-AE19-45C4135C4DDE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6764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107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23505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0219A-B642-A09B-DE54-519FBD06F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D18F4-48D9-2D40-B4A1-5E71932D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8FA57-5949-2D81-432F-02BC3D02C68D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endParaRPr lang="en-US" sz="3000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r>
              <a:rPr lang="en-US" sz="3000" b="1" dirty="0">
                <a:solidFill>
                  <a:srgbClr val="00FF00"/>
                </a:solidFill>
              </a:rPr>
              <a:t>WAJP to print the frequency of each word in the string.</a:t>
            </a:r>
            <a:endParaRPr lang="en-US" sz="3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74BF8-C82F-5891-92BC-E929C3E62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9E062-2547-4905-BA51-B4F330D7445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B7979-3605-F105-8E88-03E47FBBF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75114-FA3F-A174-1C99-737F34F2B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108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82C6D346-4062-16FF-2FD7-8B2A9A804A1C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6002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108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870764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endParaRPr lang="en-US" sz="3000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r>
              <a:rPr lang="en-US" sz="3000" b="1" dirty="0">
                <a:solidFill>
                  <a:srgbClr val="00FF00"/>
                </a:solidFill>
              </a:rPr>
              <a:t>WAJP to print and count all the words which has appeared only once in the String.</a:t>
            </a:r>
          </a:p>
          <a:p>
            <a:pPr marL="0" indent="0">
              <a:buNone/>
            </a:pPr>
            <a:r>
              <a:rPr lang="en-US" sz="19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Input: </a:t>
            </a:r>
            <a:r>
              <a:rPr lang="en-US" sz="19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mohan</a:t>
            </a:r>
            <a:r>
              <a:rPr lang="en-US" sz="19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coming and </a:t>
            </a:r>
            <a:r>
              <a:rPr lang="en-US" sz="19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sohan</a:t>
            </a:r>
            <a:r>
              <a:rPr lang="en-US" sz="19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coming</a:t>
            </a:r>
          </a:p>
          <a:p>
            <a:pPr marL="0" indent="0">
              <a:buNone/>
            </a:pPr>
            <a:r>
              <a:rPr lang="en-US" sz="19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</a:t>
            </a:r>
          </a:p>
          <a:p>
            <a:pPr marL="0" indent="0">
              <a:buNone/>
            </a:pPr>
            <a:r>
              <a:rPr lang="en-US" sz="19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mohan</a:t>
            </a:r>
            <a:endParaRPr lang="en-US" sz="19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19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coming</a:t>
            </a:r>
          </a:p>
          <a:p>
            <a:pPr marL="0" indent="0">
              <a:buNone/>
            </a:pPr>
            <a:r>
              <a:rPr lang="en-US" sz="19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</a:t>
            </a:r>
          </a:p>
          <a:p>
            <a:pPr marL="0" indent="0">
              <a:buNone/>
            </a:pPr>
            <a:r>
              <a:rPr lang="en-US" sz="19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sohan</a:t>
            </a:r>
            <a:endParaRPr lang="en-US" sz="19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19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19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Total words:   4</a:t>
            </a:r>
            <a:endParaRPr lang="en-US" sz="3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078FD-E814-D5C4-9B59-AC9D28945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9E062-2547-4905-BA51-B4F330D7445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87948-2018-25EA-2C4A-830BAB872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43800-59CE-70E2-257B-E26CD8E59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109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A2AE3C53-3599-63EE-4AA5-592FC28A3AFC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6002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109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099444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WAJP to print the word which has appeared for maximum times  in the String.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Input: </a:t>
            </a:r>
            <a:r>
              <a:rPr lang="en-US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mohan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coming and </a:t>
            </a:r>
            <a:r>
              <a:rPr lang="en-US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sohan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coming is good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078FD-E814-D5C4-9B59-AC9D28945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C4F6C-709F-45D5-94C2-D0320A9F308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87948-2018-25EA-2C4A-830BAB872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43800-59CE-70E2-257B-E26CD8E59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110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6D71D437-C865-7850-8F2F-80A1BC7B3C1A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6764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110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AAAC603-7739-DC32-6C91-1033A0AD9267}"/>
              </a:ext>
            </a:extLst>
          </p:cNvPr>
          <p:cNvSpPr/>
          <p:nvPr/>
        </p:nvSpPr>
        <p:spPr>
          <a:xfrm rot="19756096">
            <a:off x="5654634" y="4800600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253427890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WAJP to remove duplicate words from the String.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Input: </a:t>
            </a:r>
            <a:r>
              <a:rPr lang="en-US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mohan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coming and </a:t>
            </a:r>
            <a:r>
              <a:rPr lang="en-US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sohan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coming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	</a:t>
            </a:r>
            <a:r>
              <a:rPr lang="en-US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mohan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coming and </a:t>
            </a:r>
            <a:r>
              <a:rPr lang="en-US" sz="20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sohan</a:t>
            </a:r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078FD-E814-D5C4-9B59-AC9D28945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E3049-11B9-4FB2-B1E4-FD018E70AB31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87948-2018-25EA-2C4A-830BAB872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43800-59CE-70E2-257B-E26CD8E59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111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BCE45A7A-6AD3-F467-2B48-DCE4AE8E5474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6764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111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148226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WAJP to perform sorting for a group of Strings.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String[] str={“</a:t>
            </a:r>
            <a:r>
              <a:rPr lang="en-US" b="1" dirty="0" err="1">
                <a:solidFill>
                  <a:srgbClr val="00FF00"/>
                </a:solidFill>
              </a:rPr>
              <a:t>mohan</a:t>
            </a:r>
            <a:r>
              <a:rPr lang="en-US" b="1" dirty="0">
                <a:solidFill>
                  <a:srgbClr val="00FF00"/>
                </a:solidFill>
              </a:rPr>
              <a:t>”, “john”, “</a:t>
            </a:r>
            <a:r>
              <a:rPr lang="en-US" b="1" dirty="0" err="1">
                <a:solidFill>
                  <a:srgbClr val="00FF00"/>
                </a:solidFill>
              </a:rPr>
              <a:t>rohan</a:t>
            </a:r>
            <a:r>
              <a:rPr lang="en-US" b="1" dirty="0">
                <a:solidFill>
                  <a:srgbClr val="00FF00"/>
                </a:solidFill>
              </a:rPr>
              <a:t>”, “</a:t>
            </a:r>
            <a:r>
              <a:rPr lang="en-US" b="1" dirty="0" err="1">
                <a:solidFill>
                  <a:srgbClr val="00FF00"/>
                </a:solidFill>
              </a:rPr>
              <a:t>sohan</a:t>
            </a:r>
            <a:r>
              <a:rPr lang="en-US" b="1">
                <a:solidFill>
                  <a:srgbClr val="00FF00"/>
                </a:solidFill>
              </a:rPr>
              <a:t>”};</a:t>
            </a:r>
            <a:endParaRPr lang="en-US" b="1" dirty="0">
              <a:solidFill>
                <a:srgbClr val="00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078FD-E814-D5C4-9B59-AC9D28945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29207-DD2A-49A6-9960-11101E6E6492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87948-2018-25EA-2C4A-830BAB872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43800-59CE-70E2-257B-E26CD8E59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112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EA2F0C87-B953-6D11-DF66-C801065C9A6A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6764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112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20990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A97D4-E103-EA9E-BCF7-EDC50AC57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F0203-4DFD-C3C5-33FC-FF9AB4E24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E9E40-1DDB-01EB-A8E1-892537B71F6D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WAP to arrange all the words of a string in a sorted manner.</a:t>
            </a:r>
          </a:p>
          <a:p>
            <a:pPr marL="0" indent="0">
              <a:buNone/>
            </a:pPr>
            <a:r>
              <a:rPr lang="en-US" b="1" dirty="0" err="1">
                <a:solidFill>
                  <a:srgbClr val="00FF00"/>
                </a:solidFill>
              </a:rPr>
              <a:t>i</a:t>
            </a:r>
            <a:r>
              <a:rPr lang="en-US" b="1" dirty="0">
                <a:solidFill>
                  <a:srgbClr val="00FF00"/>
                </a:solidFill>
              </a:rPr>
              <a:t>/p: </a:t>
            </a:r>
            <a:r>
              <a:rPr lang="en-US" b="1" dirty="0" err="1">
                <a:solidFill>
                  <a:srgbClr val="00FF00"/>
                </a:solidFill>
              </a:rPr>
              <a:t>mohan</a:t>
            </a:r>
            <a:r>
              <a:rPr lang="en-US" b="1" dirty="0">
                <a:solidFill>
                  <a:srgbClr val="00FF00"/>
                </a:solidFill>
              </a:rPr>
              <a:t>, john and jack are here.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o/p: and are jack john here </a:t>
            </a:r>
            <a:r>
              <a:rPr lang="en-US" b="1" dirty="0" err="1">
                <a:solidFill>
                  <a:srgbClr val="00FF00"/>
                </a:solidFill>
              </a:rPr>
              <a:t>mohan</a:t>
            </a:r>
            <a:endParaRPr lang="en-US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69B78-6F7B-4272-B9D1-8D0E17BFE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29207-DD2A-49A6-9960-11101E6E6492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59119-AD70-C4EA-8C4D-5E0D9F34E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8E11D-7934-DC76-A646-7F5FF55FE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113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60E2C5DC-A9C8-6DD8-319A-C5B1C515DA35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6764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113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356035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CBE3A-B1E3-6203-5793-FF78D8F11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94BFF-6FFF-C84F-4770-8C85F9416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8785B-DD74-4689-4F9D-B782B22BF2FE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br>
              <a:rPr lang="en-US" dirty="0"/>
            </a:br>
            <a:r>
              <a:rPr lang="en-IN" b="1" dirty="0">
                <a:solidFill>
                  <a:srgbClr val="BBF96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Simplify Path</a:t>
            </a:r>
            <a:r>
              <a:rPr lang="en-IN" b="1" dirty="0">
                <a:solidFill>
                  <a:srgbClr val="BBF96F"/>
                </a:solidFill>
              </a:rPr>
              <a:t>:</a:t>
            </a:r>
          </a:p>
          <a:p>
            <a:pPr marL="0" indent="0">
              <a:buNone/>
            </a:pPr>
            <a:endParaRPr lang="en-IN" b="1" dirty="0">
              <a:solidFill>
                <a:srgbClr val="BBF96F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FF9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https://leetcode.com/problems/simplify-path/description/</a:t>
            </a:r>
            <a:endParaRPr lang="en-US" b="1" dirty="0">
              <a:solidFill>
                <a:srgbClr val="FFFF99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55EB0-1E40-66B5-4130-6B52AB3C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F8CA1-8188-485B-A2F3-C4C7461F0D0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0989B-4900-5925-6EDC-1B5AE0375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FEAA8-F151-6EB1-EDD9-B69E8E660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114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F609C9A8-9C30-4219-C28A-3FE82BEB3130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6764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114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3D9E728-1A70-EA44-CF9E-A502B4C63766}"/>
              </a:ext>
            </a:extLst>
          </p:cNvPr>
          <p:cNvSpPr/>
          <p:nvPr/>
        </p:nvSpPr>
        <p:spPr>
          <a:xfrm rot="19756096">
            <a:off x="5502234" y="4697765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150558065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A72FF-268A-0802-A9A7-F1CB0557E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E8D63-29C4-40FE-B383-DFE6FDB1F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ACB70-BF12-75D2-008F-6FE54FB33795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r>
              <a:rPr lang="en-US" b="1" u="sng" dirty="0">
                <a:solidFill>
                  <a:srgbClr val="00FF00"/>
                </a:solidFill>
              </a:rPr>
              <a:t>Valid Parentheses: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D4FCE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https://leetcode.com/problems/valid-parentheses/description/</a:t>
            </a:r>
            <a:endParaRPr lang="en-US" b="1" dirty="0">
              <a:solidFill>
                <a:srgbClr val="D4FCE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6F4C2-4810-547B-ED44-8AAAF61A4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D729E-3E75-4B8E-A4E3-8CDD92DF895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A902D-5A89-C4D3-4977-E723FECE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4548E-33B9-B4F7-E638-43EF49FC7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115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4B98286F-FBAF-B96F-87D3-6C0AD9C38D7C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6764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115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3C30294-1A3E-CD7A-5DC9-A3F5073FC234}"/>
              </a:ext>
            </a:extLst>
          </p:cNvPr>
          <p:cNvSpPr/>
          <p:nvPr/>
        </p:nvSpPr>
        <p:spPr>
          <a:xfrm rot="19756096">
            <a:off x="5654634" y="4800600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28590541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00237-9EC4-C2CE-AAAA-86D0CEDA3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1833A-A0E0-1236-6841-EED62607A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1233E-B8A4-CC82-51A1-132469DE13E0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Valid Email or NOT.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2C4FC-51D6-882C-6E9B-A970C3BD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60A7F-CD4C-4AAB-A25A-50C11B06C567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126D2-ABD2-6F40-851D-49FD038AD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6236E-DE97-C5AB-8B92-4B40D5D13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116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4842440C-AFFD-FEEA-0D20-4D86C79AAEB7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828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116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354102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69320-4DC7-38F3-02D1-723D28032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B4DA4-2181-21D5-BD11-F0F93D9C3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F5071-86BA-B606-FB94-4A8A9B869257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r>
              <a:rPr lang="en-US" b="1">
                <a:solidFill>
                  <a:srgbClr val="00FF00"/>
                </a:solidFill>
              </a:rPr>
              <a:t>Valid Password </a:t>
            </a:r>
            <a:r>
              <a:rPr lang="en-US" b="1" dirty="0">
                <a:solidFill>
                  <a:srgbClr val="00FF00"/>
                </a:solidFill>
              </a:rPr>
              <a:t>or NOT.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E7D39-B5C1-E3D9-F73E-1C87E24B7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2E88A-61FB-40F7-ADCF-2B3353EA5196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729B7-A9FB-44A2-4437-1320ADBF4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A0D2D-EF05-C09A-2D73-2E129F1EE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117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3662C254-75A1-5774-A67E-5D769EB17534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6764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117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1726698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String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endParaRPr lang="en-US" sz="3000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r>
              <a:rPr lang="en-US" sz="3000" b="1" dirty="0">
                <a:solidFill>
                  <a:srgbClr val="00FF00"/>
                </a:solidFill>
              </a:rPr>
              <a:t>WAJP to Find All the Permutations of a String.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Input: </a:t>
            </a:r>
            <a:r>
              <a:rPr lang="en-US" sz="22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abc</a:t>
            </a:r>
            <a:endParaRPr lang="en-US" sz="2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 </a:t>
            </a:r>
          </a:p>
          <a:p>
            <a:pPr marL="0" indent="0">
              <a:buNone/>
            </a:pPr>
            <a:r>
              <a:rPr lang="en-US" sz="22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abc</a:t>
            </a:r>
            <a:endParaRPr lang="en-US" sz="2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2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acb</a:t>
            </a:r>
            <a:endParaRPr lang="en-US" sz="2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bac</a:t>
            </a:r>
          </a:p>
          <a:p>
            <a:pPr marL="0" indent="0">
              <a:buNone/>
            </a:pPr>
            <a:r>
              <a:rPr lang="en-US" sz="22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bca</a:t>
            </a:r>
            <a:endParaRPr lang="en-US" sz="2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cab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cba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078FD-E814-D5C4-9B59-AC9D28945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EBB04-08DF-46A5-A37F-0110BFB111B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87948-2018-25EA-2C4A-830BAB872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 | JSpiders, NOIDA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43800-59CE-70E2-257B-E26CD8E59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118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0227292A-3AFA-2F44-EF30-651AA02CD9BB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6764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118</a:t>
            </a:fld>
            <a:endParaRPr lang="en-US" sz="4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9436768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F6F47-6F06-2864-7FFE-CF3D7C29F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765477D-8A08-C68E-CC61-BD8052F5BC76}"/>
              </a:ext>
            </a:extLst>
          </p:cNvPr>
          <p:cNvSpPr/>
          <p:nvPr/>
        </p:nvSpPr>
        <p:spPr>
          <a:xfrm>
            <a:off x="0" y="9596"/>
            <a:ext cx="9144000" cy="289750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57200" indent="-22860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3200" b="1" u="sng" dirty="0" err="1">
                <a:solidFill>
                  <a:srgbClr val="0070C0"/>
                </a:solidFill>
                <a:effectLst/>
                <a:highlight>
                  <a:srgbClr val="D3D3D3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QSpiders|JSpiders|PySpiders</a:t>
            </a:r>
            <a:r>
              <a:rPr lang="en-IN" sz="3200" b="1" u="sng" dirty="0">
                <a:solidFill>
                  <a:srgbClr val="0070C0"/>
                </a:solidFill>
                <a:effectLst/>
                <a:highlight>
                  <a:srgbClr val="D3D3D3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, NOIDA</a:t>
            </a:r>
            <a:endParaRPr lang="en-IN" sz="16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22860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3200" b="1" u="sng" dirty="0">
                <a:solidFill>
                  <a:srgbClr val="0070C0"/>
                </a:solidFill>
                <a:effectLst/>
                <a:highlight>
                  <a:srgbClr val="D3D3D3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B-4, Block-B, Sector-3, Noida </a:t>
            </a:r>
            <a:endParaRPr lang="en-IN" sz="16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22860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3200" b="1" u="sng" dirty="0">
                <a:solidFill>
                  <a:srgbClr val="0070C0"/>
                </a:solidFill>
                <a:highlight>
                  <a:srgbClr val="D3D3D3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LinkedList Programming</a:t>
            </a:r>
            <a:r>
              <a:rPr lang="en-IN" sz="3200" b="1" u="sng" dirty="0">
                <a:solidFill>
                  <a:srgbClr val="0070C0"/>
                </a:solidFill>
                <a:effectLst/>
                <a:highlight>
                  <a:srgbClr val="D3D3D3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u="sng" dirty="0">
                <a:solidFill>
                  <a:srgbClr val="0070C0"/>
                </a:solidFill>
                <a:effectLst/>
                <a:highlight>
                  <a:srgbClr val="D3D3D3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Questions by </a:t>
            </a:r>
            <a:r>
              <a:rPr lang="en-IN" sz="2800" b="1" u="sng" dirty="0">
                <a:solidFill>
                  <a:srgbClr val="002060"/>
                </a:solidFill>
                <a:effectLst/>
                <a:highlight>
                  <a:srgbClr val="D3D3D3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Shambhu Sir</a:t>
            </a:r>
            <a:endParaRPr lang="en-IN" sz="14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400" b="1" u="sng" dirty="0">
                <a:solidFill>
                  <a:srgbClr val="222A35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Monday, 11 August 2025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A9ACFC-4BE4-9A68-C396-4392FB3B5385}"/>
              </a:ext>
            </a:extLst>
          </p:cNvPr>
          <p:cNvSpPr/>
          <p:nvPr/>
        </p:nvSpPr>
        <p:spPr>
          <a:xfrm>
            <a:off x="592042" y="2399982"/>
            <a:ext cx="2304415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@javac_java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9000F3-E3DE-7871-C24F-1E28783DE5C7}"/>
              </a:ext>
            </a:extLst>
          </p:cNvPr>
          <p:cNvSpPr/>
          <p:nvPr/>
        </p:nvSpPr>
        <p:spPr>
          <a:xfrm>
            <a:off x="6477000" y="2399981"/>
            <a:ext cx="2304415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@kumarsam07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57D9F9C4-A6CA-254B-FA6A-73A282692BFF}"/>
              </a:ext>
            </a:extLst>
          </p:cNvPr>
          <p:cNvGrpSpPr/>
          <p:nvPr/>
        </p:nvGrpSpPr>
        <p:grpSpPr>
          <a:xfrm>
            <a:off x="592042" y="23999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B1491C04-E2B4-8F6B-E359-1E098810F462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F756B542-321D-C2CC-7A66-80C5907FAA2B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BFFB8383-82CC-7F0B-AF20-C5B712C23846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4F347E3F-FD1D-7B32-912E-243C1A7F7CC7}"/>
              </a:ext>
            </a:extLst>
          </p:cNvPr>
          <p:cNvGrpSpPr/>
          <p:nvPr/>
        </p:nvGrpSpPr>
        <p:grpSpPr>
          <a:xfrm>
            <a:off x="6477000" y="2389455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6E37BABF-AED9-D3F1-4653-314EF77EB1F7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244D19B3-2A3B-4CE9-0188-1002493FC02E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D6E16ABC-23F7-5A70-8141-5384D19B1367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E05B2531-DB0F-DB57-D774-B013E0C23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4049" y="3439323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119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C6D14136-9C73-81BA-DD6D-CA4F64FBB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1807" y="6455266"/>
            <a:ext cx="2895600" cy="365125"/>
          </a:xfrm>
        </p:spPr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431C72-22D5-1FB0-C8E0-AB2BDB56E9C8}"/>
              </a:ext>
            </a:extLst>
          </p:cNvPr>
          <p:cNvSpPr txBox="1"/>
          <p:nvPr/>
        </p:nvSpPr>
        <p:spPr>
          <a:xfrm>
            <a:off x="749770" y="3958659"/>
            <a:ext cx="77762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600" b="1" dirty="0">
              <a:solidFill>
                <a:srgbClr val="00FF00"/>
              </a:solidFill>
            </a:endParaRPr>
          </a:p>
          <a:p>
            <a:r>
              <a:rPr lang="en-US" sz="3600" b="1" dirty="0">
                <a:solidFill>
                  <a:srgbClr val="00FF00"/>
                </a:solidFill>
              </a:rPr>
              <a:t>Design a method to Print all node values of LinkedList.</a:t>
            </a:r>
            <a:endParaRPr lang="en-US" sz="3600" b="1" dirty="0">
              <a:solidFill>
                <a:srgbClr val="FFFF99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C82E53E3-A59B-D061-4B69-C0F47168E9A0}"/>
              </a:ext>
            </a:extLst>
          </p:cNvPr>
          <p:cNvSpPr txBox="1">
            <a:spLocks/>
          </p:cNvSpPr>
          <p:nvPr/>
        </p:nvSpPr>
        <p:spPr>
          <a:xfrm>
            <a:off x="58642" y="3312568"/>
            <a:ext cx="16002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119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AFF95DB-5E90-F0CB-C5B2-A05EE38E499D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119</a:t>
            </a:fld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78B4583-6C95-68D1-43EE-4E0B4B895C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11767B38-7CE4-441C-AFB3-CB763D3A4F2F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F86F3F9-58AA-4698-0632-A970BAAA7978}"/>
              </a:ext>
            </a:extLst>
          </p:cNvPr>
          <p:cNvSpPr/>
          <p:nvPr/>
        </p:nvSpPr>
        <p:spPr>
          <a:xfrm>
            <a:off x="152400" y="2914086"/>
            <a:ext cx="8839200" cy="3651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 | PySpiders, NOIDA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DE36AB6-1992-5023-E493-A6FB6EC112FA}"/>
              </a:ext>
            </a:extLst>
          </p:cNvPr>
          <p:cNvSpPr/>
          <p:nvPr/>
        </p:nvSpPr>
        <p:spPr>
          <a:xfrm rot="19756096">
            <a:off x="6078236" y="5282679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1426497820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8B620-0D79-701E-8E7A-78FF80803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2B04F-BFDC-CD4B-59CF-EE2231A7D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LinkedList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4A2A7-7A9B-56B2-10B9-B53CB539E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Design a method to Get node value at middle position of LinkedList.</a:t>
            </a:r>
            <a:endParaRPr lang="en-US" b="1" dirty="0">
              <a:solidFill>
                <a:srgbClr val="FFFF99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A6D33B-6006-2A39-97BB-120AC22D5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9A02C1-A2A2-B0A3-B9C7-35F96E0C2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76200" y="1600200"/>
            <a:ext cx="1905000" cy="11430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5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120</a:t>
            </a:fld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0B54228-E1F6-F8F1-2238-FFE9627A189C}"/>
              </a:ext>
            </a:extLst>
          </p:cNvPr>
          <p:cNvSpPr/>
          <p:nvPr/>
        </p:nvSpPr>
        <p:spPr>
          <a:xfrm rot="19756096">
            <a:off x="5569025" y="4713580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Important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11994127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31511-C700-700F-636D-2D382A013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60001-C052-61D2-7038-847E93A96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LinkedList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7AC29-FFC9-326D-7236-EA2D2AEC5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3600" b="1" dirty="0">
              <a:solidFill>
                <a:srgbClr val="BBF96F"/>
              </a:solidFill>
            </a:endParaRPr>
          </a:p>
          <a:p>
            <a:pPr marL="0" indent="0">
              <a:buNone/>
            </a:pPr>
            <a:r>
              <a:rPr lang="en-IN" sz="3600" b="1" dirty="0">
                <a:solidFill>
                  <a:srgbClr val="FFFF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876. Middle of the Linked List</a:t>
            </a:r>
            <a:endParaRPr lang="en-US" sz="3600" b="1" dirty="0">
              <a:solidFill>
                <a:srgbClr val="FFFF99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58A562-93E6-C125-B679-CFC128711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89505A-59F1-F0D4-FFE7-73908C9FD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76200" y="1600200"/>
            <a:ext cx="1905000" cy="11430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5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121</a:t>
            </a:fld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1654621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74573-A416-7E2D-798E-AE954EFE6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22325-ABD3-0266-41E9-39E83B575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LinkedList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291BB-2301-B6EE-A984-069817CC6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3600" b="1" dirty="0">
              <a:solidFill>
                <a:srgbClr val="BBF96F"/>
              </a:solidFill>
            </a:endParaRPr>
          </a:p>
          <a:p>
            <a:pPr marL="0" indent="0">
              <a:buNone/>
            </a:pPr>
            <a:r>
              <a:rPr lang="en-IN" sz="3600" b="1" dirty="0">
                <a:solidFill>
                  <a:srgbClr val="FFFF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2095. Delete the Middle Node of a Linked List</a:t>
            </a:r>
            <a:endParaRPr lang="en-US" sz="3600" b="1" dirty="0">
              <a:solidFill>
                <a:srgbClr val="FFFF99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D22127-08ED-772B-CEEA-50D3D1997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C07901-335C-F249-E3EC-BAC5B8147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76200" y="1600200"/>
            <a:ext cx="1905000" cy="11430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5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122</a:t>
            </a:fld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4786102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3CFBF-9976-46EC-CA4C-18C6D90F5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A6BF5-CE92-4CCA-5729-CD2DA15DE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LinkedList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1F51C-4932-44CB-DFE4-CA9784409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3600" b="1" dirty="0">
              <a:solidFill>
                <a:srgbClr val="BBF96F"/>
              </a:solidFill>
            </a:endParaRPr>
          </a:p>
          <a:p>
            <a:pPr marL="0" indent="0">
              <a:buNone/>
            </a:pPr>
            <a:r>
              <a:rPr lang="en-IN" sz="3600" b="1" dirty="0">
                <a:solidFill>
                  <a:srgbClr val="99FF99"/>
                </a:solidFill>
              </a:rPr>
              <a:t>Design a method to get nth node value of LinkedList from the start.</a:t>
            </a:r>
            <a:endParaRPr lang="en-US" sz="3600" b="1" dirty="0">
              <a:solidFill>
                <a:srgbClr val="99FF99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43803D-AD07-10A8-336C-A7388B6BC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1CE490-08B8-7976-C11D-091377CCC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76200" y="1600200"/>
            <a:ext cx="1981200" cy="11430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5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123</a:t>
            </a:fld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6554126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4FC9E-F684-D9F1-263D-59D70C265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398ED-238D-39C4-BD69-7F440EA20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LinkedList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5D077-3C1A-D3F0-614E-DE4C37888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3600" b="1" dirty="0">
              <a:solidFill>
                <a:srgbClr val="BBF96F"/>
              </a:solidFill>
            </a:endParaRPr>
          </a:p>
          <a:p>
            <a:pPr marL="0" indent="0">
              <a:buNone/>
            </a:pPr>
            <a:r>
              <a:rPr lang="en-IN" sz="3600" b="1" dirty="0">
                <a:solidFill>
                  <a:srgbClr val="99FF99"/>
                </a:solidFill>
              </a:rPr>
              <a:t>Design a method to get nth node value of LinkedList from the end.</a:t>
            </a:r>
            <a:endParaRPr lang="en-US" sz="3600" b="1" dirty="0">
              <a:solidFill>
                <a:srgbClr val="99FF99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52707D-CD7C-B573-9306-CE2E5DB70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A98415-B374-7723-EA26-46EA88056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76200" y="1600200"/>
            <a:ext cx="1905000" cy="11430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5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124</a:t>
            </a:fld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0174231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49EEC-2783-E506-8905-63A390C2D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96C44-92FA-20C7-6E9F-FF0F0D8D2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LinkedList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708F7-939D-2669-861B-13EB1F356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3600" b="1" dirty="0">
              <a:solidFill>
                <a:srgbClr val="BBF96F"/>
              </a:solidFill>
            </a:endParaRPr>
          </a:p>
          <a:p>
            <a:pPr marL="0" indent="0">
              <a:buNone/>
            </a:pPr>
            <a:r>
              <a:rPr lang="en-IN" sz="3600" b="1" dirty="0">
                <a:solidFill>
                  <a:srgbClr val="FFFF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19. Remove Nth Node From End of List</a:t>
            </a:r>
            <a:endParaRPr lang="en-US" sz="3600" b="1" dirty="0">
              <a:solidFill>
                <a:srgbClr val="FFFF99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181977-79E4-D622-F5E1-50214D392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11A22A-FFFD-4BC6-439B-3932F4AE8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76200" y="1600200"/>
            <a:ext cx="1981200" cy="11430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5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125</a:t>
            </a:fld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1138072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A470C-958D-EFF7-6A91-14DBC9B26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38CF2-7610-0804-B69D-7208B2BEA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LinkedList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B0774-6FF4-9F1A-1259-670193188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sz="3600" b="1" dirty="0">
                <a:solidFill>
                  <a:srgbClr val="DCFEA4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 List Cycle</a:t>
            </a:r>
            <a:endParaRPr lang="en-US" sz="3600" b="1" dirty="0">
              <a:solidFill>
                <a:srgbClr val="DCFEA4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9D92CB-1EAA-7795-72D6-94F7D1F7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4C2312-AF99-1CA8-4C52-C1FFF85FE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76200" y="1600200"/>
            <a:ext cx="1981200" cy="11430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5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126</a:t>
            </a:fld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D33E8DD-F5A2-E632-75F4-9BD741838442}"/>
              </a:ext>
            </a:extLst>
          </p:cNvPr>
          <p:cNvSpPr/>
          <p:nvPr/>
        </p:nvSpPr>
        <p:spPr>
          <a:xfrm rot="19756096">
            <a:off x="5569025" y="4713580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Important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3415721329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C83F5-F88A-2861-E12A-BC5F01DDB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FF37B-32AB-C493-1855-35ADBF31C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LinkedList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7885C-A01B-5F8B-295F-B6D77B171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sz="3600" b="1" dirty="0">
                <a:solidFill>
                  <a:srgbClr val="FFFF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142. Linked List Cycle II</a:t>
            </a:r>
            <a:endParaRPr lang="en-US" sz="3600" b="1" dirty="0">
              <a:solidFill>
                <a:srgbClr val="FFFF99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1B97F2-001E-8955-3377-1F895336E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BE850C-C912-FC9F-B24D-9E7E78CB2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76200" y="1600200"/>
            <a:ext cx="1981200" cy="11430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5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127</a:t>
            </a:fld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1A95091-62B9-F331-257D-58898840F0DF}"/>
              </a:ext>
            </a:extLst>
          </p:cNvPr>
          <p:cNvSpPr/>
          <p:nvPr/>
        </p:nvSpPr>
        <p:spPr>
          <a:xfrm rot="19756096">
            <a:off x="5569025" y="4713580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Important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1938687218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41650-7A5E-5239-FB05-CF6011DAF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D5EBC-F539-5260-BB3A-B52E66142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LinkedList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30F04-404D-E01F-1A61-94D9774F7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sz="3600" b="1" dirty="0">
                <a:solidFill>
                  <a:srgbClr val="FFFF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206. Reverse Linked List</a:t>
            </a:r>
            <a:endParaRPr lang="en-US" sz="3600" b="1" dirty="0">
              <a:solidFill>
                <a:srgbClr val="FFFF99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BA7A2D-51B5-9ADA-B8CB-AA8DA4655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47A0FE-06E6-F052-B484-856FC2644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76200" y="1600200"/>
            <a:ext cx="1981200" cy="11430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5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128</a:t>
            </a:fld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7EE37CF-5B63-5390-E7B3-2BF0A9B5D832}"/>
              </a:ext>
            </a:extLst>
          </p:cNvPr>
          <p:cNvSpPr/>
          <p:nvPr/>
        </p:nvSpPr>
        <p:spPr>
          <a:xfrm rot="19756096">
            <a:off x="5569025" y="4713580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Most Important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3732711919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664B4-486D-BFDD-19FC-C2C36EEAF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3765B-C870-CFDF-608C-1FB035E1B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LinkedList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47C5C-AE64-4C67-0CA8-309F5602C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sz="3600" b="1" dirty="0">
                <a:solidFill>
                  <a:srgbClr val="FFFF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Add Two Numbers</a:t>
            </a:r>
            <a:endParaRPr lang="en-US" sz="3600" b="1" dirty="0">
              <a:solidFill>
                <a:srgbClr val="FFFF99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070D2D-3A07-3C5F-6ABC-CF1215DEE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09B453-3D99-BAEC-53F6-7BF743E36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76200" y="1600200"/>
            <a:ext cx="1905000" cy="11430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5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129</a:t>
            </a:fld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4DC5A47-B4EB-1CC6-C904-7D1A21AA78ED}"/>
              </a:ext>
            </a:extLst>
          </p:cNvPr>
          <p:cNvSpPr/>
          <p:nvPr/>
        </p:nvSpPr>
        <p:spPr>
          <a:xfrm rot="19756096">
            <a:off x="5569025" y="4713580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Most Important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2072094740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2D32E-2009-3672-67A7-8DE6CF7AC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F6949-64FE-5896-34A0-B567305B4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LinkedList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BE6D9-3979-AE75-0AD2-A7C002109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sz="3600" b="1" dirty="0">
                <a:solidFill>
                  <a:srgbClr val="FFFF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92. Reverse Linked List II</a:t>
            </a:r>
            <a:endParaRPr lang="en-IN" sz="3600" b="1" dirty="0">
              <a:solidFill>
                <a:srgbClr val="FFFF99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D9B9C8-523B-3ADB-D02D-D8B00712A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71FC0-EFEF-8C17-A004-B966A558C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76200" y="1600200"/>
            <a:ext cx="2133600" cy="11430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5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130</a:t>
            </a:fld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5E70067-974C-3582-2CA3-4C9A768F94B6}"/>
              </a:ext>
            </a:extLst>
          </p:cNvPr>
          <p:cNvSpPr/>
          <p:nvPr/>
        </p:nvSpPr>
        <p:spPr>
          <a:xfrm rot="19756096">
            <a:off x="5569025" y="4713580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Most Important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3833390605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4E9E5-FF64-61F2-71A6-6129CB142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DDD0-4C63-AC6B-9AC1-E035C95E8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LinkedList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116C1-419B-0BC8-BDDD-F9F7FE3F6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sz="3600" b="1" dirty="0">
                <a:solidFill>
                  <a:srgbClr val="FFFF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21. Merge Two Sorted Lists</a:t>
            </a:r>
            <a:endParaRPr lang="en-US" sz="3600" b="1" dirty="0">
              <a:solidFill>
                <a:srgbClr val="FFFF99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93DAAC-27E0-542F-3AD5-51F92DA5C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7E1A5B-7E6B-2BA8-5803-50D3A5AA3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76200" y="1600200"/>
            <a:ext cx="2209800" cy="11430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5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131</a:t>
            </a:fld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1429AF2-95C3-75BB-7C3F-47C70A35D0AB}"/>
              </a:ext>
            </a:extLst>
          </p:cNvPr>
          <p:cNvSpPr/>
          <p:nvPr/>
        </p:nvSpPr>
        <p:spPr>
          <a:xfrm rot="19756096">
            <a:off x="5569025" y="4713580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Most Important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2028296122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76180-8E0F-C56E-795D-181044D40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16553-B646-5177-9C51-330F375FB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LinkedList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D2128-F187-2A86-279F-7A3D34566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sz="4000" b="1" dirty="0">
                <a:solidFill>
                  <a:srgbClr val="FFFF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148. Sort List</a:t>
            </a:r>
            <a:endParaRPr lang="en-US" sz="4000" b="1" dirty="0">
              <a:solidFill>
                <a:srgbClr val="FFFF99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F61559-B3C5-E1AC-3598-917B2106A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5A2A60-3764-815C-8956-843B209C5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76200" y="1600200"/>
            <a:ext cx="2133600" cy="11430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5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132</a:t>
            </a:fld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C4BA154-E06B-53C9-5A2A-59D773B5AB91}"/>
              </a:ext>
            </a:extLst>
          </p:cNvPr>
          <p:cNvSpPr/>
          <p:nvPr/>
        </p:nvSpPr>
        <p:spPr>
          <a:xfrm rot="19756096">
            <a:off x="5569025" y="4713580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Most Important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1766503501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84358-E4F8-FBFD-09E0-E511F2574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09408-F87A-D7F4-D17B-3CEEE5647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LinkedList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2DD28-E497-5C7B-8483-2057C9306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sz="4000" b="1" dirty="0">
              <a:solidFill>
                <a:srgbClr val="FFFF99"/>
              </a:solidFill>
            </a:endParaRPr>
          </a:p>
          <a:p>
            <a:pPr marL="0" indent="0">
              <a:buNone/>
            </a:pPr>
            <a:r>
              <a:rPr lang="en-IN" sz="3600" b="1" dirty="0">
                <a:solidFill>
                  <a:srgbClr val="FFFF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147. Insertion Sort List</a:t>
            </a:r>
            <a:endParaRPr lang="en-US" sz="3600" b="1" dirty="0">
              <a:solidFill>
                <a:srgbClr val="FFFF99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15D358-AEC8-F231-88B1-86B62A4A3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3B478B-B023-042E-AF45-0ACCCDBC5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76200" y="1600200"/>
            <a:ext cx="2057400" cy="11430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5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133</a:t>
            </a:fld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0B2DC98-6397-4B49-F035-2A23B7FC879A}"/>
              </a:ext>
            </a:extLst>
          </p:cNvPr>
          <p:cNvSpPr/>
          <p:nvPr/>
        </p:nvSpPr>
        <p:spPr>
          <a:xfrm rot="19756096">
            <a:off x="5569025" y="4713580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Most Important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1851486017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E92CE-91B5-DB57-7353-AC4BB1CA8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3FBDF-1E35-CE69-D744-230D57D9E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LinkedList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DD439-D2E1-E633-7ED3-53810C2DC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sz="4000" b="1" dirty="0">
              <a:solidFill>
                <a:srgbClr val="FFFF99"/>
              </a:solidFill>
            </a:endParaRPr>
          </a:p>
          <a:p>
            <a:pPr marL="0" indent="0">
              <a:buNone/>
            </a:pPr>
            <a:r>
              <a:rPr lang="en-IN" sz="4400" b="1" dirty="0">
                <a:solidFill>
                  <a:srgbClr val="FFFF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61. Rotate List</a:t>
            </a:r>
            <a:endParaRPr lang="en-IN" sz="4400" b="1" dirty="0">
              <a:solidFill>
                <a:srgbClr val="FFFF99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49C6AD-E9EF-00FB-58D5-FCCCE6B02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CF166B-6C9E-0803-4505-47BECAAB3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76200" y="1600200"/>
            <a:ext cx="2057400" cy="11430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5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134</a:t>
            </a:fld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60473B3-3B90-75BF-68C3-0D346CD74C7C}"/>
              </a:ext>
            </a:extLst>
          </p:cNvPr>
          <p:cNvSpPr/>
          <p:nvPr/>
        </p:nvSpPr>
        <p:spPr>
          <a:xfrm rot="19756096">
            <a:off x="5569025" y="4713580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Most Important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1865355395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8B8E5-E421-9752-4D60-487D97127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F4D82-4B54-C5B6-5902-2D010CF33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LinkedList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C15C4-82E8-0BDA-907F-95F1BEBD3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sz="3600" b="1" dirty="0">
                <a:solidFill>
                  <a:srgbClr val="FFFF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 Linked List</a:t>
            </a:r>
            <a:endParaRPr lang="en-US" sz="3600" b="1" dirty="0">
              <a:solidFill>
                <a:srgbClr val="FFFF99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D84E20-F3FE-D2C7-C894-1BD96C010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 JSpiders, NOIDA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593152-579B-1C2D-0969-D6F468F09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76200" y="1600200"/>
            <a:ext cx="1905000" cy="11430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fld id="{B6F15528-21DE-4FAA-801E-634DDDAF4B2B}" type="slidenum">
              <a:rPr kumimoji="0" lang="en-US" sz="54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135</a:t>
            </a:fld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265F566-B3D2-045E-EBD0-B8ABEABDFE9D}"/>
              </a:ext>
            </a:extLst>
          </p:cNvPr>
          <p:cNvSpPr/>
          <p:nvPr/>
        </p:nvSpPr>
        <p:spPr>
          <a:xfrm rot="19756096">
            <a:off x="5569025" y="4713580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Important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3899343895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87513-D9A3-8173-0AE8-FBBD0657D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7F49B-9021-03C7-ECF9-C22B1FB89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LinkedList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A6533-C3C9-7D97-09E3-85F457C1E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600" b="1" dirty="0">
                <a:solidFill>
                  <a:srgbClr val="BBF96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Remove Duplicates from Sorted List</a:t>
            </a:r>
            <a:endParaRPr lang="en-US" sz="3600" b="1" dirty="0">
              <a:solidFill>
                <a:srgbClr val="BBF96F"/>
              </a:solidFill>
            </a:endParaRPr>
          </a:p>
          <a:p>
            <a:pPr marL="0" indent="0">
              <a:buNone/>
            </a:pPr>
            <a:endParaRPr lang="en-US" sz="3600" b="1" dirty="0">
              <a:solidFill>
                <a:srgbClr val="BBF96F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672EA7-B3AB-4378-D817-3B6FA1480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FEE336-BA43-E6C5-DFED-79AA3AC5E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76200" y="1600200"/>
            <a:ext cx="1981200" cy="1143000"/>
          </a:xfrm>
        </p:spPr>
        <p:txBody>
          <a:bodyPr/>
          <a:lstStyle/>
          <a:p>
            <a:r>
              <a:rPr lang="en-US" sz="5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rgbClr val="FFC000"/>
                </a:solidFill>
              </a:rPr>
              <a:pPr/>
              <a:t>136</a:t>
            </a:fld>
            <a:endParaRPr lang="en-US" sz="54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99704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E9F5B-7FC7-2595-2D7F-CEF39278C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FA74F-E2BB-2546-1702-1A18A9240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LinkedList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3FB4C-DA69-9BF2-B322-6EF9D4E58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600" b="1" dirty="0">
                <a:solidFill>
                  <a:srgbClr val="BBF96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Delete Node in a Linked List</a:t>
            </a:r>
            <a:endParaRPr lang="en-US" sz="3600" b="1" dirty="0">
              <a:solidFill>
                <a:srgbClr val="BBF96F"/>
              </a:solidFill>
            </a:endParaRPr>
          </a:p>
          <a:p>
            <a:pPr marL="0" indent="0">
              <a:buNone/>
            </a:pPr>
            <a:endParaRPr lang="en-US" sz="3600" b="1" dirty="0">
              <a:solidFill>
                <a:srgbClr val="BBF96F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905BA8-7B61-A034-A26C-166C8D439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64052C-5A14-477E-485A-54CFF69CD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76200" y="1600200"/>
            <a:ext cx="2133600" cy="1143000"/>
          </a:xfrm>
        </p:spPr>
        <p:txBody>
          <a:bodyPr/>
          <a:lstStyle/>
          <a:p>
            <a:r>
              <a:rPr lang="en-US" sz="5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rgbClr val="FFC000"/>
                </a:solidFill>
              </a:rPr>
              <a:pPr/>
              <a:t>137</a:t>
            </a:fld>
            <a:endParaRPr lang="en-US" sz="54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8150449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F6F47-6F06-2864-7FFE-CF3D7C29F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765477D-8A08-C68E-CC61-BD8052F5BC76}"/>
              </a:ext>
            </a:extLst>
          </p:cNvPr>
          <p:cNvSpPr/>
          <p:nvPr/>
        </p:nvSpPr>
        <p:spPr>
          <a:xfrm>
            <a:off x="0" y="9596"/>
            <a:ext cx="9144000" cy="289750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57200" indent="-22860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3200" b="1" u="sng" dirty="0" err="1">
                <a:solidFill>
                  <a:srgbClr val="0070C0"/>
                </a:solidFill>
                <a:effectLst/>
                <a:highlight>
                  <a:srgbClr val="D3D3D3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QSpiders|JSpiders|PySpiders</a:t>
            </a:r>
            <a:r>
              <a:rPr lang="en-IN" sz="3200" b="1" u="sng" dirty="0">
                <a:solidFill>
                  <a:srgbClr val="0070C0"/>
                </a:solidFill>
                <a:effectLst/>
                <a:highlight>
                  <a:srgbClr val="D3D3D3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, NOIDA</a:t>
            </a:r>
            <a:endParaRPr lang="en-IN" sz="16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22860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3200" b="1" u="sng" dirty="0">
                <a:solidFill>
                  <a:srgbClr val="0070C0"/>
                </a:solidFill>
                <a:effectLst/>
                <a:highlight>
                  <a:srgbClr val="D3D3D3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B-4, Block-B, Sector-3, Noida </a:t>
            </a:r>
            <a:endParaRPr lang="en-IN" sz="16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22860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3200" b="1" u="sng" dirty="0">
                <a:solidFill>
                  <a:srgbClr val="0070C0"/>
                </a:solidFill>
                <a:highlight>
                  <a:srgbClr val="D3D3D3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Stack Programming</a:t>
            </a:r>
            <a:r>
              <a:rPr lang="en-IN" sz="3200" b="1" u="sng" dirty="0">
                <a:solidFill>
                  <a:srgbClr val="0070C0"/>
                </a:solidFill>
                <a:effectLst/>
                <a:highlight>
                  <a:srgbClr val="D3D3D3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u="sng" dirty="0">
                <a:solidFill>
                  <a:srgbClr val="0070C0"/>
                </a:solidFill>
                <a:effectLst/>
                <a:highlight>
                  <a:srgbClr val="D3D3D3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Questions by </a:t>
            </a:r>
            <a:r>
              <a:rPr lang="en-IN" sz="2800" b="1" u="sng" dirty="0">
                <a:solidFill>
                  <a:srgbClr val="002060"/>
                </a:solidFill>
                <a:effectLst/>
                <a:highlight>
                  <a:srgbClr val="D3D3D3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Shambhu Sir</a:t>
            </a:r>
            <a:endParaRPr lang="en-IN" sz="14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400" b="1" u="sng" dirty="0">
                <a:solidFill>
                  <a:srgbClr val="222A35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Monday, 11 August 2025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A9ACFC-4BE4-9A68-C396-4392FB3B5385}"/>
              </a:ext>
            </a:extLst>
          </p:cNvPr>
          <p:cNvSpPr/>
          <p:nvPr/>
        </p:nvSpPr>
        <p:spPr>
          <a:xfrm>
            <a:off x="592042" y="2399982"/>
            <a:ext cx="2304415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@javac_java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9000F3-E3DE-7871-C24F-1E28783DE5C7}"/>
              </a:ext>
            </a:extLst>
          </p:cNvPr>
          <p:cNvSpPr/>
          <p:nvPr/>
        </p:nvSpPr>
        <p:spPr>
          <a:xfrm>
            <a:off x="6477000" y="2399981"/>
            <a:ext cx="2304415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@kumarsam07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57D9F9C4-A6CA-254B-FA6A-73A282692BFF}"/>
              </a:ext>
            </a:extLst>
          </p:cNvPr>
          <p:cNvGrpSpPr/>
          <p:nvPr/>
        </p:nvGrpSpPr>
        <p:grpSpPr>
          <a:xfrm>
            <a:off x="592042" y="23999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B1491C04-E2B4-8F6B-E359-1E098810F462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F756B542-321D-C2CC-7A66-80C5907FAA2B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BFFB8383-82CC-7F0B-AF20-C5B712C23846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4F347E3F-FD1D-7B32-912E-243C1A7F7CC7}"/>
              </a:ext>
            </a:extLst>
          </p:cNvPr>
          <p:cNvGrpSpPr/>
          <p:nvPr/>
        </p:nvGrpSpPr>
        <p:grpSpPr>
          <a:xfrm>
            <a:off x="6477000" y="2389455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6E37BABF-AED9-D3F1-4653-314EF77EB1F7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244D19B3-2A3B-4CE9-0188-1002493FC02E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D6E16ABC-23F7-5A70-8141-5384D19B1367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E05B2531-DB0F-DB57-D774-B013E0C23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4049" y="3439323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138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C6D14136-9C73-81BA-DD6D-CA4F64FBB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1807" y="6455266"/>
            <a:ext cx="2895600" cy="365125"/>
          </a:xfrm>
        </p:spPr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C82E53E3-A59B-D061-4B69-C0F47168E9A0}"/>
              </a:ext>
            </a:extLst>
          </p:cNvPr>
          <p:cNvSpPr txBox="1">
            <a:spLocks/>
          </p:cNvSpPr>
          <p:nvPr/>
        </p:nvSpPr>
        <p:spPr>
          <a:xfrm>
            <a:off x="58642" y="3312568"/>
            <a:ext cx="16002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138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AFF95DB-5E90-F0CB-C5B2-A05EE38E499D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138</a:t>
            </a:fld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78B4583-6C95-68D1-43EE-4E0B4B895C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11767B38-7CE4-441C-AFB3-CB763D3A4F2F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F86F3F9-58AA-4698-0632-A970BAAA7978}"/>
              </a:ext>
            </a:extLst>
          </p:cNvPr>
          <p:cNvSpPr/>
          <p:nvPr/>
        </p:nvSpPr>
        <p:spPr>
          <a:xfrm>
            <a:off x="152400" y="2914086"/>
            <a:ext cx="8839200" cy="3651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 | PySpiders, NOIDA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EEE484-A795-1FD6-96EA-ED5AFBD7CB72}"/>
              </a:ext>
            </a:extLst>
          </p:cNvPr>
          <p:cNvSpPr txBox="1"/>
          <p:nvPr/>
        </p:nvSpPr>
        <p:spPr>
          <a:xfrm>
            <a:off x="910552" y="4263780"/>
            <a:ext cx="67094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BBF96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2390. Removing Stars From a String</a:t>
            </a:r>
            <a:endParaRPr lang="en-IN" sz="3200" b="1" dirty="0">
              <a:solidFill>
                <a:srgbClr val="BBF96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9976080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A0F8D-E19E-63E7-CFD9-13B9FE0CD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42F7F-88E0-0921-1A09-2504443DD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Stack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AD7FD-EAC0-FD68-B7FD-8B4314606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sz="3600" b="1" dirty="0">
                <a:solidFill>
                  <a:srgbClr val="DCFEA4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Backspace String Compare</a:t>
            </a:r>
            <a:endParaRPr lang="en-US" sz="3600" b="1" dirty="0">
              <a:solidFill>
                <a:srgbClr val="DCFEA4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32CF45-94E6-A4B5-5688-FED42B659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AFFAB7-9AC8-1B56-2CA7-EA333B2AB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1828800"/>
            <a:ext cx="2057400" cy="1143000"/>
          </a:xfrm>
        </p:spPr>
        <p:txBody>
          <a:bodyPr/>
          <a:lstStyle/>
          <a:p>
            <a:r>
              <a:rPr lang="en-US" sz="5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rgbClr val="FFC000"/>
                </a:solidFill>
              </a:rPr>
              <a:pPr/>
              <a:t>139</a:t>
            </a:fld>
            <a:endParaRPr lang="en-US" sz="5400" b="1" dirty="0">
              <a:solidFill>
                <a:srgbClr val="FFC00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1D3C2B3-31C1-489F-4D24-4D9187E87AC7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en-US" dirty="0">
              <a:solidFill>
                <a:srgbClr val="00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4668702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A61E3-176D-BC7A-3E7C-9EF1BE95D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AD0DF-ADC1-454D-2954-939636B59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Stack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673A7-DBBE-D9BB-AC1A-BE7B24337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600" b="1" dirty="0">
                <a:solidFill>
                  <a:srgbClr val="DCFEA4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Remove All Adjacent Duplicates In String</a:t>
            </a:r>
            <a:endParaRPr lang="en-US" sz="3600" b="1" dirty="0">
              <a:solidFill>
                <a:srgbClr val="DCFEA4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30B932-5A3E-7D39-5ADD-8BE6C2DA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1585BE-0B04-FEAA-20EE-C3AD666F3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1828800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rgbClr val="FFC000"/>
                </a:solidFill>
              </a:rPr>
              <a:pPr/>
              <a:t>140</a:t>
            </a:fld>
            <a:endParaRPr lang="en-US" sz="5400" b="1" dirty="0">
              <a:solidFill>
                <a:srgbClr val="FFC00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E1DAC5C-DB9E-560B-7A0C-0677911AB44E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en-US" dirty="0">
              <a:solidFill>
                <a:srgbClr val="00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618397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CC55F-395D-7D4C-4BD6-D483DB448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8F8EB-FDF6-CBEF-62AE-4F3F22EA6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Stack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7154E-A001-406D-09D9-0064BD93A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DCFEA4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Make The String Great</a:t>
            </a:r>
            <a:endParaRPr lang="en-US" b="1" dirty="0">
              <a:solidFill>
                <a:srgbClr val="DCFEA4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1ECF43-E45F-9280-6833-79B1F65E9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4292F8-E7E0-FC55-8F77-2930DBDFE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1828800"/>
            <a:ext cx="1981200" cy="1143000"/>
          </a:xfrm>
        </p:spPr>
        <p:txBody>
          <a:bodyPr/>
          <a:lstStyle/>
          <a:p>
            <a:r>
              <a:rPr lang="en-US" sz="5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rgbClr val="FFC000"/>
                </a:solidFill>
              </a:rPr>
              <a:pPr/>
              <a:t>141</a:t>
            </a:fld>
            <a:endParaRPr lang="en-US" sz="5400" b="1" dirty="0">
              <a:solidFill>
                <a:srgbClr val="FFC00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6CBF5E0-08A1-F5BF-0831-7DF2A1D26068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en-US" dirty="0">
              <a:solidFill>
                <a:srgbClr val="00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070685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A933A-47D5-9FDA-C355-172C3B57C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FBCAE-4E0B-B1F4-14AD-60B69659E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Stack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ADE02-FB02-62ED-8D82-8D794F8CD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sz="3600" b="1" dirty="0">
                <a:solidFill>
                  <a:srgbClr val="DCFEA4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Valid Parentheses</a:t>
            </a:r>
            <a:endParaRPr lang="en-US" sz="3600" b="1" dirty="0">
              <a:solidFill>
                <a:srgbClr val="DCFEA4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183E9F-B4D7-99A2-009C-15C906993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83D8CA-54AD-69A4-B6D6-20179BB70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1828800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rgbClr val="FFC000"/>
                </a:solidFill>
              </a:rPr>
              <a:pPr/>
              <a:t>142</a:t>
            </a:fld>
            <a:endParaRPr lang="en-US" sz="5400" b="1" dirty="0">
              <a:solidFill>
                <a:srgbClr val="FFC00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2AF7150-D190-5BBD-FDBF-BDAB157DFF4E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en-US" dirty="0">
              <a:solidFill>
                <a:srgbClr val="00FF00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FAC5915-FB39-EF97-507D-384A36464FCC}"/>
              </a:ext>
            </a:extLst>
          </p:cNvPr>
          <p:cNvSpPr/>
          <p:nvPr/>
        </p:nvSpPr>
        <p:spPr>
          <a:xfrm rot="19756096">
            <a:off x="6088993" y="5235665"/>
            <a:ext cx="2909614" cy="772152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</p:spTree>
    <p:extLst>
      <p:ext uri="{BB962C8B-B14F-4D97-AF65-F5344CB8AC3E}">
        <p14:creationId xmlns:p14="http://schemas.microsoft.com/office/powerpoint/2010/main" val="3077001928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75C86-38A9-DD84-FC4E-AB4A7920E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AD80B-03F5-E9C5-9EE9-1AFBA417F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Stack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9F408-FC6B-BE4C-BE74-DE04DE557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b="1" dirty="0">
                <a:solidFill>
                  <a:srgbClr val="BBF96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921. Minimum Add to Make Parentheses Valid</a:t>
            </a:r>
            <a:endParaRPr lang="en-US" b="1" dirty="0">
              <a:solidFill>
                <a:srgbClr val="BBF96F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76397A-7AEC-353A-E6A7-DECE4E918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1DCDA0-2042-3DBA-C35A-5E1B7A800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1828800"/>
            <a:ext cx="1981200" cy="1143000"/>
          </a:xfrm>
        </p:spPr>
        <p:txBody>
          <a:bodyPr/>
          <a:lstStyle/>
          <a:p>
            <a:r>
              <a:rPr lang="en-US" sz="5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rgbClr val="FFC000"/>
                </a:solidFill>
              </a:rPr>
              <a:pPr/>
              <a:t>143</a:t>
            </a:fld>
            <a:endParaRPr lang="en-US" sz="5400" b="1" dirty="0">
              <a:solidFill>
                <a:srgbClr val="FFC00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9DC593E-BC6B-E6BD-4C18-AD46E300BEE5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en-US" dirty="0">
              <a:solidFill>
                <a:srgbClr val="00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5230491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934C2-EB37-6456-64D3-CD0208DE6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DCDA4-FF63-C200-F56D-130739618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Stack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D3B3B-D4B4-FF7D-C161-CB1AD2E82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>
              <a:solidFill>
                <a:srgbClr val="5F5F5F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DCFEA4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Remove Outermost Parentheses</a:t>
            </a:r>
            <a:endParaRPr lang="en-US" b="1" dirty="0">
              <a:solidFill>
                <a:srgbClr val="DCFEA4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DCFEA4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44DDA2-3355-F1D6-C819-26DE79848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E1FBE2-7E06-FE4C-4652-20172DBC7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" y="1828800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rgbClr val="FFC000"/>
                </a:solidFill>
              </a:rPr>
              <a:pPr/>
              <a:t>144</a:t>
            </a:fld>
            <a:endParaRPr lang="en-US" sz="5400" b="1" dirty="0">
              <a:solidFill>
                <a:srgbClr val="FFC00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0D47AA5-E4A3-B908-D793-F1E1325C46EC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en-US" dirty="0">
              <a:solidFill>
                <a:srgbClr val="00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7294655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F6F47-6F06-2864-7FFE-CF3D7C29F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765477D-8A08-C68E-CC61-BD8052F5BC76}"/>
              </a:ext>
            </a:extLst>
          </p:cNvPr>
          <p:cNvSpPr/>
          <p:nvPr/>
        </p:nvSpPr>
        <p:spPr>
          <a:xfrm>
            <a:off x="0" y="9596"/>
            <a:ext cx="9144000" cy="289750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57200" indent="-22860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3200" b="1" u="sng" dirty="0" err="1">
                <a:solidFill>
                  <a:srgbClr val="0070C0"/>
                </a:solidFill>
                <a:effectLst/>
                <a:highlight>
                  <a:srgbClr val="D3D3D3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QSpiders|JSpiders|PySpiders</a:t>
            </a:r>
            <a:r>
              <a:rPr lang="en-IN" sz="3200" b="1" u="sng" dirty="0">
                <a:solidFill>
                  <a:srgbClr val="0070C0"/>
                </a:solidFill>
                <a:effectLst/>
                <a:highlight>
                  <a:srgbClr val="D3D3D3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, NOIDA</a:t>
            </a:r>
            <a:endParaRPr lang="en-IN" sz="16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22860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3200" b="1" u="sng" dirty="0">
                <a:solidFill>
                  <a:srgbClr val="0070C0"/>
                </a:solidFill>
                <a:effectLst/>
                <a:highlight>
                  <a:srgbClr val="D3D3D3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B-4, Block-B, Sector-3, Noida </a:t>
            </a:r>
            <a:endParaRPr lang="en-IN" sz="16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22860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3200" b="1" u="sng" dirty="0">
                <a:solidFill>
                  <a:srgbClr val="0070C0"/>
                </a:solidFill>
                <a:highlight>
                  <a:srgbClr val="D3D3D3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Dynamic Programming</a:t>
            </a:r>
            <a:r>
              <a:rPr lang="en-IN" sz="3200" b="1" u="sng" dirty="0">
                <a:solidFill>
                  <a:srgbClr val="0070C0"/>
                </a:solidFill>
                <a:effectLst/>
                <a:highlight>
                  <a:srgbClr val="D3D3D3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u="sng" dirty="0">
                <a:solidFill>
                  <a:srgbClr val="0070C0"/>
                </a:solidFill>
                <a:effectLst/>
                <a:highlight>
                  <a:srgbClr val="D3D3D3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Questions by </a:t>
            </a:r>
            <a:r>
              <a:rPr lang="en-IN" sz="2800" b="1" u="sng" dirty="0">
                <a:solidFill>
                  <a:srgbClr val="002060"/>
                </a:solidFill>
                <a:effectLst/>
                <a:highlight>
                  <a:srgbClr val="D3D3D3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Shambhu Sir</a:t>
            </a:r>
            <a:endParaRPr lang="en-IN" sz="14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400" b="1" u="sng" dirty="0">
                <a:solidFill>
                  <a:srgbClr val="222A35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Monday, 11 August 2025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A9ACFC-4BE4-9A68-C396-4392FB3B5385}"/>
              </a:ext>
            </a:extLst>
          </p:cNvPr>
          <p:cNvSpPr/>
          <p:nvPr/>
        </p:nvSpPr>
        <p:spPr>
          <a:xfrm>
            <a:off x="592042" y="2399982"/>
            <a:ext cx="2304415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@javac_java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9000F3-E3DE-7871-C24F-1E28783DE5C7}"/>
              </a:ext>
            </a:extLst>
          </p:cNvPr>
          <p:cNvSpPr/>
          <p:nvPr/>
        </p:nvSpPr>
        <p:spPr>
          <a:xfrm>
            <a:off x="6477000" y="2399981"/>
            <a:ext cx="2304415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@kumarsam07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57D9F9C4-A6CA-254B-FA6A-73A282692BFF}"/>
              </a:ext>
            </a:extLst>
          </p:cNvPr>
          <p:cNvGrpSpPr/>
          <p:nvPr/>
        </p:nvGrpSpPr>
        <p:grpSpPr>
          <a:xfrm>
            <a:off x="592042" y="23999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B1491C04-E2B4-8F6B-E359-1E098810F462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F756B542-321D-C2CC-7A66-80C5907FAA2B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BFFB8383-82CC-7F0B-AF20-C5B712C23846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4F347E3F-FD1D-7B32-912E-243C1A7F7CC7}"/>
              </a:ext>
            </a:extLst>
          </p:cNvPr>
          <p:cNvGrpSpPr/>
          <p:nvPr/>
        </p:nvGrpSpPr>
        <p:grpSpPr>
          <a:xfrm>
            <a:off x="6477000" y="2389455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6E37BABF-AED9-D3F1-4653-314EF77EB1F7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244D19B3-2A3B-4CE9-0188-1002493FC02E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D6E16ABC-23F7-5A70-8141-5384D19B1367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E05B2531-DB0F-DB57-D774-B013E0C23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9292" y="3429000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145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C6D14136-9C73-81BA-DD6D-CA4F64FBB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1807" y="6455266"/>
            <a:ext cx="2895600" cy="365125"/>
          </a:xfrm>
        </p:spPr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C82E53E3-A59B-D061-4B69-C0F47168E9A0}"/>
              </a:ext>
            </a:extLst>
          </p:cNvPr>
          <p:cNvSpPr txBox="1">
            <a:spLocks/>
          </p:cNvSpPr>
          <p:nvPr/>
        </p:nvSpPr>
        <p:spPr>
          <a:xfrm>
            <a:off x="58642" y="3312568"/>
            <a:ext cx="16002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145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AFF95DB-5E90-F0CB-C5B2-A05EE38E499D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145</a:t>
            </a:fld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78B4583-6C95-68D1-43EE-4E0B4B895C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11767B38-7CE4-441C-AFB3-CB763D3A4F2F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F86F3F9-58AA-4698-0632-A970BAAA7978}"/>
              </a:ext>
            </a:extLst>
          </p:cNvPr>
          <p:cNvSpPr/>
          <p:nvPr/>
        </p:nvSpPr>
        <p:spPr>
          <a:xfrm>
            <a:off x="152400" y="2914086"/>
            <a:ext cx="8839200" cy="3651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 | PySpiders, NOIDA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1AEC6D-483D-EFCA-EE3B-3C8914E80E77}"/>
              </a:ext>
            </a:extLst>
          </p:cNvPr>
          <p:cNvSpPr txBox="1"/>
          <p:nvPr/>
        </p:nvSpPr>
        <p:spPr>
          <a:xfrm>
            <a:off x="588890" y="4035006"/>
            <a:ext cx="7945509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0FF00"/>
                </a:solidFill>
              </a:rPr>
              <a:t>WAP to print each elements of array from start.</a:t>
            </a:r>
          </a:p>
          <a:p>
            <a:pPr marL="0" indent="0">
              <a:buNone/>
            </a:pPr>
            <a:endParaRPr lang="en-US" sz="3200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rgbClr val="00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1824201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85D58-BD9A-BE85-E38B-B6F060364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EA79-046E-5CBF-3CFA-2CD72AAAF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>
                <a:solidFill>
                  <a:srgbClr val="00FF00"/>
                </a:solidFill>
              </a:rPr>
              <a:t>Dynamic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2C906-2CBB-2588-E25A-3B06026D3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789D90-1993-088D-F116-40DEA5BD1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E727A1-4E01-98DC-E257-1ECA4793D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rgbClr val="FFC000"/>
                </a:solidFill>
              </a:rPr>
              <a:pPr/>
              <a:t>146</a:t>
            </a:fld>
            <a:endParaRPr lang="en-US" sz="5400" b="1" dirty="0">
              <a:solidFill>
                <a:srgbClr val="FFC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1C5CE7-9E5C-33C3-27C2-2CD8182084CC}"/>
              </a:ext>
            </a:extLst>
          </p:cNvPr>
          <p:cNvSpPr txBox="1"/>
          <p:nvPr/>
        </p:nvSpPr>
        <p:spPr>
          <a:xfrm>
            <a:off x="856171" y="2955985"/>
            <a:ext cx="743165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FF00"/>
                </a:solidFill>
              </a:rPr>
              <a:t>WAP to print each elements of array from end.</a:t>
            </a:r>
          </a:p>
        </p:txBody>
      </p:sp>
    </p:spTree>
    <p:extLst>
      <p:ext uri="{BB962C8B-B14F-4D97-AF65-F5344CB8AC3E}">
        <p14:creationId xmlns:p14="http://schemas.microsoft.com/office/powerpoint/2010/main" val="885029252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FBA8C-9F9F-5DC7-A888-97BBD0580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05097-9683-EB99-4333-D1E9A53C7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WAP to find biggest element of array.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CBA777-501F-3E6E-A844-6655C85BD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z="1400" b="1" dirty="0"/>
              <a:t>Shambhu Kumar QSpiders | JSpiders, NOIDA</a:t>
            </a:r>
            <a:endParaRPr lang="en-US" sz="14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1A3CD7-DECC-A098-7AEC-663750CAC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rgbClr val="FFC000"/>
                </a:solidFill>
              </a:rPr>
              <a:pPr/>
              <a:t>147</a:t>
            </a:fld>
            <a:endParaRPr lang="en-US" sz="5400" b="1" dirty="0">
              <a:solidFill>
                <a:srgbClr val="FFC00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B7678D-F087-2698-56ED-23D3AA26F166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E3431C2-571D-0F46-A313-6897272F4754}"/>
              </a:ext>
            </a:extLst>
          </p:cNvPr>
          <p:cNvSpPr/>
          <p:nvPr/>
        </p:nvSpPr>
        <p:spPr>
          <a:xfrm rot="19756096">
            <a:off x="5654634" y="4204816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0251B6A-1022-A78B-EDFE-EC6D3012A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00FF00"/>
                </a:solidFill>
              </a:rPr>
              <a:t>Dynamic Programming</a:t>
            </a:r>
          </a:p>
        </p:txBody>
      </p:sp>
    </p:spTree>
    <p:extLst>
      <p:ext uri="{BB962C8B-B14F-4D97-AF65-F5344CB8AC3E}">
        <p14:creationId xmlns:p14="http://schemas.microsoft.com/office/powerpoint/2010/main" val="3783912697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9B75B-124B-BC9A-63DF-B2B923E7F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19897-C867-C541-D7FC-6EE8ED97D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WAP to find nth term of Fibonacci by using Tabulation (Bottom-Up DP).</a:t>
            </a:r>
          </a:p>
          <a:p>
            <a:pPr marL="0" indent="0">
              <a:buNone/>
            </a:pPr>
            <a:endParaRPr lang="en-US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FFFF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Fibonacci Number</a:t>
            </a:r>
            <a:endParaRPr lang="en-US" b="1" dirty="0">
              <a:solidFill>
                <a:srgbClr val="FFFF99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D9903C-4B3D-0E0D-4EAB-7D4170C03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z="1400" b="1" dirty="0"/>
              <a:t>Shambhu Kumar QSpiders | JSpiders, NOIDA</a:t>
            </a:r>
            <a:endParaRPr lang="en-US" sz="14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BC194F-54CB-5133-1E06-6BD1ADB26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rgbClr val="FFC000"/>
                </a:solidFill>
              </a:rPr>
              <a:pPr/>
              <a:t>148</a:t>
            </a:fld>
            <a:endParaRPr lang="en-US" sz="5400" b="1" dirty="0">
              <a:solidFill>
                <a:srgbClr val="FFC00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40B83B4-497D-84C1-0255-8B58530B3635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A4174EC-BED1-A692-BB13-B18849417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00FF00"/>
                </a:solidFill>
              </a:rPr>
              <a:t>Dynamic Programming</a:t>
            </a:r>
          </a:p>
        </p:txBody>
      </p:sp>
    </p:spTree>
    <p:extLst>
      <p:ext uri="{BB962C8B-B14F-4D97-AF65-F5344CB8AC3E}">
        <p14:creationId xmlns:p14="http://schemas.microsoft.com/office/powerpoint/2010/main" val="1745286479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CD78F-C09B-2E3A-67F6-BFDEC19AF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C6341-E571-7A0B-9634-449C187FF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WAP to find nth term of Fibonacci by using DP technique/Memoization (Top-Down DP).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0C739F-23FF-6F8D-ABB6-C25AB81AB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z="1400" b="1" dirty="0"/>
              <a:t>Shambhu Kumar QSpiders | JSpiders, NOIDA</a:t>
            </a:r>
            <a:endParaRPr lang="en-US" sz="14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536D1-9640-8E3A-E190-E63AF3396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rgbClr val="FFC000"/>
                </a:solidFill>
              </a:rPr>
              <a:pPr/>
              <a:t>149</a:t>
            </a:fld>
            <a:endParaRPr lang="en-US" sz="5400" b="1" dirty="0">
              <a:solidFill>
                <a:srgbClr val="FFC00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F656958-D1E5-5868-4A77-82BDD08AD0C5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808A0D5-1714-1A1D-97C1-8E59F6755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00FF00"/>
                </a:solidFill>
              </a:rPr>
              <a:t>Dynamic Programming</a:t>
            </a:r>
          </a:p>
        </p:txBody>
      </p:sp>
    </p:spTree>
    <p:extLst>
      <p:ext uri="{BB962C8B-B14F-4D97-AF65-F5344CB8AC3E}">
        <p14:creationId xmlns:p14="http://schemas.microsoft.com/office/powerpoint/2010/main" val="3680860360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8DA38-0987-B2EE-4F82-170A9C609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0DAA7-F33D-3EB4-22DC-C148CCCA8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Fibonacci Pattern DP Questions:</a:t>
            </a:r>
          </a:p>
          <a:p>
            <a:pPr marL="514350" indent="-514350">
              <a:buAutoNum type="arabicPeriod"/>
            </a:pPr>
            <a:r>
              <a:rPr lang="en-US" b="1" dirty="0">
                <a:solidFill>
                  <a:srgbClr val="00FF00"/>
                </a:solidFill>
              </a:rPr>
              <a:t>Climbing Stairs</a:t>
            </a:r>
          </a:p>
          <a:p>
            <a:pPr marL="514350" indent="-514350">
              <a:buAutoNum type="arabicPeriod"/>
            </a:pPr>
            <a:r>
              <a:rPr lang="en-US" b="1" dirty="0">
                <a:solidFill>
                  <a:srgbClr val="00FF00"/>
                </a:solidFill>
              </a:rPr>
              <a:t>House Robber</a:t>
            </a:r>
          </a:p>
          <a:p>
            <a:pPr marL="514350" indent="-514350">
              <a:buAutoNum type="arabicPeriod"/>
            </a:pPr>
            <a:r>
              <a:rPr lang="en-US" b="1" dirty="0">
                <a:solidFill>
                  <a:srgbClr val="00FF00"/>
                </a:solidFill>
              </a:rPr>
              <a:t>Min Cost Climbing Stairs</a:t>
            </a:r>
          </a:p>
          <a:p>
            <a:pPr marL="0" indent="0">
              <a:buNone/>
            </a:pPr>
            <a:endParaRPr lang="en-US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r>
              <a:rPr lang="en-IN" sz="3600" b="1" dirty="0">
                <a:solidFill>
                  <a:srgbClr val="FFFF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70. Climbing Stairs</a:t>
            </a:r>
            <a:endParaRPr lang="en-US" sz="3600" b="1" dirty="0">
              <a:solidFill>
                <a:srgbClr val="FFFF99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3C7DFC-F537-77A6-7783-4C66E706E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z="1400" b="1" dirty="0"/>
              <a:t>Shambhu Kumar QSpiders | JSpiders, NOIDA</a:t>
            </a:r>
            <a:endParaRPr lang="en-US" sz="14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8EEF27-66DD-3AD3-4D06-967C2BA31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rgbClr val="FFC000"/>
                </a:solidFill>
              </a:rPr>
              <a:pPr/>
              <a:t>150</a:t>
            </a:fld>
            <a:endParaRPr lang="en-US" sz="5400" b="1" dirty="0">
              <a:solidFill>
                <a:srgbClr val="FFC00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8AB1246-3E14-CDB0-A753-8A841D6C7413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8785F8C-7840-D774-1EDD-9B5DCD230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00FF00"/>
                </a:solidFill>
              </a:rPr>
              <a:t>Dynamic Programming</a:t>
            </a:r>
          </a:p>
        </p:txBody>
      </p:sp>
    </p:spTree>
    <p:extLst>
      <p:ext uri="{BB962C8B-B14F-4D97-AF65-F5344CB8AC3E}">
        <p14:creationId xmlns:p14="http://schemas.microsoft.com/office/powerpoint/2010/main" val="1679310545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26F39-8D17-C56B-7053-74D4BCB23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7776F-8060-8375-789C-5414B806E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sz="3600" b="1" dirty="0">
                <a:solidFill>
                  <a:srgbClr val="FFFF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198. House Robber</a:t>
            </a:r>
            <a:endParaRPr lang="en-US" sz="3600" b="1" dirty="0">
              <a:solidFill>
                <a:srgbClr val="FFFF99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97EC5D-974C-38E3-0E40-388CD30A3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z="1400" b="1" dirty="0"/>
              <a:t>Shambhu Kumar QSpiders | JSpiders, NOIDA</a:t>
            </a:r>
            <a:endParaRPr lang="en-US" sz="14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059969-FBA4-66DD-CA1A-DD50548E4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rgbClr val="FFC000"/>
                </a:solidFill>
              </a:rPr>
              <a:pPr/>
              <a:t>151</a:t>
            </a:fld>
            <a:endParaRPr lang="en-US" sz="5400" b="1" dirty="0">
              <a:solidFill>
                <a:srgbClr val="FFC00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05BA43E-C233-A903-28D8-EE32679B210F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B69076F-F26F-9FFE-A513-4FF3BD230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00FF00"/>
                </a:solidFill>
              </a:rPr>
              <a:t>Dynamic Programming</a:t>
            </a:r>
          </a:p>
        </p:txBody>
      </p:sp>
    </p:spTree>
    <p:extLst>
      <p:ext uri="{BB962C8B-B14F-4D97-AF65-F5344CB8AC3E}">
        <p14:creationId xmlns:p14="http://schemas.microsoft.com/office/powerpoint/2010/main" val="1697550747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FB10C-7611-D455-1DDF-C021F7093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E02E2-967B-DECC-E464-E2EC402BE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r>
              <a:rPr lang="en-IN" sz="4000" b="1" dirty="0">
                <a:solidFill>
                  <a:srgbClr val="FFFF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322. Coin Change</a:t>
            </a:r>
            <a:endParaRPr lang="en-US" sz="4000" b="1" dirty="0">
              <a:solidFill>
                <a:srgbClr val="FFFF99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AC9937-98F9-370A-E749-D92089433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z="1400" b="1" dirty="0"/>
              <a:t>Shambhu Kumar QSpiders | JSpiders, NOIDA</a:t>
            </a:r>
            <a:endParaRPr lang="en-US" sz="14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F912ED-E7F7-518B-5117-6C5CB79BD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rgbClr val="FFC000"/>
                </a:solidFill>
              </a:rPr>
              <a:pPr/>
              <a:t>152</a:t>
            </a:fld>
            <a:endParaRPr lang="en-US" sz="5400" b="1" dirty="0">
              <a:solidFill>
                <a:srgbClr val="FFC00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6CEAB8-844A-2694-53BB-628F7FD16B4D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293827-021A-3654-EC5C-5050BD90E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00FF00"/>
                </a:solidFill>
              </a:rPr>
              <a:t>Dynamic Programming</a:t>
            </a:r>
          </a:p>
        </p:txBody>
      </p:sp>
    </p:spTree>
    <p:extLst>
      <p:ext uri="{BB962C8B-B14F-4D97-AF65-F5344CB8AC3E}">
        <p14:creationId xmlns:p14="http://schemas.microsoft.com/office/powerpoint/2010/main" val="1911058671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3904D-C34C-91A3-30FE-A708A2BCF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3393D-7066-A3BE-2B77-308FA3712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r>
              <a:rPr lang="en-IN" sz="4000" b="1" dirty="0">
                <a:solidFill>
                  <a:srgbClr val="FFFF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62. Unique Paths</a:t>
            </a:r>
            <a:endParaRPr lang="en-US" sz="4000" b="1" dirty="0">
              <a:solidFill>
                <a:srgbClr val="FFFF99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D33B08-9664-1360-EA30-9148F9D22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z="1400" b="1" dirty="0"/>
              <a:t>Shambhu Kumar QSpiders | JSpiders, NOIDA</a:t>
            </a:r>
            <a:endParaRPr lang="en-US" sz="14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DB704B-8679-2964-D022-916842A35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rgbClr val="FFC000"/>
                </a:solidFill>
              </a:rPr>
              <a:pPr/>
              <a:t>153</a:t>
            </a:fld>
            <a:endParaRPr lang="en-US" sz="5400" b="1" dirty="0">
              <a:solidFill>
                <a:srgbClr val="FFC00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74C78F6-4023-F048-2A37-191C3CEAF385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BA8EEAD-EE3F-8246-5F8D-C50ACFE16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00FF00"/>
                </a:solidFill>
              </a:rPr>
              <a:t>Dynamic Programming</a:t>
            </a:r>
          </a:p>
        </p:txBody>
      </p:sp>
    </p:spTree>
    <p:extLst>
      <p:ext uri="{BB962C8B-B14F-4D97-AF65-F5344CB8AC3E}">
        <p14:creationId xmlns:p14="http://schemas.microsoft.com/office/powerpoint/2010/main" val="3413108708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141F7-828D-AAFB-924D-4120FE07E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9E5BE-3233-D323-A414-7E982B0BF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r>
              <a:rPr lang="en-IN" sz="4000" b="1" dirty="0">
                <a:solidFill>
                  <a:srgbClr val="FFFF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416. Partition Equal Subset Sum</a:t>
            </a:r>
            <a:endParaRPr lang="en-US" sz="4000" b="1" dirty="0">
              <a:solidFill>
                <a:srgbClr val="FFFF99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C79346-3233-E1A7-DA57-544581266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z="1400" b="1" dirty="0"/>
              <a:t>Shambhu Kumar QSpiders | JSpiders, NOIDA</a:t>
            </a:r>
            <a:endParaRPr lang="en-US" sz="14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5E13E-1ECC-D221-9B6B-C861FE716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981200" cy="1143000"/>
          </a:xfrm>
        </p:spPr>
        <p:txBody>
          <a:bodyPr/>
          <a:lstStyle/>
          <a:p>
            <a:r>
              <a:rPr lang="en-US" sz="5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rgbClr val="FFC000"/>
                </a:solidFill>
              </a:rPr>
              <a:pPr/>
              <a:t>154</a:t>
            </a:fld>
            <a:endParaRPr lang="en-US" sz="5400" b="1" dirty="0">
              <a:solidFill>
                <a:srgbClr val="FFC00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92FD84E-1844-6B04-15AD-411D5EDBDC4F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A0CC9E4-E955-A3B0-F40B-9B0451BA6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00FF00"/>
                </a:solidFill>
              </a:rPr>
              <a:t>Dynamic Programming</a:t>
            </a:r>
          </a:p>
        </p:txBody>
      </p:sp>
    </p:spTree>
    <p:extLst>
      <p:ext uri="{BB962C8B-B14F-4D97-AF65-F5344CB8AC3E}">
        <p14:creationId xmlns:p14="http://schemas.microsoft.com/office/powerpoint/2010/main" val="1169901272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CFD5F-5D2A-DC9E-736F-473379C07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1939C-610F-F038-F724-B0AAC1F69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r>
              <a:rPr lang="en-IN" sz="3600" b="1" dirty="0">
                <a:solidFill>
                  <a:srgbClr val="FFFF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300. Longest Increasing Subsequence</a:t>
            </a:r>
            <a:endParaRPr lang="en-US" sz="3600" b="1" dirty="0">
              <a:solidFill>
                <a:srgbClr val="FFFF99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F2EF54-3C40-BD67-E4E6-9F340537B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z="1400" b="1" dirty="0"/>
              <a:t>Shambhu Kumar QSpiders | JSpiders, NOIDA</a:t>
            </a:r>
            <a:endParaRPr lang="en-US" sz="14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7B568-6476-0FAF-61A0-2E73476BC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rgbClr val="FFC000"/>
                </a:solidFill>
              </a:rPr>
              <a:pPr/>
              <a:t>155</a:t>
            </a:fld>
            <a:endParaRPr lang="en-US" sz="5400" b="1" dirty="0">
              <a:solidFill>
                <a:srgbClr val="FFC00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2AD1528-4BF6-A145-FC8B-417AC351EBA8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1FABB1C-4E24-4D84-191E-DB60353BE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00FF00"/>
                </a:solidFill>
              </a:rPr>
              <a:t>Dynamic Programming</a:t>
            </a:r>
          </a:p>
        </p:txBody>
      </p:sp>
    </p:spTree>
    <p:extLst>
      <p:ext uri="{BB962C8B-B14F-4D97-AF65-F5344CB8AC3E}">
        <p14:creationId xmlns:p14="http://schemas.microsoft.com/office/powerpoint/2010/main" val="335336849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AEEEF-FBDB-67B6-FB8F-D61E1DA44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BDA98-4D3C-645A-DB90-14A1E043C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FFFF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1143. Longest Common Subsequence</a:t>
            </a:r>
            <a:endParaRPr lang="en-US" b="1" dirty="0">
              <a:solidFill>
                <a:srgbClr val="FFFF99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E63A22-CB1D-6997-9919-06D50B9B8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z="1400" b="1" dirty="0"/>
              <a:t>Shambhu Kumar QSpiders | JSpiders, NOIDA</a:t>
            </a:r>
            <a:endParaRPr lang="en-US" sz="14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717C6A-6576-0636-5812-B0412F219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1828800"/>
            <a:ext cx="1905000" cy="1143000"/>
          </a:xfrm>
        </p:spPr>
        <p:txBody>
          <a:bodyPr/>
          <a:lstStyle/>
          <a:p>
            <a:r>
              <a:rPr lang="en-US" sz="5400" b="1" dirty="0">
                <a:solidFill>
                  <a:srgbClr val="FFC000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rgbClr val="FFC000"/>
                </a:solidFill>
              </a:rPr>
              <a:pPr/>
              <a:t>156</a:t>
            </a:fld>
            <a:endParaRPr lang="en-US" sz="5400" b="1" dirty="0">
              <a:solidFill>
                <a:srgbClr val="FFC00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D186195-983E-0935-1E8B-54A1A7D9F23E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1203B8C-153F-6B19-9EEB-295736662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00FF00"/>
                </a:solidFill>
              </a:rPr>
              <a:t>Dynamic Programming</a:t>
            </a:r>
          </a:p>
        </p:txBody>
      </p:sp>
    </p:spTree>
    <p:extLst>
      <p:ext uri="{BB962C8B-B14F-4D97-AF65-F5344CB8AC3E}">
        <p14:creationId xmlns:p14="http://schemas.microsoft.com/office/powerpoint/2010/main" val="259856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11839</TotalTime>
  <Words>7700</Words>
  <Application>Microsoft Office PowerPoint</Application>
  <PresentationFormat>On-screen Show (4:3)</PresentationFormat>
  <Paragraphs>2295</Paragraphs>
  <Slides>156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156</vt:i4>
      </vt:variant>
    </vt:vector>
  </HeadingPairs>
  <TitlesOfParts>
    <vt:vector size="164" baseType="lpstr">
      <vt:lpstr>Arial</vt:lpstr>
      <vt:lpstr>Calibri</vt:lpstr>
      <vt:lpstr>Cambria Math</vt:lpstr>
      <vt:lpstr>OpenSans</vt:lpstr>
      <vt:lpstr>Public Sans</vt:lpstr>
      <vt:lpstr>Source Sans 3</vt:lpstr>
      <vt:lpstr>Times New Roman</vt:lpstr>
      <vt:lpstr>Office Theme</vt:lpstr>
      <vt:lpstr>Topic: Number</vt:lpstr>
      <vt:lpstr>Topic: Number</vt:lpstr>
      <vt:lpstr>Topic: Number</vt:lpstr>
      <vt:lpstr>Topic: Number</vt:lpstr>
      <vt:lpstr>Topic: Number</vt:lpstr>
      <vt:lpstr>Topic: Number</vt:lpstr>
      <vt:lpstr>Topic: Number</vt:lpstr>
      <vt:lpstr>Topic: Number</vt:lpstr>
      <vt:lpstr>Topic: Number</vt:lpstr>
      <vt:lpstr>Topic: Number</vt:lpstr>
      <vt:lpstr>Topic: Number</vt:lpstr>
      <vt:lpstr>Topic: Number</vt:lpstr>
      <vt:lpstr>Topic: Number</vt:lpstr>
      <vt:lpstr>Topic: Number</vt:lpstr>
      <vt:lpstr>Topic: Number</vt:lpstr>
      <vt:lpstr>Topic: Number</vt:lpstr>
      <vt:lpstr>Topic: Pattern</vt:lpstr>
      <vt:lpstr>Topic: Pattern</vt:lpstr>
      <vt:lpstr>Topic: Pattern</vt:lpstr>
      <vt:lpstr>Topic: Pattern</vt:lpstr>
      <vt:lpstr>Topic: Pattern</vt:lpstr>
      <vt:lpstr>Topic: Pattern</vt:lpstr>
      <vt:lpstr>Topic: Pattern</vt:lpstr>
      <vt:lpstr>Topic: Pattern</vt:lpstr>
      <vt:lpstr>Topic: Number</vt:lpstr>
      <vt:lpstr>Topic: Number</vt:lpstr>
      <vt:lpstr>Topic: Array</vt:lpstr>
      <vt:lpstr>Topic: Array</vt:lpstr>
      <vt:lpstr>Topic: Array</vt:lpstr>
      <vt:lpstr>Topic: Array</vt:lpstr>
      <vt:lpstr>Topic: Array</vt:lpstr>
      <vt:lpstr>Topic: Array</vt:lpstr>
      <vt:lpstr>Topic: Array</vt:lpstr>
      <vt:lpstr>Topic: Array</vt:lpstr>
      <vt:lpstr>Topic: Array</vt:lpstr>
      <vt:lpstr>Topic: Array</vt:lpstr>
      <vt:lpstr>Topic: Array</vt:lpstr>
      <vt:lpstr>Topic: Array</vt:lpstr>
      <vt:lpstr>Topic: Array</vt:lpstr>
      <vt:lpstr>Topic: Array</vt:lpstr>
      <vt:lpstr>Topic: Array, Prefix Sum</vt:lpstr>
      <vt:lpstr>Topic: Array, Prefix Sum</vt:lpstr>
      <vt:lpstr>Topic: Array, Two Pointers</vt:lpstr>
      <vt:lpstr>Topic: Array, Two Pointers</vt:lpstr>
      <vt:lpstr>Topic: Array, Two Pointers</vt:lpstr>
      <vt:lpstr>Topic: Array, Two Pointers</vt:lpstr>
      <vt:lpstr>Topic: Array, Two Pointers</vt:lpstr>
      <vt:lpstr>Topic: Array, Hashing</vt:lpstr>
      <vt:lpstr>Topic: Array, Hashing</vt:lpstr>
      <vt:lpstr>Topic: Array, Hashing</vt:lpstr>
      <vt:lpstr>Topic: Array, Hashing</vt:lpstr>
      <vt:lpstr>Topic: Array, Hashing</vt:lpstr>
      <vt:lpstr>Topic: Array, Kaden’s</vt:lpstr>
      <vt:lpstr>Topic: Array, Sorting</vt:lpstr>
      <vt:lpstr>Topic: Array, Sorting</vt:lpstr>
      <vt:lpstr>Topic: Array, Sorting</vt:lpstr>
      <vt:lpstr>Topic: Array, Sorting</vt:lpstr>
      <vt:lpstr>Topic: Array, Sorting</vt:lpstr>
      <vt:lpstr>Topic: Array, Sorting</vt:lpstr>
      <vt:lpstr>Topic: Array, Sorting</vt:lpstr>
      <vt:lpstr>Topic: Array, Sorting</vt:lpstr>
      <vt:lpstr>Topic: Array, Searching</vt:lpstr>
      <vt:lpstr>Topic: Array, Searching</vt:lpstr>
      <vt:lpstr>Topic: Array, Searching</vt:lpstr>
      <vt:lpstr>Topic: Array, Searching</vt:lpstr>
      <vt:lpstr>Topic: String </vt:lpstr>
      <vt:lpstr>Topic: String </vt:lpstr>
      <vt:lpstr>Topic: String 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String based Programming</vt:lpstr>
      <vt:lpstr>PowerPoint Presentation</vt:lpstr>
      <vt:lpstr>LinkedList based Programming</vt:lpstr>
      <vt:lpstr>LinkedList based Programming</vt:lpstr>
      <vt:lpstr>LinkedList based Programming</vt:lpstr>
      <vt:lpstr>LinkedList based Programming</vt:lpstr>
      <vt:lpstr>LinkedList based Programming</vt:lpstr>
      <vt:lpstr>LinkedList based Programming</vt:lpstr>
      <vt:lpstr>LinkedList based Programming</vt:lpstr>
      <vt:lpstr>LinkedList based Programming</vt:lpstr>
      <vt:lpstr>LinkedList based Programming</vt:lpstr>
      <vt:lpstr>LinkedList based Programming</vt:lpstr>
      <vt:lpstr>LinkedList based Programming</vt:lpstr>
      <vt:lpstr>LinkedList based Programming</vt:lpstr>
      <vt:lpstr>LinkedList based Programming</vt:lpstr>
      <vt:lpstr>LinkedList based Programming</vt:lpstr>
      <vt:lpstr>LinkedList based Programming</vt:lpstr>
      <vt:lpstr>LinkedList based Programming</vt:lpstr>
      <vt:lpstr>LinkedList based Programming</vt:lpstr>
      <vt:lpstr>LinkedList based Programming</vt:lpstr>
      <vt:lpstr>PowerPoint Presentation</vt:lpstr>
      <vt:lpstr>Stack based Programming</vt:lpstr>
      <vt:lpstr>Stack based Programming</vt:lpstr>
      <vt:lpstr>Stack based Programming</vt:lpstr>
      <vt:lpstr>Stack based Programming</vt:lpstr>
      <vt:lpstr>Stack based Programming</vt:lpstr>
      <vt:lpstr>Stack based Programming</vt:lpstr>
      <vt:lpstr>PowerPoint Presentation</vt:lpstr>
      <vt:lpstr>Dynamic Programming</vt:lpstr>
      <vt:lpstr>Dynamic Programming</vt:lpstr>
      <vt:lpstr>Dynamic Programming</vt:lpstr>
      <vt:lpstr>Dynamic Programming</vt:lpstr>
      <vt:lpstr>Dynamic Programming</vt:lpstr>
      <vt:lpstr>Dynamic Programming</vt:lpstr>
      <vt:lpstr>Dynamic Programming</vt:lpstr>
      <vt:lpstr>Dynamic Programming</vt:lpstr>
      <vt:lpstr>Dynamic Programming</vt:lpstr>
      <vt:lpstr>Dynamic Programming</vt:lpstr>
      <vt:lpstr>Dynamic Programming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Qspiders</dc:creator>
  <cp:lastModifiedBy>Shambhu Kumar</cp:lastModifiedBy>
  <cp:revision>28</cp:revision>
  <dcterms:created xsi:type="dcterms:W3CDTF">2006-08-16T00:00:00Z</dcterms:created>
  <dcterms:modified xsi:type="dcterms:W3CDTF">2026-09-10T02:09:47Z</dcterms:modified>
</cp:coreProperties>
</file>